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6"/>
  </p:notesMasterIdLst>
  <p:sldIdLst>
    <p:sldId id="256" r:id="rId5"/>
    <p:sldId id="313" r:id="rId6"/>
    <p:sldId id="322" r:id="rId7"/>
    <p:sldId id="315" r:id="rId8"/>
    <p:sldId id="317" r:id="rId9"/>
    <p:sldId id="319" r:id="rId10"/>
    <p:sldId id="289" r:id="rId11"/>
    <p:sldId id="310" r:id="rId12"/>
    <p:sldId id="311" r:id="rId13"/>
    <p:sldId id="297" r:id="rId14"/>
    <p:sldId id="264" r:id="rId15"/>
    <p:sldId id="302" r:id="rId16"/>
    <p:sldId id="303" r:id="rId17"/>
    <p:sldId id="304" r:id="rId18"/>
    <p:sldId id="306" r:id="rId19"/>
    <p:sldId id="258" r:id="rId20"/>
    <p:sldId id="323" r:id="rId21"/>
    <p:sldId id="324" r:id="rId22"/>
    <p:sldId id="325" r:id="rId23"/>
    <p:sldId id="307" r:id="rId24"/>
    <p:sldId id="281" r:id="rId25"/>
  </p:sldIdLst>
  <p:sldSz cx="12192000" cy="6858000"/>
  <p:notesSz cx="6858000" cy="9144000"/>
  <p:defaultTextStyle>
    <a:defPPr>
      <a:defRPr 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6D8610-762A-074F-8E18-76342460FFE3}" v="192" dt="2026-05-10T18:22:18.8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hlavičk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3" name="Zástupný objekt pre dá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AF47E7-4852-46E0-B69D-6E7C1942CF27}" type="datetimeFigureOut">
              <a:rPr lang="sk-SK" smtClean="0"/>
              <a:t>10. 5. 2026</a:t>
            </a:fld>
            <a:endParaRPr lang="sk-SK"/>
          </a:p>
        </p:txBody>
      </p:sp>
      <p:sp>
        <p:nvSpPr>
          <p:cNvPr id="4" name="Zástupný objekt pre obrázok snímk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k-SK"/>
          </a:p>
        </p:txBody>
      </p:sp>
      <p:sp>
        <p:nvSpPr>
          <p:cNvPr id="5" name="Zástupný objekt pre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6" name="Zástupný objekt pre pät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7" name="Zástupný objekt pre číslo snímk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175689-05EC-473D-872D-A0012564BACC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930517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
Sources]
- SMART-JAM project slides (user-provided): SMART-JAM.pptx
- Requirements overview (user-provided): Pitch Deck.pptx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86D5967-E91F-6344-091F-068E1809E1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D968C00-078F-423A-60BA-C688D1714F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C1BD9FAA-5653-F6CD-28D0-95671A532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9A72D-481F-4713-AACE-5695785457E6}" type="datetimeFigureOut">
              <a:rPr lang="sk-SK" smtClean="0"/>
              <a:t>10. 5. 2026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94184C98-7582-7890-3428-AC28EE2C6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170C052F-7499-C7AA-D60E-7E9A19148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D8431-96CC-441C-968F-EE220D189E5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487247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7EE64F6-22F0-5919-8C81-055B3427C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34B75CC-A822-9054-33AC-65BE98A8B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6E8AABB0-5A98-08B6-E343-46CD6EC6A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9A72D-481F-4713-AACE-5695785457E6}" type="datetimeFigureOut">
              <a:rPr lang="sk-SK" smtClean="0"/>
              <a:t>10. 5. 2026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408C9DA4-010F-7126-C452-A6DAC68C7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ED38EBC8-BADD-F98B-D329-39EC29F48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D8431-96CC-441C-968F-EE220D189E5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71187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9EE4991-9BFA-56C9-9030-D1BE18770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E0DC749-DCC3-6789-C014-87FC009C31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3713F763-7CE1-638E-A7EA-69C67BED0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9A72D-481F-4713-AACE-5695785457E6}" type="datetimeFigureOut">
              <a:rPr lang="sk-SK" smtClean="0"/>
              <a:t>10. 5. 2026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297330E6-7933-1743-3B7C-15C2EA205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D9218849-64BE-8E6C-9B9A-BF6257C7B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D8431-96CC-441C-968F-EE220D189E5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136150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CD5E094-B2AD-9328-4200-995391029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4B0DBD5-C276-B1F3-FF85-0A0A3C207B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2EFD1021-9417-63E1-7184-432EE0785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FC3FC2B4-10AE-BB7D-5390-389EA9066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9A72D-481F-4713-AACE-5695785457E6}" type="datetimeFigureOut">
              <a:rPr lang="sk-SK" smtClean="0"/>
              <a:t>10. 5. 2026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B1740202-B43B-EBB9-D654-DF0B9E49F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8D2193B8-42DF-8F45-151A-85EB55D92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D8431-96CC-441C-968F-EE220D189E5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901916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D8DA1E5-8AE2-877C-58A1-E46FA72F2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E99192A-E9B2-6966-862B-7E48C413C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98B88518-FF06-F9C6-5977-A168155E36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0DD4AEBB-1B00-9CB6-DA30-A951CFE98E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Zástupný objekt pre obsah 5">
            <a:extLst>
              <a:ext uri="{FF2B5EF4-FFF2-40B4-BE49-F238E27FC236}">
                <a16:creationId xmlns:a16="http://schemas.microsoft.com/office/drawing/2014/main" id="{74997CAD-D279-EB1B-9D58-15DAFFBD79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7" name="Zástupný objekt pre dátum 6">
            <a:extLst>
              <a:ext uri="{FF2B5EF4-FFF2-40B4-BE49-F238E27FC236}">
                <a16:creationId xmlns:a16="http://schemas.microsoft.com/office/drawing/2014/main" id="{EDC34B0D-A422-5F24-98D4-811E1605C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9A72D-481F-4713-AACE-5695785457E6}" type="datetimeFigureOut">
              <a:rPr lang="sk-SK" smtClean="0"/>
              <a:t>10. 5. 2026</a:t>
            </a:fld>
            <a:endParaRPr lang="sk-SK"/>
          </a:p>
        </p:txBody>
      </p:sp>
      <p:sp>
        <p:nvSpPr>
          <p:cNvPr id="8" name="Zástupný objekt pre pätu 7">
            <a:extLst>
              <a:ext uri="{FF2B5EF4-FFF2-40B4-BE49-F238E27FC236}">
                <a16:creationId xmlns:a16="http://schemas.microsoft.com/office/drawing/2014/main" id="{6A08FE6A-E529-34B1-5A83-B409A01D6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Zástupný objekt pre číslo snímky 8">
            <a:extLst>
              <a:ext uri="{FF2B5EF4-FFF2-40B4-BE49-F238E27FC236}">
                <a16:creationId xmlns:a16="http://schemas.microsoft.com/office/drawing/2014/main" id="{8CE9FF51-57CC-9670-B1B6-DBF8CAAAC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D8431-96CC-441C-968F-EE220D189E5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515414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661461C-6755-BB4A-68B3-C1365BC59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dátum 2">
            <a:extLst>
              <a:ext uri="{FF2B5EF4-FFF2-40B4-BE49-F238E27FC236}">
                <a16:creationId xmlns:a16="http://schemas.microsoft.com/office/drawing/2014/main" id="{D5AD8939-FB49-1270-E7B8-8E7FBE4C0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9A72D-481F-4713-AACE-5695785457E6}" type="datetimeFigureOut">
              <a:rPr lang="sk-SK" smtClean="0"/>
              <a:t>10. 5. 2026</a:t>
            </a:fld>
            <a:endParaRPr lang="sk-SK"/>
          </a:p>
        </p:txBody>
      </p:sp>
      <p:sp>
        <p:nvSpPr>
          <p:cNvPr id="4" name="Zástupný objekt pre pätu 3">
            <a:extLst>
              <a:ext uri="{FF2B5EF4-FFF2-40B4-BE49-F238E27FC236}">
                <a16:creationId xmlns:a16="http://schemas.microsoft.com/office/drawing/2014/main" id="{BD5128B2-4A4A-FA48-4477-102794189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0DFAE475-E223-5A9E-D119-B9262887B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D8431-96CC-441C-968F-EE220D189E5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82636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dátum 1">
            <a:extLst>
              <a:ext uri="{FF2B5EF4-FFF2-40B4-BE49-F238E27FC236}">
                <a16:creationId xmlns:a16="http://schemas.microsoft.com/office/drawing/2014/main" id="{62F2EB1A-20B1-A7B5-A44C-43902C71E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9A72D-481F-4713-AACE-5695785457E6}" type="datetimeFigureOut">
              <a:rPr lang="sk-SK" smtClean="0"/>
              <a:t>10. 5. 2026</a:t>
            </a:fld>
            <a:endParaRPr lang="sk-SK"/>
          </a:p>
        </p:txBody>
      </p:sp>
      <p:sp>
        <p:nvSpPr>
          <p:cNvPr id="3" name="Zástupný objekt pre pätu 2">
            <a:extLst>
              <a:ext uri="{FF2B5EF4-FFF2-40B4-BE49-F238E27FC236}">
                <a16:creationId xmlns:a16="http://schemas.microsoft.com/office/drawing/2014/main" id="{55BE0331-1553-2C28-173D-0D721DEAE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FFE16E93-DD03-570B-1D1D-A24D52880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D8431-96CC-441C-968F-EE220D189E5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288488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966DAE9-AB85-5A24-5AC7-9FBE85024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C840687-38DB-716C-1B8B-DCF1BEB82D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67D23171-B94B-62CF-8D43-BCFED6CD69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FB0E8825-022B-28CE-0B56-469A0A4D1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9A72D-481F-4713-AACE-5695785457E6}" type="datetimeFigureOut">
              <a:rPr lang="sk-SK" smtClean="0"/>
              <a:t>10. 5. 2026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453383B5-374E-CE50-29BF-A1BB60044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DE067D74-410A-E3C5-DF5A-8994744F4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D8431-96CC-441C-968F-EE220D189E5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331643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F8B2ED0-CC92-B7D5-CAEE-9F0919FAE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rázok 2">
            <a:extLst>
              <a:ext uri="{FF2B5EF4-FFF2-40B4-BE49-F238E27FC236}">
                <a16:creationId xmlns:a16="http://schemas.microsoft.com/office/drawing/2014/main" id="{76BD9595-4E35-A619-10F5-E06AB68DEC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k-SK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7C7E01A0-D502-6012-5435-62AAF326A9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C7A0B120-1455-C0B8-BF80-CE65D46A4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9A72D-481F-4713-AACE-5695785457E6}" type="datetimeFigureOut">
              <a:rPr lang="sk-SK" smtClean="0"/>
              <a:t>10. 5. 2026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4C27291F-DC49-6D29-464D-6C4687F2A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1ACFC30A-9BCD-0420-5FA3-B490962E9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D8431-96CC-441C-968F-EE220D189E5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522585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7D8D372-4F54-47BF-68D7-73F4B93EE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2F84CA34-2DE2-EE3C-C687-6A7E47D73B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B4636DC3-4BF8-9861-DAF3-33B27947D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9A72D-481F-4713-AACE-5695785457E6}" type="datetimeFigureOut">
              <a:rPr lang="sk-SK" smtClean="0"/>
              <a:t>10. 5. 2026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1F643CE5-32D5-35B4-5566-5113BCAB3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D277D072-501C-E721-B604-677E44B5C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D8431-96CC-441C-968F-EE220D189E5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53016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vislý nadpis 1">
            <a:extLst>
              <a:ext uri="{FF2B5EF4-FFF2-40B4-BE49-F238E27FC236}">
                <a16:creationId xmlns:a16="http://schemas.microsoft.com/office/drawing/2014/main" id="{FCE1FEE4-8237-9F0B-F576-42747FAB8E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362036A6-1A45-5952-7264-C8479DE5BE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2B618BA3-005F-1155-4202-A051CA2C2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9A72D-481F-4713-AACE-5695785457E6}" type="datetimeFigureOut">
              <a:rPr lang="sk-SK" smtClean="0"/>
              <a:t>10. 5. 2026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A732B1D5-0287-8B82-9562-4AA224897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21D67D68-6D6B-90FE-CE67-3D14F1BB8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D8431-96CC-441C-968F-EE220D189E5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5990076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5815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nadpis 1">
            <a:extLst>
              <a:ext uri="{FF2B5EF4-FFF2-40B4-BE49-F238E27FC236}">
                <a16:creationId xmlns:a16="http://schemas.microsoft.com/office/drawing/2014/main" id="{6F68979E-6737-B24F-F017-EA33758AD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17F75BE0-8C18-441E-2063-C9187B618D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2138757A-7B85-A8F6-5F0A-B6E11F7ACB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69A72D-481F-4713-AACE-5695785457E6}" type="datetimeFigureOut">
              <a:rPr lang="sk-SK" smtClean="0"/>
              <a:t>10. 5. 2026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92FEB1E8-7B0A-16D0-E16C-E4DCA464BE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0A1EBD82-BE95-5E84-C999-BF9FBED7E5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BD8431-96CC-441C-968F-EE220D189E5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209410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hyperlink" Target="https://teamsmartjam.github.io/MIS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microsoft.com/office/2007/relationships/hdphoto" Target="../media/hdphoto2.wdp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7" Type="http://schemas.microsoft.com/office/2007/relationships/hdphoto" Target="../media/hdphoto2.wdp"/><Relationship Id="rId2" Type="http://schemas.openxmlformats.org/officeDocument/2006/relationships/image" Target="../media/image2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teamsmartjam.github.io/MIS/" TargetMode="Externa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nterest.com/PIN/1857741720916171/" TargetMode="External"/><Relationship Id="rId2" Type="http://schemas.openxmlformats.org/officeDocument/2006/relationships/hyperlink" Target="https://www.kaggle.com/datasets/bwandowando/tomtom-traffic-data-55-countries-387-cities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teamsmartjam.github.io/MIS/" TargetMode="External"/><Relationship Id="rId4" Type="http://schemas.openxmlformats.org/officeDocument/2006/relationships/hyperlink" Target="https://www.tomtom.com/SOLUTIONS/GOVERNMENT-AND-PUBLIC-SECTOR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lokTextu 7">
            <a:extLst>
              <a:ext uri="{FF2B5EF4-FFF2-40B4-BE49-F238E27FC236}">
                <a16:creationId xmlns:a16="http://schemas.microsoft.com/office/drawing/2014/main" id="{B001A0B3-ACCA-BD5A-625B-94AA37917764}"/>
              </a:ext>
            </a:extLst>
          </p:cNvPr>
          <p:cNvSpPr txBox="1"/>
          <p:nvPr/>
        </p:nvSpPr>
        <p:spPr>
          <a:xfrm>
            <a:off x="9643608" y="6457890"/>
            <a:ext cx="44227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2000">
                <a:hlinkClick r:id="rId4"/>
              </a:rPr>
              <a:t>team </a:t>
            </a:r>
            <a:r>
              <a:rPr lang="sk-SK" sz="2000" err="1">
                <a:hlinkClick r:id="rId4"/>
              </a:rPr>
              <a:t>Smart</a:t>
            </a:r>
            <a:r>
              <a:rPr lang="sk-SK" sz="2000">
                <a:hlinkClick r:id="rId4"/>
              </a:rPr>
              <a:t> </a:t>
            </a:r>
            <a:r>
              <a:rPr lang="sk-SK" sz="2000" err="1">
                <a:hlinkClick r:id="rId4"/>
              </a:rPr>
              <a:t>Jam</a:t>
            </a:r>
            <a:r>
              <a:rPr lang="sk-SK" sz="2000">
                <a:hlinkClick r:id="rId4"/>
              </a:rPr>
              <a:t> web</a:t>
            </a:r>
            <a:endParaRPr lang="sk-SK" sz="2000"/>
          </a:p>
        </p:txBody>
      </p:sp>
      <p:pic>
        <p:nvPicPr>
          <p:cNvPr id="10" name="Video 9" title="Traffic at night timelapse">
            <a:hlinkClick r:id="" action="ppaction://media"/>
            <a:extLst>
              <a:ext uri="{FF2B5EF4-FFF2-40B4-BE49-F238E27FC236}">
                <a16:creationId xmlns:a16="http://schemas.microsoft.com/office/drawing/2014/main" id="{8ADC24C1-088F-3881-0B06-C9765840DB3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4" name="Graphic 23" descr="Magnifying glass with solid fill">
            <a:extLst>
              <a:ext uri="{FF2B5EF4-FFF2-40B4-BE49-F238E27FC236}">
                <a16:creationId xmlns:a16="http://schemas.microsoft.com/office/drawing/2014/main" id="{147CF232-9088-4D33-FA86-2CEDB4FD1B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43898" y="2981261"/>
            <a:ext cx="895477" cy="895477"/>
          </a:xfrm>
          <a:prstGeom prst="rect">
            <a:avLst/>
          </a:prstGeom>
        </p:spPr>
      </p:pic>
      <p:sp>
        <p:nvSpPr>
          <p:cNvPr id="25" name="TextBox 7"/>
          <p:cNvSpPr txBox="1"/>
          <p:nvPr/>
        </p:nvSpPr>
        <p:spPr>
          <a:xfrm>
            <a:off x="3386937" y="2399391"/>
            <a:ext cx="6545064" cy="16591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001"/>
              </a:lnSpc>
              <a:spcBef>
                <a:spcPct val="0"/>
              </a:spcBef>
            </a:pPr>
            <a:r>
              <a:rPr lang="en-US" sz="8400" b="1" spc="-130">
                <a:solidFill>
                  <a:schemeClr val="bg1"/>
                </a:solidFill>
                <a:latin typeface="+mj-lt"/>
                <a:ea typeface="Bricolage Grotesque Bold"/>
                <a:cs typeface="Bricolage Grotesque Bold"/>
                <a:sym typeface="Bricolage Grotesque Bold"/>
              </a:rPr>
              <a:t>SMART-JAM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CD55BD44-0869-7C49-3876-06BD9A1D959E}"/>
              </a:ext>
            </a:extLst>
          </p:cNvPr>
          <p:cNvSpPr/>
          <p:nvPr/>
        </p:nvSpPr>
        <p:spPr>
          <a:xfrm>
            <a:off x="-901700" y="-406400"/>
            <a:ext cx="13589000" cy="7670800"/>
          </a:xfrm>
          <a:custGeom>
            <a:avLst/>
            <a:gdLst>
              <a:gd name="csX0" fmla="*/ 3959719 w 13233400"/>
              <a:gd name="csY0" fmla="*/ 2946400 h 7670800"/>
              <a:gd name="csX1" fmla="*/ 3123945 w 13233400"/>
              <a:gd name="csY1" fmla="*/ 3782174 h 7670800"/>
              <a:gd name="csX2" fmla="*/ 3959719 w 13233400"/>
              <a:gd name="csY2" fmla="*/ 4617948 h 7670800"/>
              <a:gd name="csX3" fmla="*/ 9366634 w 13233400"/>
              <a:gd name="csY3" fmla="*/ 4617948 h 7670800"/>
              <a:gd name="csX4" fmla="*/ 10202408 w 13233400"/>
              <a:gd name="csY4" fmla="*/ 3782174 h 7670800"/>
              <a:gd name="csX5" fmla="*/ 9366634 w 13233400"/>
              <a:gd name="csY5" fmla="*/ 2946400 h 7670800"/>
              <a:gd name="csX6" fmla="*/ 0 w 13233400"/>
              <a:gd name="csY6" fmla="*/ 0 h 7670800"/>
              <a:gd name="csX7" fmla="*/ 13233400 w 13233400"/>
              <a:gd name="csY7" fmla="*/ 0 h 7670800"/>
              <a:gd name="csX8" fmla="*/ 13233400 w 13233400"/>
              <a:gd name="csY8" fmla="*/ 7670800 h 7670800"/>
              <a:gd name="csX9" fmla="*/ 0 w 13233400"/>
              <a:gd name="csY9" fmla="*/ 7670800 h 7670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3233400" h="7670800">
                <a:moveTo>
                  <a:pt x="3959719" y="2946400"/>
                </a:moveTo>
                <a:cubicBezTo>
                  <a:pt x="3498134" y="2946400"/>
                  <a:pt x="3123945" y="3320589"/>
                  <a:pt x="3123945" y="3782174"/>
                </a:cubicBezTo>
                <a:cubicBezTo>
                  <a:pt x="3123945" y="4243759"/>
                  <a:pt x="3498134" y="4617948"/>
                  <a:pt x="3959719" y="4617948"/>
                </a:cubicBezTo>
                <a:lnTo>
                  <a:pt x="9366634" y="4617948"/>
                </a:lnTo>
                <a:cubicBezTo>
                  <a:pt x="9828219" y="4617948"/>
                  <a:pt x="10202408" y="4243759"/>
                  <a:pt x="10202408" y="3782174"/>
                </a:cubicBezTo>
                <a:cubicBezTo>
                  <a:pt x="10202408" y="3320589"/>
                  <a:pt x="9828219" y="2946400"/>
                  <a:pt x="9366634" y="2946400"/>
                </a:cubicBezTo>
                <a:close/>
                <a:moveTo>
                  <a:pt x="0" y="0"/>
                </a:moveTo>
                <a:lnTo>
                  <a:pt x="13233400" y="0"/>
                </a:lnTo>
                <a:lnTo>
                  <a:pt x="13233400" y="7670800"/>
                </a:lnTo>
                <a:lnTo>
                  <a:pt x="0" y="7670800"/>
                </a:lnTo>
                <a:close/>
              </a:path>
            </a:pathLst>
          </a:custGeom>
          <a:solidFill>
            <a:schemeClr val="tx1">
              <a:alpha val="0"/>
            </a:schemeClr>
          </a:solidFill>
          <a:ln w="2222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8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5">
            <a:extLst>
              <a:ext uri="{FF2B5EF4-FFF2-40B4-BE49-F238E27FC236}">
                <a16:creationId xmlns:a16="http://schemas.microsoft.com/office/drawing/2014/main" id="{0CA8578B-E1A5-7B71-D502-C375B17990F0}"/>
              </a:ext>
            </a:extLst>
          </p:cNvPr>
          <p:cNvSpPr/>
          <p:nvPr/>
        </p:nvSpPr>
        <p:spPr>
          <a:xfrm>
            <a:off x="1035268" y="2716004"/>
            <a:ext cx="9943664" cy="3829744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sk-SK" sz="120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0AAF643-AEEE-A520-75DD-F1F5DE52087B}"/>
              </a:ext>
            </a:extLst>
          </p:cNvPr>
          <p:cNvSpPr/>
          <p:nvPr/>
        </p:nvSpPr>
        <p:spPr>
          <a:xfrm>
            <a:off x="641350" y="285750"/>
            <a:ext cx="10909300" cy="6286500"/>
          </a:xfrm>
          <a:prstGeom prst="roundRect">
            <a:avLst>
              <a:gd name="adj" fmla="val 228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630FE91-1999-EF14-86D0-03EC344CE7AE}"/>
              </a:ext>
            </a:extLst>
          </p:cNvPr>
          <p:cNvCxnSpPr>
            <a:cxnSpLocks/>
          </p:cNvCxnSpPr>
          <p:nvPr/>
        </p:nvCxnSpPr>
        <p:spPr>
          <a:xfrm>
            <a:off x="876300" y="1441867"/>
            <a:ext cx="10375900" cy="720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E402E0B-8198-4D15-A0FB-3AB0903A64AE}"/>
              </a:ext>
            </a:extLst>
          </p:cNvPr>
          <p:cNvGrpSpPr/>
          <p:nvPr/>
        </p:nvGrpSpPr>
        <p:grpSpPr>
          <a:xfrm>
            <a:off x="2028206" y="557527"/>
            <a:ext cx="9161679" cy="1961354"/>
            <a:chOff x="2028206" y="557527"/>
            <a:chExt cx="9161679" cy="1961354"/>
          </a:xfrm>
        </p:grpSpPr>
        <p:sp>
          <p:nvSpPr>
            <p:cNvPr id="5" name="TextBox 2">
              <a:extLst>
                <a:ext uri="{FF2B5EF4-FFF2-40B4-BE49-F238E27FC236}">
                  <a16:creationId xmlns:a16="http://schemas.microsoft.com/office/drawing/2014/main" id="{340C912F-65E4-46FF-1BB3-A4E9D7977483}"/>
                </a:ext>
              </a:extLst>
            </p:cNvPr>
            <p:cNvSpPr txBox="1"/>
            <p:nvPr/>
          </p:nvSpPr>
          <p:spPr>
            <a:xfrm>
              <a:off x="2263253" y="557527"/>
              <a:ext cx="7016509" cy="8822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360"/>
                </a:lnSpc>
              </a:pPr>
              <a:r>
                <a:rPr lang="en-US" sz="4800" b="1" spc="-104">
                  <a:ea typeface="Bricolage Grotesque Bold"/>
                  <a:cs typeface="Bricolage Grotesque Bold"/>
                  <a:sym typeface="Bricolage Grotesque Bold"/>
                </a:rPr>
                <a:t>What</a:t>
              </a:r>
              <a:r>
                <a:rPr lang="en-GB" sz="4800" b="1" spc="-104">
                  <a:ea typeface="Bricolage Grotesque Bold"/>
                  <a:cs typeface="Bricolage Grotesque Bold"/>
                  <a:sym typeface="Bricolage Grotesque Bold"/>
                </a:rPr>
                <a:t>’s t</a:t>
              </a:r>
              <a:r>
                <a:rPr lang="en-US" sz="4800" b="1" spc="-104">
                  <a:ea typeface="Bricolage Grotesque Bold"/>
                  <a:cs typeface="Bricolage Grotesque Bold"/>
                  <a:sym typeface="Bricolage Grotesque Bold"/>
                </a:rPr>
                <a:t>he problem ?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F5EB22F0-A616-7079-5894-5D41FACAE670}"/>
                </a:ext>
              </a:extLst>
            </p:cNvPr>
            <p:cNvSpPr txBox="1"/>
            <p:nvPr/>
          </p:nvSpPr>
          <p:spPr>
            <a:xfrm>
              <a:off x="2450111" y="1771739"/>
              <a:ext cx="8739774" cy="27757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215911" lvl="1">
                <a:lnSpc>
                  <a:spcPts val="2000"/>
                </a:lnSpc>
              </a:pPr>
              <a:r>
                <a:rPr lang="en-US" sz="2400" b="1" spc="-100">
                  <a:ea typeface="Bricolage Grotesque Bold"/>
                  <a:cs typeface="Bricolage Grotesque Bold"/>
                  <a:sym typeface="Bricolage Grotesque Bold"/>
                </a:rPr>
                <a:t>Traffic congestion wastes time and increases emissions</a:t>
              </a: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32D2E509-B78E-DCB6-1172-A0A3B4D3D724}"/>
                </a:ext>
              </a:extLst>
            </p:cNvPr>
            <p:cNvSpPr txBox="1"/>
            <p:nvPr/>
          </p:nvSpPr>
          <p:spPr>
            <a:xfrm>
              <a:off x="2450111" y="2241305"/>
              <a:ext cx="5755274" cy="27757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215911" lvl="1">
                <a:lnSpc>
                  <a:spcPts val="2000"/>
                </a:lnSpc>
              </a:pPr>
              <a:r>
                <a:rPr lang="en-US" sz="2400" b="1" spc="-100">
                  <a:ea typeface="Bricolage Grotesque Bold"/>
                  <a:cs typeface="Bricolage Grotesque Bold"/>
                  <a:sym typeface="Bricolage Grotesque Bold"/>
                </a:rPr>
                <a:t>Cities usually react too late</a:t>
              </a:r>
            </a:p>
          </p:txBody>
        </p:sp>
        <p:pic>
          <p:nvPicPr>
            <p:cNvPr id="14" name="Graphic 13" descr="Magnifying glass with solid fill">
              <a:extLst>
                <a:ext uri="{FF2B5EF4-FFF2-40B4-BE49-F238E27FC236}">
                  <a16:creationId xmlns:a16="http://schemas.microsoft.com/office/drawing/2014/main" id="{90FED1D3-1B3D-D04A-58B1-F486DD6F34E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28206" y="2076447"/>
              <a:ext cx="421905" cy="421905"/>
            </a:xfrm>
            <a:prstGeom prst="rect">
              <a:avLst/>
            </a:prstGeom>
          </p:spPr>
        </p:pic>
        <p:pic>
          <p:nvPicPr>
            <p:cNvPr id="15" name="Graphic 14" descr="Magnifying glass with solid fill">
              <a:extLst>
                <a:ext uri="{FF2B5EF4-FFF2-40B4-BE49-F238E27FC236}">
                  <a16:creationId xmlns:a16="http://schemas.microsoft.com/office/drawing/2014/main" id="{2D6D2882-A42E-61D4-21BC-9691A95A175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28206" y="1590897"/>
              <a:ext cx="421905" cy="421905"/>
            </a:xfrm>
            <a:prstGeom prst="rect">
              <a:avLst/>
            </a:prstGeom>
          </p:spPr>
        </p:pic>
        <p:pic>
          <p:nvPicPr>
            <p:cNvPr id="21" name="Graphic 20" descr="Magnifying glass with solid fill">
              <a:extLst>
                <a:ext uri="{FF2B5EF4-FFF2-40B4-BE49-F238E27FC236}">
                  <a16:creationId xmlns:a16="http://schemas.microsoft.com/office/drawing/2014/main" id="{7F26D10A-8607-8ACF-EDE8-060750DAF1F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28206" y="860471"/>
              <a:ext cx="421905" cy="421905"/>
            </a:xfrm>
            <a:prstGeom prst="rect">
              <a:avLst/>
            </a:prstGeom>
          </p:spPr>
        </p:pic>
      </p:grpSp>
      <p:pic>
        <p:nvPicPr>
          <p:cNvPr id="25" name="Graphic 24" descr="Magnifying glass with solid fill">
            <a:extLst>
              <a:ext uri="{FF2B5EF4-FFF2-40B4-BE49-F238E27FC236}">
                <a16:creationId xmlns:a16="http://schemas.microsoft.com/office/drawing/2014/main" id="{5655E3AD-7C57-9C30-2B76-EEA4649F56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28205" y="1604417"/>
            <a:ext cx="421905" cy="42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130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52977DA-2808-4715-40E5-2C826EEC498B}"/>
              </a:ext>
            </a:extLst>
          </p:cNvPr>
          <p:cNvSpPr/>
          <p:nvPr/>
        </p:nvSpPr>
        <p:spPr>
          <a:xfrm>
            <a:off x="641350" y="285750"/>
            <a:ext cx="10909300" cy="6286500"/>
          </a:xfrm>
          <a:prstGeom prst="roundRect">
            <a:avLst>
              <a:gd name="adj" fmla="val 228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2174991-A6B6-9C39-3A04-6531D9037E00}"/>
              </a:ext>
            </a:extLst>
          </p:cNvPr>
          <p:cNvCxnSpPr>
            <a:cxnSpLocks/>
          </p:cNvCxnSpPr>
          <p:nvPr/>
        </p:nvCxnSpPr>
        <p:spPr>
          <a:xfrm>
            <a:off x="876300" y="1441867"/>
            <a:ext cx="10375900" cy="720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66F2254A-3DAA-73BC-AE7C-A6D06CC430C9}"/>
              </a:ext>
            </a:extLst>
          </p:cNvPr>
          <p:cNvGrpSpPr/>
          <p:nvPr/>
        </p:nvGrpSpPr>
        <p:grpSpPr>
          <a:xfrm>
            <a:off x="939800" y="583592"/>
            <a:ext cx="10250085" cy="2003962"/>
            <a:chOff x="939800" y="583592"/>
            <a:chExt cx="10250085" cy="2003962"/>
          </a:xfrm>
        </p:grpSpPr>
        <p:sp>
          <p:nvSpPr>
            <p:cNvPr id="7" name="TextBox 2">
              <a:extLst>
                <a:ext uri="{FF2B5EF4-FFF2-40B4-BE49-F238E27FC236}">
                  <a16:creationId xmlns:a16="http://schemas.microsoft.com/office/drawing/2014/main" id="{C3A23EDC-3B71-EF8F-5805-6802606CC679}"/>
                </a:ext>
              </a:extLst>
            </p:cNvPr>
            <p:cNvSpPr txBox="1"/>
            <p:nvPr/>
          </p:nvSpPr>
          <p:spPr>
            <a:xfrm>
              <a:off x="939800" y="583592"/>
              <a:ext cx="7016509" cy="8822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360"/>
                </a:lnSpc>
              </a:pPr>
              <a:r>
                <a:rPr lang="en-US" sz="4800" b="1" spc="-104">
                  <a:ea typeface="Bricolage Grotesque Bold"/>
                  <a:cs typeface="Bricolage Grotesque Bold"/>
                  <a:sym typeface="Bricolage Grotesque Bold"/>
                </a:rPr>
                <a:t>Our solution 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E5DAD23-E8ED-E660-E4C7-F6D352CB297C}"/>
                </a:ext>
              </a:extLst>
            </p:cNvPr>
            <p:cNvSpPr txBox="1"/>
            <p:nvPr/>
          </p:nvSpPr>
          <p:spPr>
            <a:xfrm>
              <a:off x="2450111" y="1771739"/>
              <a:ext cx="8739774" cy="33528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215908" lvl="1">
                <a:lnSpc>
                  <a:spcPts val="2599"/>
                </a:lnSpc>
              </a:pPr>
              <a:r>
                <a:rPr lang="en-US" sz="2400" b="1" spc="-13">
                  <a:ea typeface="Aileron"/>
                  <a:cs typeface="Aileron"/>
                  <a:sym typeface="Aileron"/>
                </a:rPr>
                <a:t>Predict congestion </a:t>
              </a:r>
              <a:r>
                <a:rPr lang="en-US" sz="2400" b="1" spc="-13">
                  <a:ea typeface="Aileron Bold"/>
                  <a:cs typeface="Aileron Bold"/>
                  <a:sym typeface="Aileron Bold"/>
                </a:rPr>
                <a:t>30-60 minutes ahead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92D5846-F218-3CFC-C960-57F6E34AD12C}"/>
                </a:ext>
              </a:extLst>
            </p:cNvPr>
            <p:cNvSpPr txBox="1"/>
            <p:nvPr/>
          </p:nvSpPr>
          <p:spPr>
            <a:xfrm>
              <a:off x="2450111" y="2241305"/>
              <a:ext cx="5755274" cy="34624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223105" lvl="1">
                <a:lnSpc>
                  <a:spcPts val="2686"/>
                </a:lnSpc>
              </a:pPr>
              <a:r>
                <a:rPr lang="en-US" sz="2400" b="1" spc="-14">
                  <a:ea typeface="Aileron"/>
                  <a:cs typeface="Aileron"/>
                  <a:sym typeface="Aileron"/>
                </a:rPr>
                <a:t>Early warnings for specific areas</a:t>
              </a: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F4C9BDE9-ABE5-F7DA-7307-FE47E4A721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326" r="-911" b="23136"/>
          <a:stretch>
            <a:fillRect/>
          </a:stretch>
        </p:blipFill>
        <p:spPr>
          <a:xfrm>
            <a:off x="876300" y="3006685"/>
            <a:ext cx="9874250" cy="3177429"/>
          </a:xfrm>
          <a:prstGeom prst="rect">
            <a:avLst/>
          </a:prstGeom>
          <a:effectLst>
            <a:softEdge rad="190500"/>
          </a:effectLst>
        </p:spPr>
      </p:pic>
      <p:pic>
        <p:nvPicPr>
          <p:cNvPr id="16" name="Graphic 15" descr="Lights On with solid fill">
            <a:extLst>
              <a:ext uri="{FF2B5EF4-FFF2-40B4-BE49-F238E27FC236}">
                <a16:creationId xmlns:a16="http://schemas.microsoft.com/office/drawing/2014/main" id="{5A3B6AD1-3ACB-B53B-BE3C-8ABC856559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28206" y="2179063"/>
            <a:ext cx="421200" cy="421200"/>
          </a:xfrm>
          <a:prstGeom prst="rect">
            <a:avLst/>
          </a:prstGeom>
        </p:spPr>
      </p:pic>
      <p:pic>
        <p:nvPicPr>
          <p:cNvPr id="17" name="Graphic 16" descr="Lights On with solid fill">
            <a:extLst>
              <a:ext uri="{FF2B5EF4-FFF2-40B4-BE49-F238E27FC236}">
                <a16:creationId xmlns:a16="http://schemas.microsoft.com/office/drawing/2014/main" id="{A39CC9F8-FD25-367A-674F-B3C4B9376B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28206" y="1642742"/>
            <a:ext cx="421200" cy="421200"/>
          </a:xfrm>
          <a:prstGeom prst="rect">
            <a:avLst/>
          </a:prstGeom>
        </p:spPr>
      </p:pic>
      <p:pic>
        <p:nvPicPr>
          <p:cNvPr id="18" name="Graphic 17" descr="Lights On with solid fill">
            <a:extLst>
              <a:ext uri="{FF2B5EF4-FFF2-40B4-BE49-F238E27FC236}">
                <a16:creationId xmlns:a16="http://schemas.microsoft.com/office/drawing/2014/main" id="{8375180A-7A20-826D-62A3-12A607E81A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52653" y="882047"/>
            <a:ext cx="421200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068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3D4D7F2-A656-23EB-DC89-1DE85E716477}"/>
              </a:ext>
            </a:extLst>
          </p:cNvPr>
          <p:cNvSpPr/>
          <p:nvPr/>
        </p:nvSpPr>
        <p:spPr>
          <a:xfrm>
            <a:off x="641350" y="285750"/>
            <a:ext cx="10909300" cy="6286500"/>
          </a:xfrm>
          <a:prstGeom prst="roundRect">
            <a:avLst>
              <a:gd name="adj" fmla="val 228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2C71F1E-B1B9-7F2A-565A-0010C5A9E535}"/>
              </a:ext>
            </a:extLst>
          </p:cNvPr>
          <p:cNvCxnSpPr>
            <a:cxnSpLocks/>
          </p:cNvCxnSpPr>
          <p:nvPr/>
        </p:nvCxnSpPr>
        <p:spPr>
          <a:xfrm>
            <a:off x="876300" y="1441867"/>
            <a:ext cx="10375900" cy="720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2">
            <a:extLst>
              <a:ext uri="{FF2B5EF4-FFF2-40B4-BE49-F238E27FC236}">
                <a16:creationId xmlns:a16="http://schemas.microsoft.com/office/drawing/2014/main" id="{D269ACF8-8AB8-9E8A-FB44-DB1907E9C044}"/>
              </a:ext>
            </a:extLst>
          </p:cNvPr>
          <p:cNvSpPr txBox="1"/>
          <p:nvPr/>
        </p:nvSpPr>
        <p:spPr>
          <a:xfrm>
            <a:off x="1637638" y="614944"/>
            <a:ext cx="8739774" cy="7303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43"/>
              </a:lnSpc>
            </a:pPr>
            <a:endParaRPr lang="en-US" sz="5400" b="1" spc="-79">
              <a:ea typeface="Bricolage Grotesque Bold"/>
              <a:cs typeface="Bricolage Grotesque Bold"/>
              <a:sym typeface="Bricolage Grotesque Bold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E02C8E5-C191-8AA7-FEFF-A28DEAB25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248" y="3244518"/>
            <a:ext cx="3187248" cy="2219246"/>
          </a:xfrm>
          <a:prstGeom prst="rect">
            <a:avLst/>
          </a:prstGeom>
        </p:spPr>
      </p:pic>
      <p:pic>
        <p:nvPicPr>
          <p:cNvPr id="20" name="Graphic 19" descr="Folder Search with solid fill">
            <a:extLst>
              <a:ext uri="{FF2B5EF4-FFF2-40B4-BE49-F238E27FC236}">
                <a16:creationId xmlns:a16="http://schemas.microsoft.com/office/drawing/2014/main" id="{DD275962-93B5-1226-80C3-F0FEB6DD00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91305" y="828389"/>
            <a:ext cx="421200" cy="42120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5DBC6500-1393-1D37-84AC-66230122B1AF}"/>
              </a:ext>
            </a:extLst>
          </p:cNvPr>
          <p:cNvGrpSpPr/>
          <p:nvPr/>
        </p:nvGrpSpPr>
        <p:grpSpPr>
          <a:xfrm>
            <a:off x="905304" y="709200"/>
            <a:ext cx="10547350" cy="1878354"/>
            <a:chOff x="905304" y="709200"/>
            <a:chExt cx="10547350" cy="1878354"/>
          </a:xfrm>
        </p:grpSpPr>
        <p:sp>
          <p:nvSpPr>
            <p:cNvPr id="22" name="TextBox 2">
              <a:extLst>
                <a:ext uri="{FF2B5EF4-FFF2-40B4-BE49-F238E27FC236}">
                  <a16:creationId xmlns:a16="http://schemas.microsoft.com/office/drawing/2014/main" id="{90264DC2-482B-47FB-8DFD-90F4FC9DBD21}"/>
                </a:ext>
              </a:extLst>
            </p:cNvPr>
            <p:cNvSpPr txBox="1"/>
            <p:nvPr/>
          </p:nvSpPr>
          <p:spPr>
            <a:xfrm>
              <a:off x="905304" y="709200"/>
              <a:ext cx="10547350" cy="73039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643"/>
                </a:lnSpc>
              </a:pPr>
              <a:r>
                <a:rPr lang="en-US" sz="4800" b="1" spc="-79">
                  <a:ea typeface="Bricolage Grotesque Bold"/>
                  <a:cs typeface="Bricolage Grotesque Bold"/>
                  <a:sym typeface="Bricolage Grotesque Bold"/>
                </a:rPr>
                <a:t>What data we work with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EA7E657-DB2A-C613-4DAC-EF578D0B4E15}"/>
                </a:ext>
              </a:extLst>
            </p:cNvPr>
            <p:cNvSpPr txBox="1"/>
            <p:nvPr/>
          </p:nvSpPr>
          <p:spPr>
            <a:xfrm>
              <a:off x="2450111" y="2241305"/>
              <a:ext cx="5755274" cy="34624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223105" lvl="1">
                <a:lnSpc>
                  <a:spcPts val="2686"/>
                </a:lnSpc>
              </a:pPr>
              <a:endParaRPr lang="en-US" sz="2400" b="1" spc="-14">
                <a:ea typeface="Aileron"/>
                <a:cs typeface="Aileron"/>
                <a:sym typeface="Aileron"/>
              </a:endParaRPr>
            </a:p>
          </p:txBody>
        </p:sp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564C8A6-87ED-D4EF-1B5D-B7B2E3A61A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4797357"/>
              </p:ext>
            </p:extLst>
          </p:nvPr>
        </p:nvGraphicFramePr>
        <p:xfrm>
          <a:off x="6020889" y="3532664"/>
          <a:ext cx="4368992" cy="1706880"/>
        </p:xfrm>
        <a:graphic>
          <a:graphicData uri="http://schemas.openxmlformats.org/drawingml/2006/table">
            <a:tbl>
              <a:tblPr/>
              <a:tblGrid>
                <a:gridCol w="1092248">
                  <a:extLst>
                    <a:ext uri="{9D8B030D-6E8A-4147-A177-3AD203B41FA5}">
                      <a16:colId xmlns:a16="http://schemas.microsoft.com/office/drawing/2014/main" val="2172590129"/>
                    </a:ext>
                  </a:extLst>
                </a:gridCol>
                <a:gridCol w="1092248">
                  <a:extLst>
                    <a:ext uri="{9D8B030D-6E8A-4147-A177-3AD203B41FA5}">
                      <a16:colId xmlns:a16="http://schemas.microsoft.com/office/drawing/2014/main" val="1912269157"/>
                    </a:ext>
                  </a:extLst>
                </a:gridCol>
                <a:gridCol w="1092248">
                  <a:extLst>
                    <a:ext uri="{9D8B030D-6E8A-4147-A177-3AD203B41FA5}">
                      <a16:colId xmlns:a16="http://schemas.microsoft.com/office/drawing/2014/main" val="127427262"/>
                    </a:ext>
                  </a:extLst>
                </a:gridCol>
                <a:gridCol w="1092248">
                  <a:extLst>
                    <a:ext uri="{9D8B030D-6E8A-4147-A177-3AD203B41FA5}">
                      <a16:colId xmlns:a16="http://schemas.microsoft.com/office/drawing/2014/main" val="1825370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>
                          <a:solidFill>
                            <a:schemeClr val="tx1"/>
                          </a:solidFill>
                          <a:effectLst/>
                        </a:rPr>
                        <a:t>Time</a:t>
                      </a:r>
                    </a:p>
                  </a:txBody>
                  <a:tcPr marL="57150" marR="5715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>
                          <a:solidFill>
                            <a:schemeClr val="tx1"/>
                          </a:solidFill>
                          <a:effectLst/>
                        </a:rPr>
                        <a:t>City</a:t>
                      </a:r>
                    </a:p>
                  </a:txBody>
                  <a:tcPr marL="57150" marR="5715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>
                          <a:solidFill>
                            <a:schemeClr val="tx1"/>
                          </a:solidFill>
                          <a:effectLst/>
                        </a:rPr>
                        <a:t>Delay</a:t>
                      </a:r>
                    </a:p>
                  </a:txBody>
                  <a:tcPr marL="57150" marR="5715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>
                          <a:solidFill>
                            <a:schemeClr val="tx1"/>
                          </a:solidFill>
                          <a:effectLst/>
                        </a:rPr>
                        <a:t>Index</a:t>
                      </a:r>
                    </a:p>
                  </a:txBody>
                  <a:tcPr marL="57150" marR="5715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2228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08:30</a:t>
                      </a:r>
                    </a:p>
                  </a:txBody>
                  <a:tcPr marL="57150" marR="5715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Kosice</a:t>
                      </a:r>
                    </a:p>
                  </a:txBody>
                  <a:tcPr marL="57150" marR="5715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12.8 min</a:t>
                      </a:r>
                    </a:p>
                  </a:txBody>
                  <a:tcPr marL="57150" marR="5715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59%</a:t>
                      </a:r>
                    </a:p>
                  </a:txBody>
                  <a:tcPr marL="57150" marR="5715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8507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08:45</a:t>
                      </a:r>
                    </a:p>
                  </a:txBody>
                  <a:tcPr marL="57150" marR="5715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Bratislava</a:t>
                      </a:r>
                    </a:p>
                  </a:txBody>
                  <a:tcPr marL="57150" marR="5715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17.1 min</a:t>
                      </a:r>
                    </a:p>
                  </a:txBody>
                  <a:tcPr marL="57150" marR="5715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62%</a:t>
                      </a:r>
                    </a:p>
                  </a:txBody>
                  <a:tcPr marL="57150" marR="5715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1018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09:00</a:t>
                      </a:r>
                    </a:p>
                  </a:txBody>
                  <a:tcPr marL="57150" marR="5715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Zilina</a:t>
                      </a:r>
                    </a:p>
                  </a:txBody>
                  <a:tcPr marL="57150" marR="5715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9.4 min</a:t>
                      </a:r>
                    </a:p>
                  </a:txBody>
                  <a:tcPr marL="57150" marR="5715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44%</a:t>
                      </a:r>
                    </a:p>
                  </a:txBody>
                  <a:tcPr marL="57150" marR="5715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0465344"/>
                  </a:ext>
                </a:extLst>
              </a:tr>
            </a:tbl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296EB3B-F01B-5D20-054D-F0166642067F}"/>
              </a:ext>
            </a:extLst>
          </p:cNvPr>
          <p:cNvCxnSpPr>
            <a:cxnSpLocks/>
          </p:cNvCxnSpPr>
          <p:nvPr/>
        </p:nvCxnSpPr>
        <p:spPr>
          <a:xfrm>
            <a:off x="7047989" y="3229901"/>
            <a:ext cx="0" cy="21386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12FD843-B003-B185-587B-86A504C19914}"/>
              </a:ext>
            </a:extLst>
          </p:cNvPr>
          <p:cNvCxnSpPr>
            <a:cxnSpLocks/>
          </p:cNvCxnSpPr>
          <p:nvPr/>
        </p:nvCxnSpPr>
        <p:spPr>
          <a:xfrm>
            <a:off x="6111874" y="4813029"/>
            <a:ext cx="395138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09BBA6E-AA9C-A0D3-7804-ADE5B6E3023E}"/>
              </a:ext>
            </a:extLst>
          </p:cNvPr>
          <p:cNvCxnSpPr>
            <a:cxnSpLocks/>
          </p:cNvCxnSpPr>
          <p:nvPr/>
        </p:nvCxnSpPr>
        <p:spPr>
          <a:xfrm>
            <a:off x="6096000" y="3538556"/>
            <a:ext cx="398313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AAF72DA-7A77-BC55-B87D-8797C6ECA3D3}"/>
              </a:ext>
            </a:extLst>
          </p:cNvPr>
          <p:cNvCxnSpPr>
            <a:cxnSpLocks/>
          </p:cNvCxnSpPr>
          <p:nvPr/>
        </p:nvCxnSpPr>
        <p:spPr>
          <a:xfrm>
            <a:off x="8205718" y="3229901"/>
            <a:ext cx="0" cy="21386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CF9A5B9-AA81-6C6C-DDF1-6570FD17991E}"/>
              </a:ext>
            </a:extLst>
          </p:cNvPr>
          <p:cNvCxnSpPr>
            <a:cxnSpLocks/>
          </p:cNvCxnSpPr>
          <p:nvPr/>
        </p:nvCxnSpPr>
        <p:spPr>
          <a:xfrm>
            <a:off x="9401288" y="3229901"/>
            <a:ext cx="0" cy="21386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8837AD1-192D-6A2D-6856-F687073B4DC8}"/>
              </a:ext>
            </a:extLst>
          </p:cNvPr>
          <p:cNvCxnSpPr>
            <a:cxnSpLocks/>
          </p:cNvCxnSpPr>
          <p:nvPr/>
        </p:nvCxnSpPr>
        <p:spPr>
          <a:xfrm>
            <a:off x="6096000" y="3975630"/>
            <a:ext cx="398313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4B9E4CC-4B8A-45C0-1072-49FC93A2BF68}"/>
              </a:ext>
            </a:extLst>
          </p:cNvPr>
          <p:cNvCxnSpPr>
            <a:cxnSpLocks/>
          </p:cNvCxnSpPr>
          <p:nvPr/>
        </p:nvCxnSpPr>
        <p:spPr>
          <a:xfrm>
            <a:off x="6064250" y="4386552"/>
            <a:ext cx="398313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2B1A1A99-911E-4DAE-24D8-7003BEF6FA99}"/>
              </a:ext>
            </a:extLst>
          </p:cNvPr>
          <p:cNvSpPr txBox="1"/>
          <p:nvPr/>
        </p:nvSpPr>
        <p:spPr>
          <a:xfrm>
            <a:off x="1633956" y="1835170"/>
            <a:ext cx="60976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We collect real-time traffic data from different cities to monitor congestion, delays, and travel patterns throughout the day.</a:t>
            </a:r>
          </a:p>
        </p:txBody>
      </p:sp>
    </p:spTree>
    <p:extLst>
      <p:ext uri="{BB962C8B-B14F-4D97-AF65-F5344CB8AC3E}">
        <p14:creationId xmlns:p14="http://schemas.microsoft.com/office/powerpoint/2010/main" val="2599918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BDFEB57-8D34-62FD-2F6D-10627E1A4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96" y="-1560810"/>
            <a:ext cx="11741504" cy="797560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158245B-685E-E372-2122-9F8EA5AE5968}"/>
              </a:ext>
            </a:extLst>
          </p:cNvPr>
          <p:cNvSpPr/>
          <p:nvPr/>
        </p:nvSpPr>
        <p:spPr>
          <a:xfrm>
            <a:off x="641350" y="285750"/>
            <a:ext cx="10909300" cy="6286500"/>
          </a:xfrm>
          <a:prstGeom prst="roundRect">
            <a:avLst>
              <a:gd name="adj" fmla="val 228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92E10CC-24C9-D97D-1CCD-8A297B33A4AC}"/>
              </a:ext>
            </a:extLst>
          </p:cNvPr>
          <p:cNvCxnSpPr>
            <a:cxnSpLocks/>
          </p:cNvCxnSpPr>
          <p:nvPr/>
        </p:nvCxnSpPr>
        <p:spPr>
          <a:xfrm>
            <a:off x="876300" y="1441867"/>
            <a:ext cx="10375900" cy="720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2">
            <a:extLst>
              <a:ext uri="{FF2B5EF4-FFF2-40B4-BE49-F238E27FC236}">
                <a16:creationId xmlns:a16="http://schemas.microsoft.com/office/drawing/2014/main" id="{9C2FB750-82AD-EED8-1FD9-D36E6365FB01}"/>
              </a:ext>
            </a:extLst>
          </p:cNvPr>
          <p:cNvSpPr txBox="1"/>
          <p:nvPr/>
        </p:nvSpPr>
        <p:spPr>
          <a:xfrm>
            <a:off x="-97996" y="673374"/>
            <a:ext cx="10547350" cy="7303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43"/>
              </a:lnSpc>
            </a:pPr>
            <a:r>
              <a:rPr lang="en-GB" sz="4800" b="1"/>
              <a:t>Who benefits ?</a:t>
            </a:r>
            <a:endParaRPr lang="en-US" sz="4800" b="1" spc="-79">
              <a:ea typeface="Bricolage Grotesque Bold"/>
              <a:cs typeface="Bricolage Grotesque Bold"/>
              <a:sym typeface="Bricolage Grotesque Bold"/>
            </a:endParaRPr>
          </a:p>
        </p:txBody>
      </p:sp>
      <p:pic>
        <p:nvPicPr>
          <p:cNvPr id="13" name="Graphic 12" descr="Users outline">
            <a:extLst>
              <a:ext uri="{FF2B5EF4-FFF2-40B4-BE49-F238E27FC236}">
                <a16:creationId xmlns:a16="http://schemas.microsoft.com/office/drawing/2014/main" id="{0F9966B4-B424-BF24-4C82-ED52A078DE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31546" y="56144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438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B815C2-8306-8BBA-4AC6-A3FBDB0AF7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03" t="12773" r="14244" b="15496"/>
          <a:stretch>
            <a:fillRect/>
          </a:stretch>
        </p:blipFill>
        <p:spPr>
          <a:xfrm>
            <a:off x="4611169" y="2908300"/>
            <a:ext cx="6823243" cy="1667260"/>
          </a:xfrm>
          <a:prstGeom prst="rect">
            <a:avLst/>
          </a:prstGeom>
        </p:spPr>
      </p:pic>
      <p:sp>
        <p:nvSpPr>
          <p:cNvPr id="5" name="TextBox 21">
            <a:extLst>
              <a:ext uri="{FF2B5EF4-FFF2-40B4-BE49-F238E27FC236}">
                <a16:creationId xmlns:a16="http://schemas.microsoft.com/office/drawing/2014/main" id="{60CC3948-0204-47F8-B54D-4A66FFB974DA}"/>
              </a:ext>
            </a:extLst>
          </p:cNvPr>
          <p:cNvSpPr txBox="1"/>
          <p:nvPr/>
        </p:nvSpPr>
        <p:spPr>
          <a:xfrm>
            <a:off x="2735876" y="2421467"/>
            <a:ext cx="1311023" cy="5943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53"/>
              </a:lnSpc>
            </a:pPr>
            <a:r>
              <a:rPr lang="en-US" sz="3466" b="1">
                <a:solidFill>
                  <a:srgbClr val="000000"/>
                </a:solidFill>
                <a:ea typeface="PT Serif Bold"/>
                <a:cs typeface="PT Serif Bold"/>
                <a:sym typeface="PT Serif Bold"/>
              </a:rPr>
              <a:t>Input</a:t>
            </a:r>
          </a:p>
        </p:txBody>
      </p:sp>
      <p:sp>
        <p:nvSpPr>
          <p:cNvPr id="6" name="TextBox 22">
            <a:extLst>
              <a:ext uri="{FF2B5EF4-FFF2-40B4-BE49-F238E27FC236}">
                <a16:creationId xmlns:a16="http://schemas.microsoft.com/office/drawing/2014/main" id="{EC202C10-C66B-02F6-2093-87E07A818F72}"/>
              </a:ext>
            </a:extLst>
          </p:cNvPr>
          <p:cNvSpPr txBox="1"/>
          <p:nvPr/>
        </p:nvSpPr>
        <p:spPr>
          <a:xfrm>
            <a:off x="2529043" y="3466382"/>
            <a:ext cx="1996998" cy="594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53"/>
              </a:lnSpc>
            </a:pPr>
            <a:r>
              <a:rPr lang="en-US" sz="3466" b="1">
                <a:solidFill>
                  <a:srgbClr val="000000"/>
                </a:solidFill>
                <a:ea typeface="PT Serif Bold"/>
                <a:cs typeface="PT Serif Bold"/>
                <a:sym typeface="PT Serif Bold"/>
              </a:rPr>
              <a:t>Predict</a:t>
            </a:r>
          </a:p>
        </p:txBody>
      </p:sp>
      <p:sp>
        <p:nvSpPr>
          <p:cNvPr id="7" name="TextBox 23">
            <a:extLst>
              <a:ext uri="{FF2B5EF4-FFF2-40B4-BE49-F238E27FC236}">
                <a16:creationId xmlns:a16="http://schemas.microsoft.com/office/drawing/2014/main" id="{BBC5705F-5F7C-9C6D-1C2C-05D4903F6AFD}"/>
              </a:ext>
            </a:extLst>
          </p:cNvPr>
          <p:cNvSpPr txBox="1"/>
          <p:nvPr/>
        </p:nvSpPr>
        <p:spPr>
          <a:xfrm>
            <a:off x="2735875" y="4511296"/>
            <a:ext cx="912672" cy="5943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53"/>
              </a:lnSpc>
            </a:pPr>
            <a:r>
              <a:rPr lang="en-US" sz="3466" b="1">
                <a:solidFill>
                  <a:srgbClr val="000000"/>
                </a:solidFill>
                <a:ea typeface="PT Serif Bold"/>
                <a:cs typeface="PT Serif Bold"/>
                <a:sym typeface="PT Serif Bold"/>
              </a:rPr>
              <a:t>Risk</a:t>
            </a:r>
          </a:p>
        </p:txBody>
      </p:sp>
      <p:sp>
        <p:nvSpPr>
          <p:cNvPr id="8" name="TextBox 24">
            <a:extLst>
              <a:ext uri="{FF2B5EF4-FFF2-40B4-BE49-F238E27FC236}">
                <a16:creationId xmlns:a16="http://schemas.microsoft.com/office/drawing/2014/main" id="{635D9C0C-57A2-E79D-A9A0-E5A5CB0C983F}"/>
              </a:ext>
            </a:extLst>
          </p:cNvPr>
          <p:cNvSpPr txBox="1"/>
          <p:nvPr/>
        </p:nvSpPr>
        <p:spPr>
          <a:xfrm>
            <a:off x="2536367" y="5553543"/>
            <a:ext cx="1784610" cy="594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53"/>
              </a:lnSpc>
            </a:pPr>
            <a:r>
              <a:rPr lang="en-US" sz="3466" b="1">
                <a:solidFill>
                  <a:srgbClr val="000000"/>
                </a:solidFill>
                <a:ea typeface="PT Serif Bold"/>
                <a:cs typeface="PT Serif Bold"/>
                <a:sym typeface="PT Serif Bold"/>
              </a:rPr>
              <a:t>Decide</a:t>
            </a:r>
          </a:p>
        </p:txBody>
      </p:sp>
      <p:sp>
        <p:nvSpPr>
          <p:cNvPr id="9" name="Freeform 14">
            <a:extLst>
              <a:ext uri="{FF2B5EF4-FFF2-40B4-BE49-F238E27FC236}">
                <a16:creationId xmlns:a16="http://schemas.microsoft.com/office/drawing/2014/main" id="{DA8E592B-E7A5-67B7-5A1E-7B1D4A8F1301}"/>
              </a:ext>
            </a:extLst>
          </p:cNvPr>
          <p:cNvSpPr/>
          <p:nvPr/>
        </p:nvSpPr>
        <p:spPr>
          <a:xfrm>
            <a:off x="1206783" y="2382718"/>
            <a:ext cx="1154019" cy="732396"/>
          </a:xfrm>
          <a:custGeom>
            <a:avLst/>
            <a:gdLst/>
            <a:ahLst/>
            <a:cxnLst/>
            <a:rect l="l" t="t" r="r" b="b"/>
            <a:pathLst>
              <a:path w="1731028" h="1098594">
                <a:moveTo>
                  <a:pt x="0" y="0"/>
                </a:moveTo>
                <a:lnTo>
                  <a:pt x="1731028" y="0"/>
                </a:lnTo>
                <a:lnTo>
                  <a:pt x="1731028" y="1098594"/>
                </a:lnTo>
                <a:lnTo>
                  <a:pt x="0" y="10985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0" name="Freeform 15">
            <a:extLst>
              <a:ext uri="{FF2B5EF4-FFF2-40B4-BE49-F238E27FC236}">
                <a16:creationId xmlns:a16="http://schemas.microsoft.com/office/drawing/2014/main" id="{8404B908-1260-34FF-1F20-AD589AA559C5}"/>
              </a:ext>
            </a:extLst>
          </p:cNvPr>
          <p:cNvSpPr/>
          <p:nvPr/>
        </p:nvSpPr>
        <p:spPr>
          <a:xfrm>
            <a:off x="1206783" y="3429000"/>
            <a:ext cx="1154019" cy="732396"/>
          </a:xfrm>
          <a:custGeom>
            <a:avLst/>
            <a:gdLst/>
            <a:ahLst/>
            <a:cxnLst/>
            <a:rect l="l" t="t" r="r" b="b"/>
            <a:pathLst>
              <a:path w="1731028" h="1098594">
                <a:moveTo>
                  <a:pt x="0" y="0"/>
                </a:moveTo>
                <a:lnTo>
                  <a:pt x="1731028" y="0"/>
                </a:lnTo>
                <a:lnTo>
                  <a:pt x="1731028" y="1098594"/>
                </a:lnTo>
                <a:lnTo>
                  <a:pt x="0" y="10985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1" name="Freeform 16">
            <a:extLst>
              <a:ext uri="{FF2B5EF4-FFF2-40B4-BE49-F238E27FC236}">
                <a16:creationId xmlns:a16="http://schemas.microsoft.com/office/drawing/2014/main" id="{94B116E6-5C82-A9F5-BC3C-5E4F54DBFC18}"/>
              </a:ext>
            </a:extLst>
          </p:cNvPr>
          <p:cNvSpPr/>
          <p:nvPr/>
        </p:nvSpPr>
        <p:spPr>
          <a:xfrm>
            <a:off x="1224347" y="4442294"/>
            <a:ext cx="1154019" cy="732396"/>
          </a:xfrm>
          <a:custGeom>
            <a:avLst/>
            <a:gdLst/>
            <a:ahLst/>
            <a:cxnLst/>
            <a:rect l="l" t="t" r="r" b="b"/>
            <a:pathLst>
              <a:path w="1731028" h="1098594">
                <a:moveTo>
                  <a:pt x="0" y="0"/>
                </a:moveTo>
                <a:lnTo>
                  <a:pt x="1731028" y="0"/>
                </a:lnTo>
                <a:lnTo>
                  <a:pt x="1731028" y="1098594"/>
                </a:lnTo>
                <a:lnTo>
                  <a:pt x="0" y="10985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2" name="Freeform 17">
            <a:extLst>
              <a:ext uri="{FF2B5EF4-FFF2-40B4-BE49-F238E27FC236}">
                <a16:creationId xmlns:a16="http://schemas.microsoft.com/office/drawing/2014/main" id="{D235FF4F-6879-E0F4-B769-216487FB12B3}"/>
              </a:ext>
            </a:extLst>
          </p:cNvPr>
          <p:cNvSpPr/>
          <p:nvPr/>
        </p:nvSpPr>
        <p:spPr>
          <a:xfrm>
            <a:off x="1206783" y="5516092"/>
            <a:ext cx="1154019" cy="732396"/>
          </a:xfrm>
          <a:custGeom>
            <a:avLst/>
            <a:gdLst/>
            <a:ahLst/>
            <a:cxnLst/>
            <a:rect l="l" t="t" r="r" b="b"/>
            <a:pathLst>
              <a:path w="1731028" h="1098594">
                <a:moveTo>
                  <a:pt x="0" y="0"/>
                </a:moveTo>
                <a:lnTo>
                  <a:pt x="1731028" y="0"/>
                </a:lnTo>
                <a:lnTo>
                  <a:pt x="1731028" y="1098595"/>
                </a:lnTo>
                <a:lnTo>
                  <a:pt x="0" y="10985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3" name="TextBox 17">
            <a:extLst>
              <a:ext uri="{FF2B5EF4-FFF2-40B4-BE49-F238E27FC236}">
                <a16:creationId xmlns:a16="http://schemas.microsoft.com/office/drawing/2014/main" id="{9E8A7490-1281-2947-CBC6-6D631DE93626}"/>
              </a:ext>
            </a:extLst>
          </p:cNvPr>
          <p:cNvSpPr txBox="1"/>
          <p:nvPr/>
        </p:nvSpPr>
        <p:spPr>
          <a:xfrm>
            <a:off x="675088" y="793705"/>
            <a:ext cx="7701906" cy="6127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78"/>
              </a:lnSpc>
            </a:pPr>
            <a:r>
              <a:rPr lang="en-US" sz="4800" b="1">
                <a:latin typeface="+mj-lt"/>
                <a:ea typeface="Roca Two Heavy"/>
                <a:cs typeface="Roca Two Heavy"/>
                <a:sym typeface="Roca Two Heavy"/>
              </a:rPr>
              <a:t>Core requirements?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58BFB1E-BE29-38F9-BBDB-789BFDA4C0F1}"/>
              </a:ext>
            </a:extLst>
          </p:cNvPr>
          <p:cNvSpPr/>
          <p:nvPr/>
        </p:nvSpPr>
        <p:spPr>
          <a:xfrm>
            <a:off x="641350" y="285750"/>
            <a:ext cx="10909300" cy="6286500"/>
          </a:xfrm>
          <a:prstGeom prst="roundRect">
            <a:avLst>
              <a:gd name="adj" fmla="val 228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EE0AC2-91B8-6681-DF3C-4096148EEDB5}"/>
              </a:ext>
            </a:extLst>
          </p:cNvPr>
          <p:cNvCxnSpPr>
            <a:cxnSpLocks/>
          </p:cNvCxnSpPr>
          <p:nvPr/>
        </p:nvCxnSpPr>
        <p:spPr>
          <a:xfrm>
            <a:off x="876300" y="1441867"/>
            <a:ext cx="10375900" cy="720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098" name="Picture 2" descr="Requirement Icon Design Symbol 55729818 Vector Art at Vecteezy">
            <a:extLst>
              <a:ext uri="{FF2B5EF4-FFF2-40B4-BE49-F238E27FC236}">
                <a16:creationId xmlns:a16="http://schemas.microsoft.com/office/drawing/2014/main" id="{D372160F-7207-AA9C-745D-F4E6850C2F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6096" y="817710"/>
            <a:ext cx="347696" cy="420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6076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1961" y="429769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>
                <a:solidFill>
                  <a:srgbClr val="1F2937"/>
                </a:solidFill>
                <a:latin typeface="+mj-lt"/>
                <a:ea typeface="Calibri" pitchFamily="34" charset="-122"/>
                <a:cs typeface="Calibri" pitchFamily="34" charset="-120"/>
              </a:rPr>
              <a:t>SWOT Overview</a:t>
            </a:r>
            <a:endParaRPr lang="en-US" sz="4800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F172A"/>
                </a:solidFill>
                <a:ea typeface="Calibri" pitchFamily="34" charset="-122"/>
                <a:cs typeface="Calibri" pitchFamily="34" charset="-120"/>
              </a:rPr>
              <a:t>Internal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6126480" y="68580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F172A"/>
                </a:solidFill>
                <a:ea typeface="Calibri" pitchFamily="34" charset="-122"/>
                <a:cs typeface="Calibri" pitchFamily="34" charset="-120"/>
              </a:rPr>
              <a:t>External</a:t>
            </a:r>
            <a:endParaRPr lang="en-US" sz="2000"/>
          </a:p>
        </p:txBody>
      </p:sp>
      <p:sp>
        <p:nvSpPr>
          <p:cNvPr id="5" name="Shape 3"/>
          <p:cNvSpPr/>
          <p:nvPr/>
        </p:nvSpPr>
        <p:spPr>
          <a:xfrm>
            <a:off x="868680" y="1024128"/>
            <a:ext cx="4983480" cy="0"/>
          </a:xfrm>
          <a:prstGeom prst="line">
            <a:avLst/>
          </a:prstGeom>
          <a:noFill/>
          <a:ln w="25400">
            <a:solidFill>
              <a:srgbClr val="2B9A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1024128"/>
            <a:ext cx="0" cy="228600"/>
          </a:xfrm>
          <a:prstGeom prst="line">
            <a:avLst/>
          </a:prstGeom>
          <a:noFill/>
          <a:ln w="25400">
            <a:solidFill>
              <a:srgbClr val="2B9A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852160" y="1024128"/>
            <a:ext cx="0" cy="228600"/>
          </a:xfrm>
          <a:prstGeom prst="line">
            <a:avLst/>
          </a:prstGeom>
          <a:noFill/>
          <a:ln w="25400">
            <a:solidFill>
              <a:srgbClr val="2B9A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336792" y="1024128"/>
            <a:ext cx="4983480" cy="0"/>
          </a:xfrm>
          <a:prstGeom prst="line">
            <a:avLst/>
          </a:prstGeom>
          <a:noFill/>
          <a:ln w="25400">
            <a:solidFill>
              <a:srgbClr val="2B9A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336792" y="1024128"/>
            <a:ext cx="0" cy="228600"/>
          </a:xfrm>
          <a:prstGeom prst="line">
            <a:avLst/>
          </a:prstGeom>
          <a:noFill/>
          <a:ln w="25400">
            <a:solidFill>
              <a:srgbClr val="2B9A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320272" y="1024128"/>
            <a:ext cx="0" cy="228600"/>
          </a:xfrm>
          <a:prstGeom prst="line">
            <a:avLst/>
          </a:prstGeom>
          <a:noFill/>
          <a:ln w="25400">
            <a:solidFill>
              <a:srgbClr val="2B9A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0515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200" b="1">
                <a:solidFill>
                  <a:srgbClr val="7E8795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endParaRPr lang="en-US" sz="920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429000" y="10515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200" b="1">
                <a:solidFill>
                  <a:schemeClr val="accent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W</a:t>
            </a:r>
            <a:endParaRPr lang="en-US" sz="9200">
              <a:solidFill>
                <a:schemeClr val="accent2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0" y="10515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200" b="1">
                <a:solidFill>
                  <a:srgbClr val="74C7C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endParaRPr lang="en-US" sz="920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372600" y="10515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200" b="1">
                <a:solidFill>
                  <a:srgbClr val="E8C07A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endParaRPr lang="en-US" sz="920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21792" y="2084832"/>
            <a:ext cx="2414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Strengths</a:t>
            </a:r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2633472"/>
            <a:ext cx="23774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/>
              <a:t>Practical value for users</a:t>
            </a:r>
            <a:endParaRPr lang="uk-UA" sz="160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/>
              <a:t>Clear problem focus</a:t>
            </a:r>
            <a:endParaRPr lang="uk-UA" sz="1600" b="1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/>
              <a:t>Data-driven approach</a:t>
            </a:r>
            <a:endParaRPr lang="uk-UA" sz="1600" b="1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/>
              <a:t>User-oriented design 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/>
              <a:t>Scalable concept</a:t>
            </a:r>
          </a:p>
        </p:txBody>
      </p:sp>
      <p:sp>
        <p:nvSpPr>
          <p:cNvPr id="20" name="Text 18"/>
          <p:cNvSpPr/>
          <p:nvPr/>
        </p:nvSpPr>
        <p:spPr>
          <a:xfrm>
            <a:off x="3593592" y="2084832"/>
            <a:ext cx="2414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>
                <a:solidFill>
                  <a:srgbClr val="D97706"/>
                </a:solidFill>
                <a:ea typeface="Calibri" pitchFamily="34" charset="-122"/>
                <a:cs typeface="Calibri" pitchFamily="34" charset="-120"/>
              </a:rPr>
              <a:t>Weaknesses</a:t>
            </a:r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11880" y="2633472"/>
            <a:ext cx="23774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/>
              <a:t>Dependence on data quality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/>
              <a:t>Limited historical data (early stage)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/>
              <a:t>Model complexity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/>
              <a:t>Potential performance issues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/>
              <a:t>User trust challenge</a:t>
            </a:r>
          </a:p>
        </p:txBody>
      </p:sp>
      <p:sp>
        <p:nvSpPr>
          <p:cNvPr id="24" name="Text 22"/>
          <p:cNvSpPr/>
          <p:nvPr/>
        </p:nvSpPr>
        <p:spPr>
          <a:xfrm>
            <a:off x="6565392" y="2084832"/>
            <a:ext cx="2414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>
                <a:solidFill>
                  <a:srgbClr val="0F766E"/>
                </a:solidFill>
                <a:ea typeface="Calibri" pitchFamily="34" charset="-122"/>
                <a:cs typeface="Calibri" pitchFamily="34" charset="-120"/>
              </a:rPr>
              <a:t>Opportunities</a:t>
            </a:r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583680" y="2633472"/>
            <a:ext cx="23774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/>
              <a:t>Growing smart-city initiatives</a:t>
            </a:r>
            <a:endParaRPr lang="en-US" sz="1600" b="1">
              <a:solidFill>
                <a:srgbClr val="384152"/>
              </a:solidFill>
              <a:ea typeface="Calibri" pitchFamily="34" charset="-122"/>
              <a:cs typeface="Calibri" pitchFamily="34" charset="-120"/>
            </a:endParaRP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/>
              <a:t>Integration with navigation platforms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/>
              <a:t>Increasing demand for mobility tools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/>
              <a:t>Expansion to public transport analytics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/>
              <a:t>Academic and research potential</a:t>
            </a:r>
          </a:p>
        </p:txBody>
      </p:sp>
      <p:sp>
        <p:nvSpPr>
          <p:cNvPr id="28" name="Text 26"/>
          <p:cNvSpPr/>
          <p:nvPr/>
        </p:nvSpPr>
        <p:spPr>
          <a:xfrm>
            <a:off x="9537192" y="2084832"/>
            <a:ext cx="2414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b="1">
                <a:solidFill>
                  <a:srgbClr val="E8C07A"/>
                </a:solidFill>
                <a:ea typeface="Calibri" pitchFamily="34" charset="-122"/>
                <a:cs typeface="Calibri" pitchFamily="34" charset="-120"/>
              </a:rPr>
              <a:t>Threats</a:t>
            </a:r>
            <a:r>
              <a:rPr lang="en-US" b="1">
                <a:solidFill>
                  <a:srgbClr val="B45309"/>
                </a:solidFill>
                <a:ea typeface="Calibri" pitchFamily="34" charset="-122"/>
                <a:cs typeface="Calibri" pitchFamily="34" charset="-120"/>
              </a:rPr>
              <a:t> </a:t>
            </a:r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373489" y="2618994"/>
            <a:ext cx="23774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/>
              <a:t>Strong competition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/>
              <a:t>Data access restrictions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/>
              <a:t>Rapid changes in traffic patterns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/>
              <a:t>Privacy and regulation concerns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/>
              <a:t>Technology expectations</a:t>
            </a:r>
          </a:p>
          <a:p>
            <a:pPr>
              <a:spcAft>
                <a:spcPts val="600"/>
              </a:spcAft>
              <a:buSzPct val="100000"/>
            </a:pPr>
            <a:endParaRPr lang="en-US" sz="1200"/>
          </a:p>
        </p:txBody>
      </p:sp>
      <p:cxnSp>
        <p:nvCxnSpPr>
          <p:cNvPr id="32" name="Straight Connector 10">
            <a:extLst>
              <a:ext uri="{FF2B5EF4-FFF2-40B4-BE49-F238E27FC236}">
                <a16:creationId xmlns:a16="http://schemas.microsoft.com/office/drawing/2014/main" id="{AED448E0-2163-9CC1-F713-74844E8D0459}"/>
              </a:ext>
            </a:extLst>
          </p:cNvPr>
          <p:cNvCxnSpPr>
            <a:cxnSpLocks/>
          </p:cNvCxnSpPr>
          <p:nvPr/>
        </p:nvCxnSpPr>
        <p:spPr>
          <a:xfrm>
            <a:off x="876300" y="1441867"/>
            <a:ext cx="6286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10">
            <a:extLst>
              <a:ext uri="{FF2B5EF4-FFF2-40B4-BE49-F238E27FC236}">
                <a16:creationId xmlns:a16="http://schemas.microsoft.com/office/drawing/2014/main" id="{353FB450-E834-7E7F-6867-A30EF2B8D6AA}"/>
              </a:ext>
            </a:extLst>
          </p:cNvPr>
          <p:cNvCxnSpPr>
            <a:cxnSpLocks/>
          </p:cNvCxnSpPr>
          <p:nvPr/>
        </p:nvCxnSpPr>
        <p:spPr>
          <a:xfrm>
            <a:off x="2143125" y="1435934"/>
            <a:ext cx="21526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10">
            <a:extLst>
              <a:ext uri="{FF2B5EF4-FFF2-40B4-BE49-F238E27FC236}">
                <a16:creationId xmlns:a16="http://schemas.microsoft.com/office/drawing/2014/main" id="{FD1A338F-1338-0016-B6C0-CD571CA0211E}"/>
              </a:ext>
            </a:extLst>
          </p:cNvPr>
          <p:cNvCxnSpPr>
            <a:cxnSpLocks/>
          </p:cNvCxnSpPr>
          <p:nvPr/>
        </p:nvCxnSpPr>
        <p:spPr>
          <a:xfrm>
            <a:off x="5295900" y="1435934"/>
            <a:ext cx="20955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10">
            <a:extLst>
              <a:ext uri="{FF2B5EF4-FFF2-40B4-BE49-F238E27FC236}">
                <a16:creationId xmlns:a16="http://schemas.microsoft.com/office/drawing/2014/main" id="{22F5F4F6-4691-4552-B3ED-AEF593F2B9AC}"/>
              </a:ext>
            </a:extLst>
          </p:cNvPr>
          <p:cNvCxnSpPr>
            <a:cxnSpLocks/>
          </p:cNvCxnSpPr>
          <p:nvPr/>
        </p:nvCxnSpPr>
        <p:spPr>
          <a:xfrm>
            <a:off x="8201025" y="1435934"/>
            <a:ext cx="24098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10">
            <a:extLst>
              <a:ext uri="{FF2B5EF4-FFF2-40B4-BE49-F238E27FC236}">
                <a16:creationId xmlns:a16="http://schemas.microsoft.com/office/drawing/2014/main" id="{98351583-2FF3-67E6-B506-7A6E0EC2F777}"/>
              </a:ext>
            </a:extLst>
          </p:cNvPr>
          <p:cNvCxnSpPr>
            <a:cxnSpLocks/>
          </p:cNvCxnSpPr>
          <p:nvPr/>
        </p:nvCxnSpPr>
        <p:spPr>
          <a:xfrm>
            <a:off x="10844022" y="1435934"/>
            <a:ext cx="4762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5">
            <a:extLst>
              <a:ext uri="{FF2B5EF4-FFF2-40B4-BE49-F238E27FC236}">
                <a16:creationId xmlns:a16="http://schemas.microsoft.com/office/drawing/2014/main" id="{AD9A5CCB-FA79-200C-B37F-597E4F579AE1}"/>
              </a:ext>
            </a:extLst>
          </p:cNvPr>
          <p:cNvSpPr/>
          <p:nvPr/>
        </p:nvSpPr>
        <p:spPr>
          <a:xfrm>
            <a:off x="641350" y="285750"/>
            <a:ext cx="10909300" cy="6286500"/>
          </a:xfrm>
          <a:prstGeom prst="roundRect">
            <a:avLst>
              <a:gd name="adj" fmla="val 228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6831841-1B7B-4B9A-CE85-E30286EA1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644" y="488890"/>
            <a:ext cx="7201962" cy="947133"/>
          </a:xfrm>
        </p:spPr>
        <p:txBody>
          <a:bodyPr>
            <a:normAutofit/>
          </a:bodyPr>
          <a:lstStyle/>
          <a:p>
            <a:r>
              <a:rPr lang="sk-SK" sz="4800" b="1" err="1"/>
              <a:t>Congestion</a:t>
            </a:r>
            <a:r>
              <a:rPr lang="sk-SK" sz="4800" b="1"/>
              <a:t> </a:t>
            </a:r>
            <a:r>
              <a:rPr lang="sk-SK" sz="4800" b="1" err="1"/>
              <a:t>levels</a:t>
            </a:r>
            <a:endParaRPr lang="sk-SK" sz="4800" b="1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7614835-950B-826B-4134-3E7002A8D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9285" y="2232075"/>
            <a:ext cx="3963070" cy="135344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sk-SK" sz="2400"/>
              <a:t>(</a:t>
            </a:r>
            <a:r>
              <a:rPr lang="sk-SK" sz="2400" err="1"/>
              <a:t>Congestion</a:t>
            </a:r>
            <a:r>
              <a:rPr lang="sk-SK" sz="2400"/>
              <a:t> level of 20 = </a:t>
            </a:r>
            <a:r>
              <a:rPr lang="sk-SK" sz="2400" err="1"/>
              <a:t>trips</a:t>
            </a:r>
            <a:r>
              <a:rPr lang="sk-SK" sz="2400"/>
              <a:t> </a:t>
            </a:r>
            <a:r>
              <a:rPr lang="sk-SK" sz="2400" err="1"/>
              <a:t>take</a:t>
            </a:r>
            <a:r>
              <a:rPr lang="sk-SK" sz="2400"/>
              <a:t> </a:t>
            </a:r>
            <a:r>
              <a:rPr lang="sk-SK" sz="2400" err="1"/>
              <a:t>about</a:t>
            </a:r>
            <a:r>
              <a:rPr lang="sk-SK" sz="2400"/>
              <a:t> 20% </a:t>
            </a:r>
            <a:r>
              <a:rPr lang="sk-SK" sz="2400" err="1"/>
              <a:t>longer</a:t>
            </a:r>
            <a:r>
              <a:rPr lang="sk-SK" sz="2400"/>
              <a:t> as </a:t>
            </a:r>
            <a:r>
              <a:rPr lang="sk-SK" sz="2400" err="1"/>
              <a:t>opposed</a:t>
            </a:r>
            <a:r>
              <a:rPr lang="sk-SK" sz="2400"/>
              <a:t> to </a:t>
            </a:r>
            <a:r>
              <a:rPr lang="sk-SK" sz="2400" err="1"/>
              <a:t>free-flow</a:t>
            </a:r>
            <a:r>
              <a:rPr lang="sk-SK" sz="2400"/>
              <a:t> </a:t>
            </a:r>
            <a:r>
              <a:rPr lang="sk-SK" sz="2400" err="1"/>
              <a:t>traffic</a:t>
            </a:r>
            <a:r>
              <a:rPr lang="sk-SK" sz="2400"/>
              <a:t> </a:t>
            </a:r>
            <a:r>
              <a:rPr lang="sk-SK" sz="2400" err="1"/>
              <a:t>trips</a:t>
            </a:r>
            <a:r>
              <a:rPr lang="sk-SK" sz="2400"/>
              <a:t>)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EAC648-9B4C-B10E-3783-410B351FAE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320" y="2000290"/>
            <a:ext cx="6588670" cy="408561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039C4E4-58A7-4E9B-4C72-8A01C415EBC5}"/>
              </a:ext>
            </a:extLst>
          </p:cNvPr>
          <p:cNvSpPr/>
          <p:nvPr/>
        </p:nvSpPr>
        <p:spPr>
          <a:xfrm>
            <a:off x="641350" y="285750"/>
            <a:ext cx="10909300" cy="6286500"/>
          </a:xfrm>
          <a:prstGeom prst="roundRect">
            <a:avLst>
              <a:gd name="adj" fmla="val 228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936567-B107-6AB4-ECBE-5DA364949613}"/>
              </a:ext>
            </a:extLst>
          </p:cNvPr>
          <p:cNvCxnSpPr>
            <a:cxnSpLocks/>
          </p:cNvCxnSpPr>
          <p:nvPr/>
        </p:nvCxnSpPr>
        <p:spPr>
          <a:xfrm>
            <a:off x="876300" y="1441867"/>
            <a:ext cx="10375900" cy="720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194" name="Picture 2" descr="Traffic jam icon. Traffic road icon symbol. 11539853 Vector Art at Vecteezy">
            <a:extLst>
              <a:ext uri="{FF2B5EF4-FFF2-40B4-BE49-F238E27FC236}">
                <a16:creationId xmlns:a16="http://schemas.microsoft.com/office/drawing/2014/main" id="{5BA12CB9-708D-75DD-D8A1-88682A44F3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1240444" y="685820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58444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35A31-15BE-C1C7-C315-F9B1EEA51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2BD1E41-884C-7D78-B93D-903869210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644" y="490696"/>
            <a:ext cx="6794727" cy="875614"/>
          </a:xfrm>
        </p:spPr>
        <p:txBody>
          <a:bodyPr>
            <a:normAutofit/>
          </a:bodyPr>
          <a:lstStyle/>
          <a:p>
            <a:r>
              <a:rPr lang="sk-SK" sz="4800" b="1" err="1"/>
              <a:t>From</a:t>
            </a:r>
            <a:r>
              <a:rPr lang="sk-SK" sz="4800" b="1"/>
              <a:t> </a:t>
            </a:r>
            <a:r>
              <a:rPr lang="sk-SK" sz="4800" b="1" err="1"/>
              <a:t>data</a:t>
            </a:r>
            <a:r>
              <a:rPr lang="sk-SK" sz="4800" b="1"/>
              <a:t> to </a:t>
            </a:r>
            <a:r>
              <a:rPr lang="sk-SK" sz="4800" b="1" err="1"/>
              <a:t>predictions</a:t>
            </a:r>
            <a:endParaRPr lang="sk-SK" sz="4800" b="1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9D0A537-3BB3-6292-FC72-C3998F434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1104" y="5518675"/>
            <a:ext cx="5957181" cy="1419168"/>
          </a:xfrm>
        </p:spPr>
        <p:txBody>
          <a:bodyPr>
            <a:normAutofit/>
          </a:bodyPr>
          <a:lstStyle/>
          <a:p>
            <a:r>
              <a:rPr lang="sk-SK" sz="2400" err="1"/>
              <a:t>Our</a:t>
            </a:r>
            <a:r>
              <a:rPr lang="sk-SK" sz="2400"/>
              <a:t> </a:t>
            </a:r>
            <a:r>
              <a:rPr lang="sk-SK" sz="2400" err="1"/>
              <a:t>goal</a:t>
            </a:r>
            <a:r>
              <a:rPr lang="sk-SK" sz="2400"/>
              <a:t> – </a:t>
            </a:r>
            <a:r>
              <a:rPr lang="sk-SK" sz="2400" err="1"/>
              <a:t>use</a:t>
            </a:r>
            <a:r>
              <a:rPr lang="sk-SK" sz="2400"/>
              <a:t> </a:t>
            </a:r>
            <a:r>
              <a:rPr lang="sk-SK" sz="2400" err="1"/>
              <a:t>real</a:t>
            </a:r>
            <a:r>
              <a:rPr lang="sk-SK" sz="2400"/>
              <a:t> </a:t>
            </a:r>
            <a:r>
              <a:rPr lang="sk-SK" sz="2400" err="1"/>
              <a:t>time</a:t>
            </a:r>
            <a:r>
              <a:rPr lang="sk-SK" sz="2400"/>
              <a:t> </a:t>
            </a:r>
            <a:r>
              <a:rPr lang="sk-SK" sz="2400" err="1"/>
              <a:t>data</a:t>
            </a:r>
            <a:r>
              <a:rPr lang="sk-SK" sz="2400"/>
              <a:t> to </a:t>
            </a:r>
            <a:r>
              <a:rPr lang="sk-SK" sz="2400" err="1"/>
              <a:t>make</a:t>
            </a:r>
            <a:r>
              <a:rPr lang="sk-SK" sz="2400"/>
              <a:t> </a:t>
            </a:r>
            <a:r>
              <a:rPr lang="sk-SK" sz="2400" err="1"/>
              <a:t>hasty</a:t>
            </a:r>
            <a:r>
              <a:rPr lang="sk-SK" sz="2400"/>
              <a:t> </a:t>
            </a:r>
            <a:r>
              <a:rPr lang="sk-SK" sz="2400" err="1"/>
              <a:t>predictions</a:t>
            </a:r>
            <a:r>
              <a:rPr lang="sk-SK" sz="2400"/>
              <a:t> and </a:t>
            </a:r>
            <a:r>
              <a:rPr lang="sk-SK" sz="2400" err="1"/>
              <a:t>satisfy</a:t>
            </a:r>
            <a:r>
              <a:rPr lang="sk-SK" sz="2400"/>
              <a:t> </a:t>
            </a:r>
            <a:r>
              <a:rPr lang="sk-SK" sz="2400" err="1"/>
              <a:t>users</a:t>
            </a:r>
            <a:endParaRPr lang="sk-SK" sz="2400"/>
          </a:p>
        </p:txBody>
      </p:sp>
      <p:pic>
        <p:nvPicPr>
          <p:cNvPr id="16" name="Picture 6">
            <a:extLst>
              <a:ext uri="{FF2B5EF4-FFF2-40B4-BE49-F238E27FC236}">
                <a16:creationId xmlns:a16="http://schemas.microsoft.com/office/drawing/2014/main" id="{804A6544-6273-638F-BF2C-659EE716E8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885" y="1665063"/>
            <a:ext cx="8280864" cy="385361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003B358-38F0-5314-1CE3-C0113F35C298}"/>
              </a:ext>
            </a:extLst>
          </p:cNvPr>
          <p:cNvSpPr/>
          <p:nvPr/>
        </p:nvSpPr>
        <p:spPr>
          <a:xfrm>
            <a:off x="641350" y="285750"/>
            <a:ext cx="10909300" cy="6286500"/>
          </a:xfrm>
          <a:prstGeom prst="roundRect">
            <a:avLst>
              <a:gd name="adj" fmla="val 228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68F5E91-A7B0-9097-66BA-1C5A9BBDE5F8}"/>
              </a:ext>
            </a:extLst>
          </p:cNvPr>
          <p:cNvCxnSpPr>
            <a:cxnSpLocks/>
          </p:cNvCxnSpPr>
          <p:nvPr/>
        </p:nvCxnSpPr>
        <p:spPr>
          <a:xfrm>
            <a:off x="876300" y="1441867"/>
            <a:ext cx="10375900" cy="720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2" descr="Traffic jam icon. Traffic road icon symbol. 11539853 Vector Art at Vecteezy">
            <a:extLst>
              <a:ext uri="{FF2B5EF4-FFF2-40B4-BE49-F238E27FC236}">
                <a16:creationId xmlns:a16="http://schemas.microsoft.com/office/drawing/2014/main" id="{009C099C-BB92-4AF4-28E4-F58D545D34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1240444" y="685820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9820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 txBox="1"/>
          <p:nvPr/>
        </p:nvSpPr>
        <p:spPr>
          <a:xfrm>
            <a:off x="1311638" y="1671753"/>
            <a:ext cx="3152896" cy="5038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4490"/>
              </a:lnSpc>
              <a:buFont typeface="Arial" panose="020B0604020202020204" pitchFamily="34" charset="0"/>
              <a:buChar char="•"/>
            </a:pPr>
            <a:r>
              <a:rPr lang="en-US" sz="2000" spc="101">
                <a:latin typeface="+mj-lt"/>
                <a:ea typeface="Now"/>
                <a:cs typeface="Now"/>
                <a:sym typeface="Now"/>
              </a:rPr>
              <a:t>Anonymous driver data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11638" y="2449412"/>
            <a:ext cx="3152896" cy="5327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4839"/>
              </a:lnSpc>
              <a:buFont typeface="Arial" panose="020B0604020202020204" pitchFamily="34" charset="0"/>
              <a:buChar char="•"/>
            </a:pPr>
            <a:r>
              <a:rPr lang="en-US" sz="2000" spc="109">
                <a:latin typeface="+mj-lt"/>
                <a:ea typeface="Now"/>
                <a:cs typeface="Now"/>
                <a:sym typeface="Now"/>
              </a:rPr>
              <a:t>GDPR data processing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11638" y="3271848"/>
            <a:ext cx="2646119" cy="5327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4839"/>
              </a:lnSpc>
              <a:buFont typeface="Arial" panose="020B0604020202020204" pitchFamily="34" charset="0"/>
              <a:buChar char="•"/>
            </a:pPr>
            <a:r>
              <a:rPr lang="en-US" sz="2000" spc="109">
                <a:latin typeface="+mj-lt"/>
                <a:ea typeface="Now"/>
                <a:cs typeface="Now"/>
                <a:sym typeface="Now"/>
              </a:rPr>
              <a:t>No audio recording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20044" y="732858"/>
            <a:ext cx="3152895" cy="6622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952"/>
              </a:lnSpc>
            </a:pPr>
            <a:r>
              <a:rPr lang="en-US" sz="2400" b="1" spc="133">
                <a:latin typeface="+mj-lt"/>
                <a:ea typeface="Now"/>
                <a:cs typeface="Now"/>
                <a:sym typeface="Now"/>
              </a:rPr>
              <a:t>Privacy Protection 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5CF6705-0A06-ADE1-F749-6C1466C5BF15}"/>
              </a:ext>
            </a:extLst>
          </p:cNvPr>
          <p:cNvSpPr/>
          <p:nvPr/>
        </p:nvSpPr>
        <p:spPr>
          <a:xfrm>
            <a:off x="641350" y="285750"/>
            <a:ext cx="10909300" cy="6286500"/>
          </a:xfrm>
          <a:prstGeom prst="roundRect">
            <a:avLst>
              <a:gd name="adj" fmla="val 228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26" name="Picture 2" descr="Privacy protection - Free security icons">
            <a:extLst>
              <a:ext uri="{FF2B5EF4-FFF2-40B4-BE49-F238E27FC236}">
                <a16:creationId xmlns:a16="http://schemas.microsoft.com/office/drawing/2014/main" id="{99F96341-C4D9-0DDB-12DF-1F195D30EA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4188" y="4258211"/>
            <a:ext cx="1860386" cy="1860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7">
            <a:extLst>
              <a:ext uri="{FF2B5EF4-FFF2-40B4-BE49-F238E27FC236}">
                <a16:creationId xmlns:a16="http://schemas.microsoft.com/office/drawing/2014/main" id="{BED12938-C7D7-38A4-D890-63D86D9DECF9}"/>
              </a:ext>
            </a:extLst>
          </p:cNvPr>
          <p:cNvSpPr txBox="1"/>
          <p:nvPr/>
        </p:nvSpPr>
        <p:spPr>
          <a:xfrm>
            <a:off x="5333593" y="732858"/>
            <a:ext cx="2337889" cy="6765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952"/>
              </a:lnSpc>
            </a:pPr>
            <a:r>
              <a:rPr lang="en-US" sz="2400" b="1" spc="133">
                <a:latin typeface="+mj-lt"/>
                <a:ea typeface="Now"/>
                <a:cs typeface="Now"/>
                <a:sym typeface="Now"/>
              </a:rPr>
              <a:t>Data Security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9CBFB4-800A-5498-16D6-DB6F4441096B}"/>
              </a:ext>
            </a:extLst>
          </p:cNvPr>
          <p:cNvSpPr txBox="1"/>
          <p:nvPr/>
        </p:nvSpPr>
        <p:spPr>
          <a:xfrm>
            <a:off x="4818840" y="1629145"/>
            <a:ext cx="2880115" cy="58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4490"/>
              </a:lnSpc>
              <a:buFont typeface="Arial" panose="020B0604020202020204" pitchFamily="34" charset="0"/>
              <a:buChar char="•"/>
            </a:pPr>
            <a:r>
              <a:rPr lang="en-US" sz="1800" spc="101">
                <a:latin typeface="+mj-lt"/>
                <a:ea typeface="Now"/>
                <a:cs typeface="Now"/>
                <a:sym typeface="Now"/>
              </a:rPr>
              <a:t>Encrypted data storage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AD13EF-5169-D920-F999-236971BC8F3C}"/>
              </a:ext>
            </a:extLst>
          </p:cNvPr>
          <p:cNvSpPr txBox="1"/>
          <p:nvPr/>
        </p:nvSpPr>
        <p:spPr>
          <a:xfrm>
            <a:off x="4818840" y="2395684"/>
            <a:ext cx="2971919" cy="617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4839"/>
              </a:lnSpc>
              <a:buFont typeface="Arial" panose="020B0604020202020204" pitchFamily="34" charset="0"/>
              <a:buChar char="•"/>
            </a:pPr>
            <a:r>
              <a:rPr lang="en-US" sz="1800" spc="109">
                <a:latin typeface="+mj-lt"/>
                <a:ea typeface="Now"/>
                <a:cs typeface="Now"/>
                <a:sym typeface="Now"/>
              </a:rPr>
              <a:t>Authorized access only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E431A8-5833-D155-1297-FABB51E59C96}"/>
              </a:ext>
            </a:extLst>
          </p:cNvPr>
          <p:cNvSpPr txBox="1"/>
          <p:nvPr/>
        </p:nvSpPr>
        <p:spPr>
          <a:xfrm>
            <a:off x="4818840" y="3173529"/>
            <a:ext cx="2173586" cy="617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4839"/>
              </a:lnSpc>
              <a:buFont typeface="Arial" panose="020B0604020202020204" pitchFamily="34" charset="0"/>
              <a:buChar char="•"/>
            </a:pPr>
            <a:r>
              <a:rPr lang="en-US" sz="1800" spc="109">
                <a:latin typeface="+mj-lt"/>
                <a:ea typeface="Now"/>
                <a:cs typeface="Now"/>
                <a:sym typeface="Now"/>
              </a:rPr>
              <a:t>Cybersecurity</a:t>
            </a:r>
          </a:p>
        </p:txBody>
      </p:sp>
      <p:pic>
        <p:nvPicPr>
          <p:cNvPr id="11" name="Picture 4" descr="Database - Free security icons">
            <a:extLst>
              <a:ext uri="{FF2B5EF4-FFF2-40B4-BE49-F238E27FC236}">
                <a16:creationId xmlns:a16="http://schemas.microsoft.com/office/drawing/2014/main" id="{FDF2AADC-1E01-C491-9811-1B60D7FFAF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7891" y="4400662"/>
            <a:ext cx="1575483" cy="1575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63271A7-6C88-82A4-5960-F86CA113E445}"/>
              </a:ext>
            </a:extLst>
          </p:cNvPr>
          <p:cNvSpPr txBox="1"/>
          <p:nvPr/>
        </p:nvSpPr>
        <p:spPr>
          <a:xfrm>
            <a:off x="8498356" y="709551"/>
            <a:ext cx="2337889" cy="754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5952"/>
              </a:lnSpc>
            </a:pPr>
            <a:r>
              <a:rPr lang="en-US" sz="2400" b="1" spc="133">
                <a:latin typeface="+mj-lt"/>
                <a:ea typeface="Now"/>
                <a:cs typeface="Now"/>
                <a:sym typeface="Now"/>
              </a:rPr>
              <a:t>Transparency</a:t>
            </a:r>
          </a:p>
        </p:txBody>
      </p:sp>
      <p:pic>
        <p:nvPicPr>
          <p:cNvPr id="20" name="Picture 2" descr="Reliability - Free security icons">
            <a:extLst>
              <a:ext uri="{FF2B5EF4-FFF2-40B4-BE49-F238E27FC236}">
                <a16:creationId xmlns:a16="http://schemas.microsoft.com/office/drawing/2014/main" id="{1D72A123-8693-062B-54F1-581F82D63B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6691" y="4258211"/>
            <a:ext cx="1860387" cy="1860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3D0E9D45-BB9F-D715-6ECE-9F4A407A26D8}"/>
              </a:ext>
            </a:extLst>
          </p:cNvPr>
          <p:cNvSpPr txBox="1"/>
          <p:nvPr/>
        </p:nvSpPr>
        <p:spPr>
          <a:xfrm>
            <a:off x="8141465" y="1586063"/>
            <a:ext cx="3051672" cy="58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4490"/>
              </a:lnSpc>
              <a:buFont typeface="Arial" panose="020B0604020202020204" pitchFamily="34" charset="0"/>
              <a:buChar char="•"/>
            </a:pPr>
            <a:r>
              <a:rPr lang="en-US" sz="1800" spc="101">
                <a:latin typeface="+mj-lt"/>
                <a:ea typeface="Now"/>
                <a:cs typeface="Now"/>
                <a:sym typeface="Now"/>
              </a:rPr>
              <a:t>Explainable predictions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F0D3021-DE8D-1E60-5A3C-3081D54D56B7}"/>
              </a:ext>
            </a:extLst>
          </p:cNvPr>
          <p:cNvSpPr txBox="1"/>
          <p:nvPr/>
        </p:nvSpPr>
        <p:spPr>
          <a:xfrm>
            <a:off x="8141465" y="2344818"/>
            <a:ext cx="2545114" cy="617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4839"/>
              </a:lnSpc>
              <a:buFont typeface="Arial" panose="020B0604020202020204" pitchFamily="34" charset="0"/>
              <a:buChar char="•"/>
            </a:pPr>
            <a:r>
              <a:rPr lang="en-US" spc="109">
                <a:ea typeface="Now"/>
                <a:cs typeface="Now"/>
                <a:sym typeface="Now"/>
              </a:rPr>
              <a:t>Result reliability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3CA038F-FA01-52C8-B2C6-EAF4EFE02429}"/>
              </a:ext>
            </a:extLst>
          </p:cNvPr>
          <p:cNvSpPr txBox="1"/>
          <p:nvPr/>
        </p:nvSpPr>
        <p:spPr>
          <a:xfrm>
            <a:off x="8140149" y="3173529"/>
            <a:ext cx="2218520" cy="617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4839"/>
              </a:lnSpc>
              <a:buFont typeface="Arial" panose="020B0604020202020204" pitchFamily="34" charset="0"/>
              <a:buChar char="•"/>
            </a:pPr>
            <a:r>
              <a:rPr lang="en-US" sz="1800" spc="109">
                <a:latin typeface="+mj-lt"/>
                <a:ea typeface="Now"/>
                <a:cs typeface="Now"/>
                <a:sym typeface="Now"/>
              </a:rPr>
              <a:t>Bias prevention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14386-FA22-9ABE-F002-1BDB7B103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46DA219B-B62C-71A6-3040-9FD5194B83C2}"/>
              </a:ext>
            </a:extLst>
          </p:cNvPr>
          <p:cNvSpPr txBox="1"/>
          <p:nvPr/>
        </p:nvSpPr>
        <p:spPr>
          <a:xfrm>
            <a:off x="641350" y="1705451"/>
            <a:ext cx="5061994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+mj-lt"/>
              </a:rPr>
              <a:t>The </a:t>
            </a:r>
            <a:r>
              <a:rPr lang="en-US" sz="2000" b="1">
                <a:latin typeface="+mj-lt"/>
              </a:rPr>
              <a:t>Smart-Jam</a:t>
            </a:r>
            <a:r>
              <a:rPr lang="en-US" sz="2000">
                <a:latin typeface="+mj-lt"/>
              </a:rPr>
              <a:t> database is designed to support the collection, storage, and analysis of traffic-related data for short-term traffic congestion prediction.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+mj-lt"/>
              </a:rPr>
              <a:t>It stores information about monitored </a:t>
            </a:r>
            <a:r>
              <a:rPr lang="en-US" sz="2000" b="1">
                <a:latin typeface="+mj-lt"/>
              </a:rPr>
              <a:t>locations</a:t>
            </a:r>
            <a:r>
              <a:rPr lang="en-US" sz="2000">
                <a:latin typeface="+mj-lt"/>
              </a:rPr>
              <a:t>, real </a:t>
            </a:r>
            <a:r>
              <a:rPr lang="en-US" sz="2000" b="1">
                <a:latin typeface="+mj-lt"/>
              </a:rPr>
              <a:t>traffic observations</a:t>
            </a:r>
            <a:r>
              <a:rPr lang="en-US" sz="2000">
                <a:latin typeface="+mj-lt"/>
              </a:rPr>
              <a:t>, </a:t>
            </a:r>
            <a:r>
              <a:rPr lang="en-US" sz="2000" b="1">
                <a:latin typeface="+mj-lt"/>
              </a:rPr>
              <a:t>weather conditions</a:t>
            </a:r>
            <a:r>
              <a:rPr lang="en-US" sz="2000">
                <a:latin typeface="+mj-lt"/>
              </a:rPr>
              <a:t>, </a:t>
            </a:r>
            <a:r>
              <a:rPr lang="en-US" sz="2000" b="1">
                <a:latin typeface="+mj-lt"/>
              </a:rPr>
              <a:t>incidents</a:t>
            </a:r>
            <a:r>
              <a:rPr lang="en-US" sz="2000">
                <a:latin typeface="+mj-lt"/>
              </a:rPr>
              <a:t> affecting traffic flow, machine learning </a:t>
            </a:r>
            <a:r>
              <a:rPr lang="en-US" sz="2000" b="1">
                <a:latin typeface="+mj-lt"/>
              </a:rPr>
              <a:t>models</a:t>
            </a:r>
            <a:r>
              <a:rPr lang="en-US" sz="2000">
                <a:latin typeface="+mj-lt"/>
              </a:rPr>
              <a:t>, and generated </a:t>
            </a:r>
            <a:r>
              <a:rPr lang="en-US" sz="2000" b="1">
                <a:latin typeface="+mj-lt"/>
              </a:rPr>
              <a:t>predictions</a:t>
            </a:r>
            <a:r>
              <a:rPr lang="en-US" sz="2000">
                <a:latin typeface="+mj-lt"/>
              </a:rPr>
              <a:t>. </a:t>
            </a:r>
            <a:endParaRPr lang="uk-UA" sz="200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/>
              <a:t>The relationships between these entities reflect the main logic of the system</a:t>
            </a:r>
            <a:r>
              <a:rPr lang="en-GB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>
              <a:latin typeface="+mj-lt"/>
            </a:endParaRPr>
          </a:p>
        </p:txBody>
      </p:sp>
      <p:sp>
        <p:nvSpPr>
          <p:cNvPr id="23" name="Text 0">
            <a:extLst>
              <a:ext uri="{FF2B5EF4-FFF2-40B4-BE49-F238E27FC236}">
                <a16:creationId xmlns:a16="http://schemas.microsoft.com/office/drawing/2014/main" id="{D3DE9F91-36CA-01AD-2AD3-41C817466B69}"/>
              </a:ext>
            </a:extLst>
          </p:cNvPr>
          <p:cNvSpPr/>
          <p:nvPr/>
        </p:nvSpPr>
        <p:spPr>
          <a:xfrm>
            <a:off x="1449903" y="826938"/>
            <a:ext cx="407145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800" b="1">
                <a:solidFill>
                  <a:srgbClr val="7E8795"/>
                </a:solidFill>
                <a:latin typeface="+mj-lt"/>
                <a:ea typeface="Calibri" pitchFamily="34" charset="-122"/>
                <a:cs typeface="Calibri" pitchFamily="34" charset="-120"/>
              </a:rPr>
              <a:t>C</a:t>
            </a:r>
            <a:r>
              <a:rPr lang="en-US" sz="4800" b="1">
                <a:solidFill>
                  <a:schemeClr val="accent2"/>
                </a:solidFill>
                <a:latin typeface="+mj-lt"/>
                <a:ea typeface="Calibri" pitchFamily="34" charset="-122"/>
                <a:cs typeface="Calibri" pitchFamily="34" charset="-120"/>
              </a:rPr>
              <a:t>o</a:t>
            </a:r>
            <a:r>
              <a:rPr lang="en-US" sz="4800" b="1">
                <a:solidFill>
                  <a:srgbClr val="74C7C8"/>
                </a:solidFill>
                <a:latin typeface="+mj-lt"/>
                <a:ea typeface="Calibri" pitchFamily="34" charset="-122"/>
                <a:cs typeface="Calibri" pitchFamily="34" charset="-120"/>
              </a:rPr>
              <a:t>m</a:t>
            </a:r>
            <a:r>
              <a:rPr lang="en-US" sz="4800" b="1">
                <a:solidFill>
                  <a:srgbClr val="EDCE98"/>
                </a:solidFill>
                <a:latin typeface="+mj-lt"/>
                <a:ea typeface="Calibri" pitchFamily="34" charset="-122"/>
                <a:cs typeface="Calibri" pitchFamily="34" charset="-120"/>
              </a:rPr>
              <a:t>p</a:t>
            </a:r>
            <a:r>
              <a:rPr lang="en-US" sz="4800" b="1">
                <a:solidFill>
                  <a:srgbClr val="7E8795"/>
                </a:solidFill>
                <a:latin typeface="+mj-lt"/>
                <a:ea typeface="Calibri" pitchFamily="34" charset="-122"/>
                <a:cs typeface="Calibri" pitchFamily="34" charset="-120"/>
              </a:rPr>
              <a:t>l</a:t>
            </a:r>
            <a:r>
              <a:rPr lang="en-US" sz="4800" b="1">
                <a:solidFill>
                  <a:schemeClr val="accent2"/>
                </a:solidFill>
                <a:latin typeface="+mj-lt"/>
                <a:ea typeface="Calibri" pitchFamily="34" charset="-122"/>
                <a:cs typeface="Calibri" pitchFamily="34" charset="-120"/>
              </a:rPr>
              <a:t>e</a:t>
            </a:r>
            <a:r>
              <a:rPr lang="en-US" sz="4800" b="1">
                <a:solidFill>
                  <a:srgbClr val="74C7C8"/>
                </a:solidFill>
                <a:latin typeface="+mj-lt"/>
                <a:ea typeface="Calibri" pitchFamily="34" charset="-122"/>
                <a:cs typeface="Calibri" pitchFamily="34" charset="-120"/>
              </a:rPr>
              <a:t>t</a:t>
            </a:r>
            <a:r>
              <a:rPr lang="en-US" sz="4800" b="1">
                <a:solidFill>
                  <a:srgbClr val="EDCE98"/>
                </a:solidFill>
                <a:latin typeface="+mj-lt"/>
                <a:ea typeface="Calibri" pitchFamily="34" charset="-122"/>
                <a:cs typeface="Calibri" pitchFamily="34" charset="-120"/>
              </a:rPr>
              <a:t>e</a:t>
            </a:r>
            <a:r>
              <a:rPr lang="en-US" sz="4800" b="1">
                <a:solidFill>
                  <a:srgbClr val="1F293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4800" b="1">
                <a:solidFill>
                  <a:srgbClr val="7E8795"/>
                </a:solidFill>
                <a:latin typeface="+mj-lt"/>
                <a:ea typeface="Calibri" pitchFamily="34" charset="-122"/>
                <a:cs typeface="Calibri" pitchFamily="34" charset="-120"/>
              </a:rPr>
              <a:t>E</a:t>
            </a:r>
            <a:r>
              <a:rPr lang="en-US" sz="4800" b="1">
                <a:solidFill>
                  <a:schemeClr val="accent2"/>
                </a:solidFill>
                <a:latin typeface="+mj-lt"/>
                <a:ea typeface="Calibri" pitchFamily="34" charset="-122"/>
                <a:cs typeface="Calibri" pitchFamily="34" charset="-120"/>
              </a:rPr>
              <a:t>R</a:t>
            </a:r>
            <a:r>
              <a:rPr lang="en-US" sz="4800" b="1">
                <a:solidFill>
                  <a:srgbClr val="74C7C8"/>
                </a:solidFill>
                <a:latin typeface="+mj-lt"/>
                <a:ea typeface="Calibri" pitchFamily="34" charset="-122"/>
                <a:cs typeface="Calibri" pitchFamily="34" charset="-120"/>
              </a:rPr>
              <a:t>D</a:t>
            </a:r>
            <a:endParaRPr lang="en-US" sz="4000">
              <a:solidFill>
                <a:srgbClr val="74C7C8"/>
              </a:solidFill>
              <a:latin typeface="+mj-lt"/>
            </a:endParaRPr>
          </a:p>
        </p:txBody>
      </p:sp>
      <p:cxnSp>
        <p:nvCxnSpPr>
          <p:cNvPr id="2" name="Straight Connector 17">
            <a:extLst>
              <a:ext uri="{FF2B5EF4-FFF2-40B4-BE49-F238E27FC236}">
                <a16:creationId xmlns:a16="http://schemas.microsoft.com/office/drawing/2014/main" id="{5C6EFFC6-6F04-44A3-A501-807F827C58AB}"/>
              </a:ext>
            </a:extLst>
          </p:cNvPr>
          <p:cNvCxnSpPr>
            <a:cxnSpLocks/>
          </p:cNvCxnSpPr>
          <p:nvPr/>
        </p:nvCxnSpPr>
        <p:spPr>
          <a:xfrm>
            <a:off x="876300" y="1441867"/>
            <a:ext cx="10375900" cy="720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18">
            <a:extLst>
              <a:ext uri="{FF2B5EF4-FFF2-40B4-BE49-F238E27FC236}">
                <a16:creationId xmlns:a16="http://schemas.microsoft.com/office/drawing/2014/main" id="{337FF055-E757-AE38-F80A-A56D27F9CA57}"/>
              </a:ext>
            </a:extLst>
          </p:cNvPr>
          <p:cNvSpPr/>
          <p:nvPr/>
        </p:nvSpPr>
        <p:spPr>
          <a:xfrm>
            <a:off x="641350" y="285750"/>
            <a:ext cx="10909300" cy="6286500"/>
          </a:xfrm>
          <a:prstGeom prst="roundRect">
            <a:avLst>
              <a:gd name="adj" fmla="val 228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2E68828-F2A9-A072-6795-3409DF6BA3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73" b="99026" l="4935" r="96494">
                        <a14:foregroundMark x1="37922" y1="8550" x2="52338" y2="10173"/>
                        <a14:foregroundMark x1="52338" y1="10173" x2="40519" y2="3571"/>
                        <a14:foregroundMark x1="40519" y1="3571" x2="49351" y2="3571"/>
                        <a14:foregroundMark x1="49351" y1="3571" x2="59351" y2="2273"/>
                        <a14:foregroundMark x1="59351" y1="2273" x2="55065" y2="10281"/>
                        <a14:foregroundMark x1="55065" y1="10281" x2="59481" y2="12771"/>
                        <a14:foregroundMark x1="52208" y1="18182" x2="50779" y2="25433"/>
                        <a14:foregroundMark x1="50779" y1="25433" x2="55325" y2="33658"/>
                        <a14:foregroundMark x1="55325" y1="33658" x2="47143" y2="38636"/>
                        <a14:foregroundMark x1="47143" y1="38636" x2="58312" y2="34957"/>
                        <a14:foregroundMark x1="58312" y1="34957" x2="66494" y2="39610"/>
                        <a14:foregroundMark x1="66494" y1="39610" x2="57013" y2="43182"/>
                        <a14:foregroundMark x1="57013" y1="43182" x2="69610" y2="31169"/>
                        <a14:foregroundMark x1="69610" y1="31169" x2="68312" y2="23810"/>
                        <a14:foregroundMark x1="68312" y1="23810" x2="58442" y2="23701"/>
                        <a14:foregroundMark x1="58442" y1="23701" x2="59221" y2="25758"/>
                        <a14:foregroundMark x1="56883" y1="22403" x2="58052" y2="20671"/>
                        <a14:foregroundMark x1="56234" y1="22186" x2="60130" y2="20346"/>
                        <a14:foregroundMark x1="55844" y1="21645" x2="51948" y2="21970"/>
                        <a14:foregroundMark x1="60390" y1="22944" x2="58442" y2="22186"/>
                        <a14:foregroundMark x1="53506" y1="19589" x2="51429" y2="19913"/>
                        <a14:foregroundMark x1="52468" y1="17965" x2="50649" y2="22186"/>
                        <a14:foregroundMark x1="52727" y1="18182" x2="53247" y2="17965"/>
                        <a14:foregroundMark x1="47792" y1="16234" x2="50000" y2="18831"/>
                        <a14:foregroundMark x1="57403" y1="46320" x2="55714" y2="53896"/>
                        <a14:foregroundMark x1="55714" y1="53896" x2="48052" y2="56494"/>
                        <a14:foregroundMark x1="48052" y1="56494" x2="40519" y2="55195"/>
                        <a14:foregroundMark x1="45974" y1="60823" x2="78182" y2="64394"/>
                        <a14:foregroundMark x1="78182" y1="64394" x2="79091" y2="62987"/>
                        <a14:foregroundMark x1="81299" y1="63203" x2="63377" y2="62013"/>
                        <a14:foregroundMark x1="63377" y1="62013" x2="71818" y2="62013"/>
                        <a14:foregroundMark x1="71818" y1="62013" x2="63377" y2="60065"/>
                        <a14:foregroundMark x1="63377" y1="60065" x2="58831" y2="53571"/>
                        <a14:foregroundMark x1="58831" y1="53571" x2="58442" y2="51515"/>
                        <a14:foregroundMark x1="81169" y1="58766" x2="91558" y2="62771"/>
                        <a14:foregroundMark x1="91558" y1="62771" x2="95974" y2="69048"/>
                        <a14:foregroundMark x1="95974" y1="69048" x2="94156" y2="60714"/>
                        <a14:foregroundMark x1="94156" y1="60714" x2="83377" y2="57359"/>
                        <a14:foregroundMark x1="83377" y1="57359" x2="86234" y2="56169"/>
                        <a14:foregroundMark x1="95584" y1="58658" x2="97403" y2="67316"/>
                        <a14:foregroundMark x1="97403" y1="67316" x2="96883" y2="55736"/>
                        <a14:foregroundMark x1="96883" y1="55736" x2="95844" y2="56494"/>
                        <a14:foregroundMark x1="31299" y1="66342" x2="30779" y2="80844"/>
                        <a14:foregroundMark x1="30779" y1="80844" x2="31299" y2="81169"/>
                        <a14:foregroundMark x1="31818" y1="80303" x2="31948" y2="77165"/>
                        <a14:foregroundMark x1="33377" y1="77381" x2="30519" y2="65043"/>
                        <a14:foregroundMark x1="30519" y1="65043" x2="30519" y2="68290"/>
                        <a14:foregroundMark x1="31429" y1="76515" x2="31169" y2="79762"/>
                        <a14:foregroundMark x1="31818" y1="79113" x2="30649" y2="78030"/>
                        <a14:foregroundMark x1="30390" y1="86255" x2="23506" y2="95022"/>
                        <a14:foregroundMark x1="23506" y1="95022" x2="35584" y2="99026"/>
                        <a14:foregroundMark x1="35584" y1="99026" x2="32208" y2="88312"/>
                        <a14:foregroundMark x1="37532" y1="96212" x2="31299" y2="89069"/>
                        <a14:foregroundMark x1="31299" y1="89069" x2="22468" y2="84632"/>
                        <a14:foregroundMark x1="22468" y1="84632" x2="33766" y2="90368"/>
                        <a14:foregroundMark x1="33766" y1="90368" x2="39481" y2="96320"/>
                        <a14:foregroundMark x1="39481" y1="96320" x2="39481" y2="96320"/>
                        <a14:foregroundMark x1="40000" y1="90368" x2="31688" y2="86147"/>
                        <a14:foregroundMark x1="31688" y1="86147" x2="33377" y2="84416"/>
                        <a14:foregroundMark x1="29870" y1="82684" x2="21039" y2="82684"/>
                        <a14:foregroundMark x1="21039" y1="82684" x2="21429" y2="80844"/>
                        <a14:foregroundMark x1="31948" y1="77165" x2="29481" y2="68506"/>
                        <a14:foregroundMark x1="29481" y1="68506" x2="29091" y2="74134"/>
                        <a14:foregroundMark x1="31688" y1="60823" x2="25325" y2="54221"/>
                        <a14:foregroundMark x1="25325" y1="54221" x2="37273" y2="56169"/>
                        <a14:foregroundMark x1="37273" y1="56169" x2="34416" y2="53463"/>
                        <a14:foregroundMark x1="15325" y1="51515" x2="23766" y2="53788"/>
                        <a14:foregroundMark x1="23766" y1="53788" x2="13247" y2="48701"/>
                        <a14:foregroundMark x1="13247" y1="48701" x2="10649" y2="34848"/>
                        <a14:foregroundMark x1="20779" y1="59740" x2="12338" y2="53896"/>
                        <a14:foregroundMark x1="12338" y1="53896" x2="12468" y2="46320"/>
                        <a14:foregroundMark x1="12468" y1="46320" x2="24286" y2="55736"/>
                        <a14:foregroundMark x1="24286" y1="55736" x2="27922" y2="53463"/>
                        <a14:foregroundMark x1="23506" y1="60931" x2="15844" y2="59957"/>
                        <a14:foregroundMark x1="15844" y1="59957" x2="10390" y2="45563"/>
                        <a14:foregroundMark x1="13506" y1="60065" x2="14545" y2="61472"/>
                        <a14:foregroundMark x1="14545" y1="60931" x2="10000" y2="55303"/>
                        <a14:foregroundMark x1="10000" y1="55303" x2="11429" y2="62662"/>
                        <a14:foregroundMark x1="12468" y1="54654" x2="11429" y2="45022"/>
                        <a14:foregroundMark x1="11429" y1="45022" x2="12857" y2="52597"/>
                        <a14:foregroundMark x1="12857" y1="52597" x2="13117" y2="52056"/>
                        <a14:foregroundMark x1="14416" y1="54004" x2="10390" y2="49026"/>
                        <a14:foregroundMark x1="12078" y1="56494" x2="11429" y2="49459"/>
                        <a14:foregroundMark x1="11948" y1="45022" x2="11429" y2="43831"/>
                        <a14:foregroundMark x1="21948" y1="52165" x2="29351" y2="52056"/>
                        <a14:foregroundMark x1="16753" y1="33983" x2="9351" y2="29654"/>
                        <a14:foregroundMark x1="9351" y1="29654" x2="9740" y2="32359"/>
                        <a14:foregroundMark x1="11948" y1="37013" x2="4935" y2="33442"/>
                        <a14:foregroundMark x1="4935" y1="33442" x2="5974" y2="35281"/>
                        <a14:foregroundMark x1="49870" y1="13095" x2="50000" y2="12013"/>
                        <a14:foregroundMark x1="44156" y1="55519" x2="46494" y2="54762"/>
                        <a14:foregroundMark x1="60519" y1="50433" x2="59351" y2="52056"/>
                        <a14:foregroundMark x1="41299" y1="61255" x2="42857" y2="61472"/>
                        <a14:foregroundMark x1="41429" y1="61364" x2="43506" y2="62771"/>
                        <a14:foregroundMark x1="41948" y1="60498" x2="46623" y2="61255"/>
                        <a14:foregroundMark x1="57792" y1="62229" x2="58571" y2="62662"/>
                        <a14:foregroundMark x1="57922" y1="63095" x2="57792" y2="6277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21353" y="1513948"/>
            <a:ext cx="5965797" cy="5058302"/>
          </a:xfrm>
          <a:prstGeom prst="rect">
            <a:avLst/>
          </a:prstGeom>
        </p:spPr>
      </p:pic>
      <p:pic>
        <p:nvPicPr>
          <p:cNvPr id="14338" name="Picture 2" descr="Erd Special Lineal color icon | Freepik">
            <a:extLst>
              <a:ext uri="{FF2B5EF4-FFF2-40B4-BE49-F238E27FC236}">
                <a16:creationId xmlns:a16="http://schemas.microsoft.com/office/drawing/2014/main" id="{D7F2E71F-8EBB-CADF-6BB9-B635407A0C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875" y="781218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25200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5800" y="952768"/>
            <a:ext cx="4817799" cy="4952464"/>
            <a:chOff x="0" y="0"/>
            <a:chExt cx="4052466" cy="4165739"/>
          </a:xfrm>
        </p:grpSpPr>
        <p:sp>
          <p:nvSpPr>
            <p:cNvPr id="3" name="Freeform 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4052466" cy="4165739"/>
            </a:xfrm>
            <a:custGeom>
              <a:avLst/>
              <a:gdLst/>
              <a:ahLst/>
              <a:cxnLst/>
              <a:rect l="l" t="t" r="r" b="b"/>
              <a:pathLst>
                <a:path w="4052466" h="4165739">
                  <a:moveTo>
                    <a:pt x="3928006" y="4165739"/>
                  </a:moveTo>
                  <a:lnTo>
                    <a:pt x="124460" y="4165739"/>
                  </a:lnTo>
                  <a:cubicBezTo>
                    <a:pt x="55880" y="4165739"/>
                    <a:pt x="0" y="4109859"/>
                    <a:pt x="0" y="404127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928006" y="0"/>
                  </a:lnTo>
                  <a:cubicBezTo>
                    <a:pt x="3996586" y="0"/>
                    <a:pt x="4052466" y="55880"/>
                    <a:pt x="4052466" y="124460"/>
                  </a:cubicBezTo>
                  <a:lnTo>
                    <a:pt x="4052466" y="4041279"/>
                  </a:lnTo>
                  <a:cubicBezTo>
                    <a:pt x="4052466" y="4109859"/>
                    <a:pt x="3996586" y="4165739"/>
                    <a:pt x="3928006" y="4165739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</p:spPr>
          <p:txBody>
            <a:bodyPr/>
            <a:lstStyle/>
            <a:p>
              <a:endParaRPr lang="en-US" sz="1200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339913" y="1532998"/>
            <a:ext cx="3696501" cy="3364927"/>
            <a:chOff x="0" y="0"/>
            <a:chExt cx="7766863" cy="8305782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 t="3615" b="3615"/>
            <a:stretch>
              <a:fillRect/>
            </a:stretch>
          </p:blipFill>
          <p:spPr>
            <a:xfrm>
              <a:off x="0" y="0"/>
              <a:ext cx="7766863" cy="8305782"/>
            </a:xfrm>
            <a:prstGeom prst="rect">
              <a:avLst/>
            </a:prstGeom>
          </p:spPr>
        </p:pic>
      </p:grpSp>
      <p:grpSp>
        <p:nvGrpSpPr>
          <p:cNvPr id="6" name="Group 6"/>
          <p:cNvGrpSpPr/>
          <p:nvPr/>
        </p:nvGrpSpPr>
        <p:grpSpPr>
          <a:xfrm>
            <a:off x="2020638" y="552213"/>
            <a:ext cx="8511074" cy="5189537"/>
            <a:chOff x="-6309937" y="-1785025"/>
            <a:chExt cx="17022150" cy="10379074"/>
          </a:xfrm>
        </p:grpSpPr>
        <p:sp>
          <p:nvSpPr>
            <p:cNvPr id="7" name="TextBox 7"/>
            <p:cNvSpPr txBox="1"/>
            <p:nvPr/>
          </p:nvSpPr>
          <p:spPr>
            <a:xfrm>
              <a:off x="736228" y="3255535"/>
              <a:ext cx="9975985" cy="53385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600"/>
                </a:lnSpc>
              </a:pPr>
              <a:r>
                <a:rPr lang="en-US" sz="2400">
                  <a:solidFill>
                    <a:srgbClr val="000000"/>
                  </a:solidFill>
                  <a:latin typeface="+mj-lt"/>
                  <a:ea typeface="Lora"/>
                  <a:cs typeface="Lora"/>
                  <a:sym typeface="Lora"/>
                </a:rPr>
                <a:t>Traffic congestion is still one of the biggest urban mobility problems.</a:t>
              </a:r>
            </a:p>
            <a:p>
              <a:pPr>
                <a:lnSpc>
                  <a:spcPts val="2600"/>
                </a:lnSpc>
              </a:pPr>
              <a:r>
                <a:rPr lang="en-US" sz="2400">
                  <a:solidFill>
                    <a:srgbClr val="000000"/>
                  </a:solidFill>
                  <a:latin typeface="+mj-lt"/>
                  <a:ea typeface="Lora"/>
                  <a:cs typeface="Lora"/>
                  <a:sym typeface="Lora"/>
                </a:rPr>
                <a:t>It causes delays, increases emissions, and makes public and private transport less efficient.</a:t>
              </a:r>
            </a:p>
            <a:p>
              <a:pPr>
                <a:lnSpc>
                  <a:spcPts val="2600"/>
                </a:lnSpc>
              </a:pPr>
              <a:r>
                <a:rPr lang="en-US" sz="2400">
                  <a:solidFill>
                    <a:srgbClr val="000000"/>
                  </a:solidFill>
                  <a:latin typeface="+mj-lt"/>
                  <a:ea typeface="Lora"/>
                  <a:cs typeface="Lora"/>
                  <a:sym typeface="Lora"/>
                </a:rPr>
                <a:t>Smart-Jam addresses this issue by predicting congestion before it becomes critical.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-6309937" y="-1785025"/>
              <a:ext cx="16174448" cy="143629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5600"/>
                </a:lnSpc>
              </a:pPr>
              <a:r>
                <a:rPr lang="en-US" sz="4800" b="1">
                  <a:solidFill>
                    <a:srgbClr val="000000"/>
                  </a:solidFill>
                  <a:latin typeface="+mj-lt"/>
                  <a:ea typeface="Lora"/>
                  <a:cs typeface="Lora"/>
                  <a:sym typeface="Lora"/>
                </a:rPr>
                <a:t>WHY SMART-JAM MATTERS ? </a:t>
              </a:r>
            </a:p>
          </p:txBody>
        </p:sp>
      </p:grpSp>
      <p:sp>
        <p:nvSpPr>
          <p:cNvPr id="9" name="TextBox 3"/>
          <p:cNvSpPr txBox="1"/>
          <p:nvPr/>
        </p:nvSpPr>
        <p:spPr>
          <a:xfrm>
            <a:off x="5021455" y="2120025"/>
            <a:ext cx="6032523" cy="6462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9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+mj-lt"/>
                <a:ea typeface="Lora Bold"/>
                <a:cs typeface="Lora Bold"/>
                <a:sym typeface="Lora Bold"/>
              </a:rPr>
              <a:t>PREDICT EARLIER. REACT FASTER. PLAN</a:t>
            </a:r>
            <a:r>
              <a:rPr lang="uk-UA" sz="2400" b="1">
                <a:solidFill>
                  <a:srgbClr val="000000"/>
                </a:solidFill>
                <a:latin typeface="+mj-lt"/>
                <a:ea typeface="Lora Bold"/>
                <a:cs typeface="Lora Bold"/>
                <a:sym typeface="Lora Bold"/>
              </a:rPr>
              <a:t> </a:t>
            </a:r>
            <a:r>
              <a:rPr lang="en-US" sz="2400" b="1">
                <a:solidFill>
                  <a:srgbClr val="000000"/>
                </a:solidFill>
                <a:latin typeface="+mj-lt"/>
                <a:ea typeface="Lora Bold"/>
                <a:cs typeface="Lora Bold"/>
                <a:sym typeface="Lora Bold"/>
              </a:rPr>
              <a:t>SMARTER.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04212E1-FD6D-C88B-6C4D-8A2CD382EEEB}"/>
              </a:ext>
            </a:extLst>
          </p:cNvPr>
          <p:cNvCxnSpPr>
            <a:cxnSpLocks/>
          </p:cNvCxnSpPr>
          <p:nvPr/>
        </p:nvCxnSpPr>
        <p:spPr>
          <a:xfrm>
            <a:off x="876300" y="1441867"/>
            <a:ext cx="10375900" cy="720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417F867-12AD-D73E-FA88-9CC8A2E3B57C}"/>
              </a:ext>
            </a:extLst>
          </p:cNvPr>
          <p:cNvSpPr/>
          <p:nvPr/>
        </p:nvSpPr>
        <p:spPr>
          <a:xfrm>
            <a:off x="641350" y="285750"/>
            <a:ext cx="10909300" cy="6286500"/>
          </a:xfrm>
          <a:prstGeom prst="roundRect">
            <a:avLst>
              <a:gd name="adj" fmla="val 228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BA78DCC3-E60F-DDE1-D774-FB7B069CF1F6}"/>
              </a:ext>
            </a:extLst>
          </p:cNvPr>
          <p:cNvSpPr/>
          <p:nvPr/>
        </p:nvSpPr>
        <p:spPr>
          <a:xfrm rot="-24000">
            <a:off x="1569608" y="4909209"/>
            <a:ext cx="3237110" cy="1241915"/>
          </a:xfrm>
          <a:custGeom>
            <a:avLst/>
            <a:gdLst/>
            <a:ahLst/>
            <a:cxnLst/>
            <a:rect l="l" t="t" r="r" b="b"/>
            <a:pathLst>
              <a:path w="13575309" h="1707045">
                <a:moveTo>
                  <a:pt x="11257" y="0"/>
                </a:moveTo>
                <a:lnTo>
                  <a:pt x="13575310" y="94696"/>
                </a:lnTo>
                <a:lnTo>
                  <a:pt x="13564053" y="1707045"/>
                </a:lnTo>
                <a:lnTo>
                  <a:pt x="0" y="1612349"/>
                </a:lnTo>
                <a:lnTo>
                  <a:pt x="11257" y="0"/>
                </a:lnTo>
                <a:close/>
              </a:path>
            </a:pathLst>
          </a:custGeom>
          <a:blipFill>
            <a:blip r:embed="rId3"/>
            <a:stretch>
              <a:fillRect l="-119144" t="-10442" r="-112812" b="-7"/>
            </a:stretch>
          </a:blipFill>
          <a:effectLst>
            <a:softEdge rad="63500"/>
          </a:effectLst>
        </p:spPr>
        <p:txBody>
          <a:bodyPr/>
          <a:lstStyle/>
          <a:p>
            <a:endParaRPr lang="en-US" sz="1200"/>
          </a:p>
        </p:txBody>
      </p:sp>
      <p:sp>
        <p:nvSpPr>
          <p:cNvPr id="14" name="TextBox 5"/>
          <p:cNvSpPr txBox="1"/>
          <p:nvPr/>
        </p:nvSpPr>
        <p:spPr>
          <a:xfrm>
            <a:off x="3106751" y="6076741"/>
            <a:ext cx="5385399" cy="3562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PREDICTING CONGESTION BEFORE IT HAPPENS</a:t>
            </a:r>
          </a:p>
        </p:txBody>
      </p:sp>
      <p:pic>
        <p:nvPicPr>
          <p:cNvPr id="15362" name="Picture 2" descr="Download Free Digital society Icons in PNG &amp; SVG">
            <a:extLst>
              <a:ext uri="{FF2B5EF4-FFF2-40B4-BE49-F238E27FC236}">
                <a16:creationId xmlns:a16="http://schemas.microsoft.com/office/drawing/2014/main" id="{6FD5431E-79D3-E77C-6EE0-E4B72633AA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9913" y="662842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6631694" y="4535109"/>
            <a:ext cx="1534099" cy="1534099"/>
          </a:xfrm>
          <a:custGeom>
            <a:avLst/>
            <a:gdLst/>
            <a:ahLst/>
            <a:cxnLst/>
            <a:rect l="l" t="t" r="r" b="b"/>
            <a:pathLst>
              <a:path w="2301148" h="2301148">
                <a:moveTo>
                  <a:pt x="0" y="0"/>
                </a:moveTo>
                <a:lnTo>
                  <a:pt x="2301148" y="0"/>
                </a:lnTo>
                <a:lnTo>
                  <a:pt x="2301148" y="2301147"/>
                </a:lnTo>
                <a:lnTo>
                  <a:pt x="0" y="23011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2400" b="1">
              <a:latin typeface="+mj-lt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3912181" y="4535109"/>
            <a:ext cx="1637091" cy="1637091"/>
          </a:xfrm>
          <a:custGeom>
            <a:avLst/>
            <a:gdLst/>
            <a:ahLst/>
            <a:cxnLst/>
            <a:rect l="l" t="t" r="r" b="b"/>
            <a:pathLst>
              <a:path w="2455636" h="2455636">
                <a:moveTo>
                  <a:pt x="0" y="0"/>
                </a:moveTo>
                <a:lnTo>
                  <a:pt x="2455636" y="0"/>
                </a:lnTo>
                <a:lnTo>
                  <a:pt x="2455636" y="2455636"/>
                </a:lnTo>
                <a:lnTo>
                  <a:pt x="0" y="24556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6" name="Freeform 6"/>
          <p:cNvSpPr/>
          <p:nvPr/>
        </p:nvSpPr>
        <p:spPr>
          <a:xfrm>
            <a:off x="1617781" y="4650033"/>
            <a:ext cx="1651131" cy="1651131"/>
          </a:xfrm>
          <a:custGeom>
            <a:avLst/>
            <a:gdLst/>
            <a:ahLst/>
            <a:cxnLst/>
            <a:rect l="l" t="t" r="r" b="b"/>
            <a:pathLst>
              <a:path w="2476697" h="2476697">
                <a:moveTo>
                  <a:pt x="0" y="0"/>
                </a:moveTo>
                <a:lnTo>
                  <a:pt x="2476698" y="0"/>
                </a:lnTo>
                <a:lnTo>
                  <a:pt x="2476698" y="2476697"/>
                </a:lnTo>
                <a:lnTo>
                  <a:pt x="0" y="24766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7" name="Freeform 7"/>
          <p:cNvSpPr/>
          <p:nvPr/>
        </p:nvSpPr>
        <p:spPr>
          <a:xfrm>
            <a:off x="8807143" y="4146616"/>
            <a:ext cx="2349586" cy="2311086"/>
          </a:xfrm>
          <a:custGeom>
            <a:avLst/>
            <a:gdLst/>
            <a:ahLst/>
            <a:cxnLst/>
            <a:rect l="l" t="t" r="r" b="b"/>
            <a:pathLst>
              <a:path w="3524379" h="3466629">
                <a:moveTo>
                  <a:pt x="0" y="0"/>
                </a:moveTo>
                <a:lnTo>
                  <a:pt x="3524378" y="0"/>
                </a:lnTo>
                <a:lnTo>
                  <a:pt x="3524378" y="3466629"/>
                </a:lnTo>
                <a:lnTo>
                  <a:pt x="0" y="34666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665"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8" name="TextBox 8"/>
          <p:cNvSpPr txBox="1"/>
          <p:nvPr/>
        </p:nvSpPr>
        <p:spPr>
          <a:xfrm>
            <a:off x="2005358" y="1804703"/>
            <a:ext cx="8117782" cy="1608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37"/>
              </a:lnSpc>
            </a:pPr>
            <a:r>
              <a:rPr lang="en-US" sz="2400">
                <a:solidFill>
                  <a:srgbClr val="000000"/>
                </a:solidFill>
                <a:latin typeface="+mj-lt"/>
                <a:ea typeface="TT Commons Pro"/>
                <a:cs typeface="TT Commons Pro"/>
                <a:sym typeface="TT Commons Pro"/>
              </a:rPr>
              <a:t>There is clear demand for predictive traffic tools.</a:t>
            </a:r>
          </a:p>
          <a:p>
            <a:pPr>
              <a:lnSpc>
                <a:spcPts val="2537"/>
              </a:lnSpc>
            </a:pPr>
            <a:r>
              <a:rPr lang="en-US" sz="2400">
                <a:solidFill>
                  <a:srgbClr val="000000"/>
                </a:solidFill>
                <a:latin typeface="+mj-lt"/>
                <a:ea typeface="TT Commons Pro"/>
                <a:cs typeface="TT Commons Pro"/>
                <a:sym typeface="TT Commons Pro"/>
              </a:rPr>
              <a:t>Cities and transport operators need solutions that improve planning, reduce delays, and support smarter mobility.</a:t>
            </a:r>
          </a:p>
          <a:p>
            <a:pPr>
              <a:lnSpc>
                <a:spcPts val="2537"/>
              </a:lnSpc>
            </a:pPr>
            <a:r>
              <a:rPr lang="en-US" sz="2400">
                <a:solidFill>
                  <a:srgbClr val="000000"/>
                </a:solidFill>
                <a:latin typeface="+mj-lt"/>
                <a:ea typeface="TT Commons Pro"/>
                <a:cs typeface="TT Commons Pro"/>
                <a:sym typeface="TT Commons Pro"/>
              </a:rPr>
              <a:t>Smart-Jam meets this need through data-driven traffic forecasting.</a:t>
            </a:r>
          </a:p>
          <a:p>
            <a:pPr>
              <a:lnSpc>
                <a:spcPts val="2537"/>
              </a:lnSpc>
            </a:pPr>
            <a:endParaRPr lang="en-US" sz="2400" b="1">
              <a:solidFill>
                <a:srgbClr val="000000"/>
              </a:solidFill>
              <a:latin typeface="+mj-lt"/>
              <a:ea typeface="TT Commons Pro"/>
              <a:cs typeface="TT Commons Pro"/>
              <a:sym typeface="TT Commons Pro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005358" y="569270"/>
            <a:ext cx="5749313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600"/>
              </a:lnSpc>
            </a:pPr>
            <a:r>
              <a:rPr lang="en-US" sz="4800" b="1">
                <a:solidFill>
                  <a:srgbClr val="000000"/>
                </a:solidFill>
                <a:latin typeface="+mj-lt"/>
                <a:ea typeface="Lora"/>
                <a:cs typeface="Lora"/>
                <a:sym typeface="Lora"/>
              </a:rPr>
              <a:t>MARKET DEMAND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44611" y="3557425"/>
            <a:ext cx="9586719" cy="566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00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+mj-lt"/>
                <a:ea typeface="Lora"/>
                <a:cs typeface="Lora"/>
                <a:sym typeface="Lora"/>
              </a:rPr>
              <a:t>DATA → PREDICTION → INSIGHT → ACTION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1498130-A31D-EAE6-A83F-65D8BCCBA22C}"/>
              </a:ext>
            </a:extLst>
          </p:cNvPr>
          <p:cNvCxnSpPr>
            <a:cxnSpLocks/>
          </p:cNvCxnSpPr>
          <p:nvPr/>
        </p:nvCxnSpPr>
        <p:spPr>
          <a:xfrm>
            <a:off x="876300" y="1441867"/>
            <a:ext cx="10375900" cy="720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114E980-825B-1B03-0691-BEC8DE691AE5}"/>
              </a:ext>
            </a:extLst>
          </p:cNvPr>
          <p:cNvSpPr/>
          <p:nvPr/>
        </p:nvSpPr>
        <p:spPr>
          <a:xfrm>
            <a:off x="641350" y="285750"/>
            <a:ext cx="10909300" cy="6286500"/>
          </a:xfrm>
          <a:prstGeom prst="roundRect">
            <a:avLst>
              <a:gd name="adj" fmla="val 228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Picture 2" descr="Download Free Digital society Icons in PNG &amp; SVG">
            <a:extLst>
              <a:ext uri="{FF2B5EF4-FFF2-40B4-BE49-F238E27FC236}">
                <a16:creationId xmlns:a16="http://schemas.microsoft.com/office/drawing/2014/main" id="{2CCA202A-1169-9FA6-92CA-E977BD9197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biLevel thresh="7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9181" y="678841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87955" y="3118173"/>
            <a:ext cx="4228622" cy="3169599"/>
            <a:chOff x="0" y="0"/>
            <a:chExt cx="4005554" cy="3002397"/>
          </a:xfrm>
        </p:grpSpPr>
        <p:sp>
          <p:nvSpPr>
            <p:cNvPr id="3" name="Freeform 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4005554" cy="3002397"/>
            </a:xfrm>
            <a:custGeom>
              <a:avLst/>
              <a:gdLst/>
              <a:ahLst/>
              <a:cxnLst/>
              <a:rect l="l" t="t" r="r" b="b"/>
              <a:pathLst>
                <a:path w="4005554" h="3002397">
                  <a:moveTo>
                    <a:pt x="3881094" y="3002397"/>
                  </a:moveTo>
                  <a:lnTo>
                    <a:pt x="124460" y="3002397"/>
                  </a:lnTo>
                  <a:cubicBezTo>
                    <a:pt x="55880" y="3002397"/>
                    <a:pt x="0" y="2946517"/>
                    <a:pt x="0" y="2877937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881094" y="0"/>
                  </a:lnTo>
                  <a:cubicBezTo>
                    <a:pt x="3949674" y="0"/>
                    <a:pt x="4005554" y="55880"/>
                    <a:pt x="4005554" y="124460"/>
                  </a:cubicBezTo>
                  <a:lnTo>
                    <a:pt x="4005554" y="2877937"/>
                  </a:lnTo>
                  <a:cubicBezTo>
                    <a:pt x="4005554" y="2946517"/>
                    <a:pt x="3949674" y="3002397"/>
                    <a:pt x="3881094" y="3002397"/>
                  </a:cubicBezTo>
                  <a:close/>
                </a:path>
              </a:pathLst>
            </a:custGeom>
            <a:solidFill>
              <a:srgbClr val="FFFFFF">
                <a:alpha val="29804"/>
              </a:srgbClr>
            </a:solidFill>
          </p:spPr>
          <p:txBody>
            <a:bodyPr/>
            <a:lstStyle/>
            <a:p>
              <a:endParaRPr lang="en-US" sz="1200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739358" y="3118173"/>
            <a:ext cx="4228622" cy="3169599"/>
            <a:chOff x="0" y="0"/>
            <a:chExt cx="4005554" cy="3002397"/>
          </a:xfrm>
        </p:grpSpPr>
        <p:sp>
          <p:nvSpPr>
            <p:cNvPr id="5" name="Freeform 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4005554" cy="3002397"/>
            </a:xfrm>
            <a:custGeom>
              <a:avLst/>
              <a:gdLst/>
              <a:ahLst/>
              <a:cxnLst/>
              <a:rect l="l" t="t" r="r" b="b"/>
              <a:pathLst>
                <a:path w="4005554" h="3002397">
                  <a:moveTo>
                    <a:pt x="3881094" y="3002397"/>
                  </a:moveTo>
                  <a:lnTo>
                    <a:pt x="124460" y="3002397"/>
                  </a:lnTo>
                  <a:cubicBezTo>
                    <a:pt x="55880" y="3002397"/>
                    <a:pt x="0" y="2946517"/>
                    <a:pt x="0" y="2877937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881094" y="0"/>
                  </a:lnTo>
                  <a:cubicBezTo>
                    <a:pt x="3949674" y="0"/>
                    <a:pt x="4005554" y="55880"/>
                    <a:pt x="4005554" y="124460"/>
                  </a:cubicBezTo>
                  <a:lnTo>
                    <a:pt x="4005554" y="2877937"/>
                  </a:lnTo>
                  <a:cubicBezTo>
                    <a:pt x="4005554" y="2946517"/>
                    <a:pt x="3949674" y="3002397"/>
                    <a:pt x="3881094" y="3002397"/>
                  </a:cubicBezTo>
                  <a:close/>
                </a:path>
              </a:pathLst>
            </a:custGeom>
            <a:solidFill>
              <a:srgbClr val="FFFFFF">
                <a:alpha val="29804"/>
              </a:srgbClr>
            </a:solidFill>
          </p:spPr>
          <p:txBody>
            <a:bodyPr/>
            <a:lstStyle/>
            <a:p>
              <a:endParaRPr lang="en-US" sz="120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557196" y="709494"/>
            <a:ext cx="7955501" cy="6033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4800" b="1">
                <a:solidFill>
                  <a:srgbClr val="000000"/>
                </a:solidFill>
                <a:latin typeface="+mj-lt"/>
                <a:ea typeface="Lora"/>
                <a:cs typeface="Lora"/>
                <a:sym typeface="Lora"/>
              </a:rPr>
              <a:t>Competition &amp; our advantage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65657" y="1768764"/>
            <a:ext cx="10838381" cy="11912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32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ea typeface="Apple Symbols" panose="02000000000000000000" pitchFamily="2" charset="-79"/>
                <a:cs typeface="Apple Symbols" panose="02000000000000000000" pitchFamily="2" charset="-79"/>
                <a:sym typeface="Lora"/>
              </a:rPr>
              <a:t>The market already includes strong traffic analytics platforms.</a:t>
            </a:r>
          </a:p>
          <a:p>
            <a:pPr>
              <a:lnSpc>
                <a:spcPts val="232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ea typeface="Apple Symbols" panose="02000000000000000000" pitchFamily="2" charset="-79"/>
                <a:cs typeface="Apple Symbols" panose="02000000000000000000" pitchFamily="2" charset="-79"/>
                <a:sym typeface="Lora"/>
              </a:rPr>
              <a:t>Companies such as INRIX, </a:t>
            </a:r>
            <a:r>
              <a:rPr lang="en-US" sz="2400" err="1">
                <a:solidFill>
                  <a:srgbClr val="000000"/>
                </a:solidFill>
                <a:ea typeface="Apple Symbols" panose="02000000000000000000" pitchFamily="2" charset="-79"/>
                <a:cs typeface="Apple Symbols" panose="02000000000000000000" pitchFamily="2" charset="-79"/>
                <a:sym typeface="Lora"/>
              </a:rPr>
              <a:t>Miovision</a:t>
            </a:r>
            <a:r>
              <a:rPr lang="en-US" sz="2400">
                <a:solidFill>
                  <a:srgbClr val="000000"/>
                </a:solidFill>
                <a:ea typeface="Apple Symbols" panose="02000000000000000000" pitchFamily="2" charset="-79"/>
                <a:cs typeface="Apple Symbols" panose="02000000000000000000" pitchFamily="2" charset="-79"/>
                <a:sym typeface="Lora"/>
              </a:rPr>
              <a:t>, and HERE prove that this is a real and growing field.</a:t>
            </a:r>
          </a:p>
          <a:p>
            <a:pPr>
              <a:lnSpc>
                <a:spcPts val="232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ea typeface="Apple Symbols" panose="02000000000000000000" pitchFamily="2" charset="-79"/>
                <a:cs typeface="Apple Symbols" panose="02000000000000000000" pitchFamily="2" charset="-79"/>
                <a:sym typeface="Lora"/>
              </a:rPr>
              <a:t>Smart-Jam stands out through focused prediction and easier local deployment.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385803" y="3342953"/>
            <a:ext cx="2432925" cy="9525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82"/>
              </a:lnSpc>
            </a:pPr>
            <a:r>
              <a:rPr lang="en-US" sz="2400" b="1">
                <a:solidFill>
                  <a:srgbClr val="000000"/>
                </a:solidFill>
                <a:latin typeface="+mj-lt"/>
                <a:ea typeface="Lora Bold"/>
                <a:cs typeface="Lora Bold"/>
                <a:sym typeface="Lora Bold"/>
              </a:rPr>
              <a:t>Big platforms</a:t>
            </a:r>
          </a:p>
          <a:p>
            <a:pPr algn="ctr">
              <a:lnSpc>
                <a:spcPts val="3986"/>
              </a:lnSpc>
            </a:pPr>
            <a:endParaRPr lang="en-US" sz="2400" b="1">
              <a:solidFill>
                <a:srgbClr val="000000"/>
              </a:solidFill>
              <a:latin typeface="+mj-lt"/>
              <a:ea typeface="Lora Bold"/>
              <a:cs typeface="Lora Bold"/>
              <a:sym typeface="Lora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7818418" y="3306093"/>
            <a:ext cx="2282329" cy="4793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00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+mj-lt"/>
                <a:ea typeface="Lora Bold"/>
                <a:cs typeface="Lora Bold"/>
                <a:sym typeface="Lora Bold"/>
              </a:rPr>
              <a:t>SMART-JAM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286000" y="5248344"/>
            <a:ext cx="2817661" cy="373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+mj-lt"/>
                <a:ea typeface="Lora"/>
                <a:cs typeface="Lora"/>
                <a:sym typeface="Lora"/>
              </a:rPr>
              <a:t>ENTERPRISE SCALE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385803" y="4647347"/>
            <a:ext cx="2293829" cy="3737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+mj-lt"/>
                <a:ea typeface="Lora"/>
                <a:cs typeface="Lora"/>
                <a:sym typeface="Lora"/>
              </a:rPr>
              <a:t>COMPLEX TOOLS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61295" y="4035036"/>
            <a:ext cx="2711115" cy="373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+mj-lt"/>
                <a:ea typeface="Lora"/>
                <a:cs typeface="Lora"/>
                <a:sym typeface="Lora"/>
              </a:rPr>
              <a:t>BROAD SYSTEMS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638430" y="4053562"/>
            <a:ext cx="2817661" cy="3737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+mj-lt"/>
                <a:ea typeface="Lora"/>
                <a:cs typeface="Lora"/>
                <a:sym typeface="Lora"/>
              </a:rPr>
              <a:t>FOCUSED SOLUTION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638429" y="4625220"/>
            <a:ext cx="2817661" cy="3737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+mj-lt"/>
                <a:ea typeface="Lora"/>
                <a:cs typeface="Lora"/>
                <a:sym typeface="Lora"/>
              </a:rPr>
              <a:t>SIMPLE DASHBOARD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585158" y="5248344"/>
            <a:ext cx="2817661" cy="373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+mj-lt"/>
                <a:ea typeface="Lora"/>
                <a:cs typeface="Lora"/>
                <a:sym typeface="Lora"/>
              </a:rPr>
              <a:t>LOCAL PILOT READY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245CB3-F834-017A-BFAC-3E46F37C2896}"/>
              </a:ext>
            </a:extLst>
          </p:cNvPr>
          <p:cNvSpPr txBox="1"/>
          <p:nvPr/>
        </p:nvSpPr>
        <p:spPr>
          <a:xfrm>
            <a:off x="1996982" y="4001660"/>
            <a:ext cx="328625" cy="46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+mj-lt"/>
                <a:ea typeface="Lora"/>
                <a:cs typeface="Lora"/>
                <a:sym typeface="Lora"/>
              </a:rPr>
              <a:t>▪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DAB0CEB-0576-4A6D-DF9B-0E7781568F61}"/>
              </a:ext>
            </a:extLst>
          </p:cNvPr>
          <p:cNvSpPr txBox="1"/>
          <p:nvPr/>
        </p:nvSpPr>
        <p:spPr>
          <a:xfrm>
            <a:off x="2023553" y="4623867"/>
            <a:ext cx="328625" cy="46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+mj-lt"/>
                <a:ea typeface="Lora"/>
                <a:cs typeface="Lora"/>
                <a:sym typeface="Lora"/>
              </a:rPr>
              <a:t>▪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7F500BD-3CCF-ACAA-5C17-67F908203667}"/>
              </a:ext>
            </a:extLst>
          </p:cNvPr>
          <p:cNvSpPr txBox="1"/>
          <p:nvPr/>
        </p:nvSpPr>
        <p:spPr>
          <a:xfrm>
            <a:off x="2037408" y="5232790"/>
            <a:ext cx="328625" cy="46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+mj-lt"/>
                <a:ea typeface="Lora"/>
                <a:cs typeface="Lora"/>
                <a:sym typeface="Lora"/>
              </a:rPr>
              <a:t>▪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781074-42E3-ABE5-D67E-11D04269E14F}"/>
              </a:ext>
            </a:extLst>
          </p:cNvPr>
          <p:cNvSpPr txBox="1"/>
          <p:nvPr/>
        </p:nvSpPr>
        <p:spPr>
          <a:xfrm>
            <a:off x="1996982" y="3989085"/>
            <a:ext cx="328625" cy="46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+mj-lt"/>
                <a:ea typeface="Lora"/>
                <a:cs typeface="Lora"/>
                <a:sym typeface="Lora"/>
              </a:rPr>
              <a:t>▪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71BF74F-7D1B-D272-57BA-1355800ADC7E}"/>
              </a:ext>
            </a:extLst>
          </p:cNvPr>
          <p:cNvSpPr txBox="1"/>
          <p:nvPr/>
        </p:nvSpPr>
        <p:spPr>
          <a:xfrm>
            <a:off x="7212254" y="4035036"/>
            <a:ext cx="328625" cy="46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+mj-lt"/>
                <a:ea typeface="Lora"/>
                <a:cs typeface="Lora"/>
                <a:sym typeface="Lora"/>
              </a:rPr>
              <a:t>▪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EA9DB6-8B3C-C73F-23E1-F20AA3C6CC14}"/>
              </a:ext>
            </a:extLst>
          </p:cNvPr>
          <p:cNvSpPr txBox="1"/>
          <p:nvPr/>
        </p:nvSpPr>
        <p:spPr>
          <a:xfrm>
            <a:off x="7212253" y="4602624"/>
            <a:ext cx="328625" cy="46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+mj-lt"/>
                <a:ea typeface="Lora"/>
                <a:cs typeface="Lora"/>
                <a:sym typeface="Lora"/>
              </a:rPr>
              <a:t>▪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12F7CDB-E305-A185-DCC6-52602A714421}"/>
              </a:ext>
            </a:extLst>
          </p:cNvPr>
          <p:cNvSpPr txBox="1"/>
          <p:nvPr/>
        </p:nvSpPr>
        <p:spPr>
          <a:xfrm>
            <a:off x="7234338" y="5232790"/>
            <a:ext cx="328625" cy="46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+mj-lt"/>
                <a:ea typeface="Lora"/>
                <a:cs typeface="Lora"/>
                <a:sym typeface="Lora"/>
              </a:rPr>
              <a:t>▪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4EEA8FB-FD39-FFA5-EF01-740991353B32}"/>
              </a:ext>
            </a:extLst>
          </p:cNvPr>
          <p:cNvCxnSpPr>
            <a:cxnSpLocks/>
          </p:cNvCxnSpPr>
          <p:nvPr/>
        </p:nvCxnSpPr>
        <p:spPr>
          <a:xfrm>
            <a:off x="876300" y="1441867"/>
            <a:ext cx="10375900" cy="720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9EE7DF7-AC35-3B38-1A5D-4E63CF8238AB}"/>
              </a:ext>
            </a:extLst>
          </p:cNvPr>
          <p:cNvSpPr/>
          <p:nvPr/>
        </p:nvSpPr>
        <p:spPr>
          <a:xfrm>
            <a:off x="641350" y="285750"/>
            <a:ext cx="10909300" cy="6286500"/>
          </a:xfrm>
          <a:prstGeom prst="roundRect">
            <a:avLst>
              <a:gd name="adj" fmla="val 228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8" name="Picture 2" descr="Download Free Digital society Icons in PNG &amp; SVG">
            <a:extLst>
              <a:ext uri="{FF2B5EF4-FFF2-40B4-BE49-F238E27FC236}">
                <a16:creationId xmlns:a16="http://schemas.microsoft.com/office/drawing/2014/main" id="{25F15F80-AEB4-4968-C035-DD0B89A877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355" y="691534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767418" y="1919275"/>
            <a:ext cx="7772732" cy="3429718"/>
          </a:xfrm>
          <a:custGeom>
            <a:avLst/>
            <a:gdLst/>
            <a:ahLst/>
            <a:cxnLst/>
            <a:rect l="l" t="t" r="r" b="b"/>
            <a:pathLst>
              <a:path w="11659098" h="5144577">
                <a:moveTo>
                  <a:pt x="0" y="0"/>
                </a:moveTo>
                <a:lnTo>
                  <a:pt x="11659098" y="0"/>
                </a:lnTo>
                <a:lnTo>
                  <a:pt x="11659098" y="5144577"/>
                </a:lnTo>
                <a:lnTo>
                  <a:pt x="0" y="51445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grpSp>
        <p:nvGrpSpPr>
          <p:cNvPr id="3" name="Group 3"/>
          <p:cNvGrpSpPr/>
          <p:nvPr/>
        </p:nvGrpSpPr>
        <p:grpSpPr>
          <a:xfrm>
            <a:off x="2353539" y="573387"/>
            <a:ext cx="8628897" cy="1436291"/>
            <a:chOff x="1357088" y="-224827"/>
            <a:chExt cx="14874044" cy="2872581"/>
          </a:xfrm>
        </p:grpSpPr>
        <p:sp>
          <p:nvSpPr>
            <p:cNvPr id="4" name="TextBox 4"/>
            <p:cNvSpPr txBox="1"/>
            <p:nvPr/>
          </p:nvSpPr>
          <p:spPr>
            <a:xfrm>
              <a:off x="2015626" y="1881660"/>
              <a:ext cx="14215506" cy="5852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600"/>
                </a:lnSpc>
              </a:pPr>
              <a:endParaRPr sz="1200">
                <a:latin typeface="+mj-lt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357088" y="-224827"/>
              <a:ext cx="14215505" cy="28725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5600"/>
                </a:lnSpc>
              </a:pPr>
              <a:r>
                <a:rPr lang="en-US" sz="4800" b="1">
                  <a:solidFill>
                    <a:srgbClr val="000000"/>
                  </a:solidFill>
                  <a:latin typeface="+mj-lt"/>
                  <a:ea typeface="Lora"/>
                  <a:cs typeface="Lora"/>
                  <a:sym typeface="Lora"/>
                </a:rPr>
                <a:t>PROMOTION &amp; POSITIONING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96300" y="3314010"/>
            <a:ext cx="3071118" cy="1527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00"/>
              </a:lnSpc>
            </a:pPr>
            <a:r>
              <a:rPr lang="en-US" sz="2400">
                <a:solidFill>
                  <a:srgbClr val="000000"/>
                </a:solidFill>
                <a:ea typeface="Lora"/>
                <a:cs typeface="Lora"/>
                <a:sym typeface="Lora"/>
              </a:rPr>
              <a:t>• pilot projects</a:t>
            </a:r>
          </a:p>
          <a:p>
            <a:pPr algn="just">
              <a:lnSpc>
                <a:spcPts val="3000"/>
              </a:lnSpc>
            </a:pPr>
            <a:r>
              <a:rPr lang="en-US" sz="2400">
                <a:solidFill>
                  <a:srgbClr val="000000"/>
                </a:solidFill>
                <a:ea typeface="Lora"/>
                <a:cs typeface="Lora"/>
                <a:sym typeface="Lora"/>
              </a:rPr>
              <a:t>• case studies</a:t>
            </a:r>
          </a:p>
          <a:p>
            <a:pPr algn="just">
              <a:lnSpc>
                <a:spcPts val="300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ea typeface="Lora"/>
                <a:cs typeface="Lora"/>
                <a:sym typeface="Lora"/>
              </a:rPr>
              <a:t>• smart-city events</a:t>
            </a:r>
          </a:p>
          <a:p>
            <a:pPr algn="just">
              <a:lnSpc>
                <a:spcPts val="300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ea typeface="Lora"/>
                <a:cs typeface="Lora"/>
                <a:sym typeface="Lora"/>
              </a:rPr>
              <a:t>•demo presentations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5800" y="2289691"/>
            <a:ext cx="3208159" cy="744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+mj-lt"/>
                <a:ea typeface="Lora Bold"/>
                <a:cs typeface="Lora Bold"/>
                <a:sym typeface="Lora Bold"/>
              </a:rPr>
              <a:t>WE WILL PROMOTE</a:t>
            </a:r>
          </a:p>
          <a:p>
            <a:pPr>
              <a:lnSpc>
                <a:spcPts val="30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+mj-lt"/>
                <a:ea typeface="Lora Bold"/>
                <a:cs typeface="Lora Bold"/>
                <a:sym typeface="Lora Bold"/>
              </a:rPr>
              <a:t>SMART-JAM THROUGH: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6227DE8-B791-842B-A1D5-60E486EC0D9C}"/>
              </a:ext>
            </a:extLst>
          </p:cNvPr>
          <p:cNvCxnSpPr>
            <a:cxnSpLocks/>
          </p:cNvCxnSpPr>
          <p:nvPr/>
        </p:nvCxnSpPr>
        <p:spPr>
          <a:xfrm>
            <a:off x="876300" y="1441867"/>
            <a:ext cx="10375900" cy="720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D1C398F-CF44-7340-61B6-207352165FDA}"/>
              </a:ext>
            </a:extLst>
          </p:cNvPr>
          <p:cNvSpPr/>
          <p:nvPr/>
        </p:nvSpPr>
        <p:spPr>
          <a:xfrm>
            <a:off x="641350" y="285750"/>
            <a:ext cx="10909300" cy="6286500"/>
          </a:xfrm>
          <a:prstGeom prst="roundRect">
            <a:avLst>
              <a:gd name="adj" fmla="val 228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Picture 2" descr="Download Free Digital society Icons in PNG &amp; SVG">
            <a:extLst>
              <a:ext uri="{FF2B5EF4-FFF2-40B4-BE49-F238E27FC236}">
                <a16:creationId xmlns:a16="http://schemas.microsoft.com/office/drawing/2014/main" id="{55EA556F-2969-984C-99B9-0D9740B832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1603" y="666124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66019" y="1610075"/>
            <a:ext cx="10717161" cy="4612707"/>
          </a:xfrm>
          <a:custGeom>
            <a:avLst/>
            <a:gdLst/>
            <a:ahLst/>
            <a:cxnLst/>
            <a:rect l="l" t="t" r="r" b="b"/>
            <a:pathLst>
              <a:path w="19342921" h="9091173">
                <a:moveTo>
                  <a:pt x="0" y="0"/>
                </a:moveTo>
                <a:lnTo>
                  <a:pt x="19342921" y="0"/>
                </a:lnTo>
                <a:lnTo>
                  <a:pt x="19342921" y="9091172"/>
                </a:lnTo>
                <a:lnTo>
                  <a:pt x="0" y="90911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698E5221-1F8E-889F-785A-3F44D3FFB40B}"/>
              </a:ext>
            </a:extLst>
          </p:cNvPr>
          <p:cNvGrpSpPr/>
          <p:nvPr/>
        </p:nvGrpSpPr>
        <p:grpSpPr>
          <a:xfrm>
            <a:off x="2048803" y="573387"/>
            <a:ext cx="8933633" cy="1345888"/>
            <a:chOff x="831800" y="-224827"/>
            <a:chExt cx="15399332" cy="269177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0D3A76B-80B3-22B1-760E-D198E82D47F6}"/>
                </a:ext>
              </a:extLst>
            </p:cNvPr>
            <p:cNvSpPr txBox="1"/>
            <p:nvPr/>
          </p:nvSpPr>
          <p:spPr>
            <a:xfrm>
              <a:off x="2015626" y="1881660"/>
              <a:ext cx="14215506" cy="5852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600"/>
                </a:lnSpc>
              </a:pPr>
              <a:endParaRPr sz="1200">
                <a:latin typeface="+mj-lt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2F3B4D9-A502-90CA-8828-2DC5D36D7B16}"/>
                </a:ext>
              </a:extLst>
            </p:cNvPr>
            <p:cNvSpPr txBox="1"/>
            <p:nvPr/>
          </p:nvSpPr>
          <p:spPr>
            <a:xfrm>
              <a:off x="831800" y="-224827"/>
              <a:ext cx="14740793" cy="143628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600"/>
                </a:lnSpc>
              </a:pPr>
              <a:r>
                <a:rPr lang="en-US" sz="4800" b="1">
                  <a:solidFill>
                    <a:srgbClr val="000000"/>
                  </a:solidFill>
                  <a:latin typeface="+mj-lt"/>
                  <a:ea typeface="Lora"/>
                  <a:cs typeface="Lora"/>
                  <a:sym typeface="Lora"/>
                </a:rPr>
                <a:t>Gantt Chart</a:t>
              </a:r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E3C6042-638D-AB18-3F23-0ABA364B847A}"/>
              </a:ext>
            </a:extLst>
          </p:cNvPr>
          <p:cNvCxnSpPr>
            <a:cxnSpLocks/>
          </p:cNvCxnSpPr>
          <p:nvPr/>
        </p:nvCxnSpPr>
        <p:spPr>
          <a:xfrm>
            <a:off x="876300" y="1441867"/>
            <a:ext cx="10375900" cy="720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892A519-C471-D15D-D617-D05E0DD1EDEF}"/>
              </a:ext>
            </a:extLst>
          </p:cNvPr>
          <p:cNvSpPr/>
          <p:nvPr/>
        </p:nvSpPr>
        <p:spPr>
          <a:xfrm>
            <a:off x="641350" y="285750"/>
            <a:ext cx="10909300" cy="6286500"/>
          </a:xfrm>
          <a:prstGeom prst="roundRect">
            <a:avLst>
              <a:gd name="adj" fmla="val 228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2" descr="Download Free Digital society Icons in PNG &amp; SVG">
            <a:extLst>
              <a:ext uri="{FF2B5EF4-FFF2-40B4-BE49-F238E27FC236}">
                <a16:creationId xmlns:a16="http://schemas.microsoft.com/office/drawing/2014/main" id="{512A2F54-3697-6E27-9B58-6CC6658BDF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1603" y="666124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2E278-1FDA-C781-10E1-43D93100E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0505071A-BBEC-C2E3-1366-143EFF9AA691}"/>
              </a:ext>
            </a:extLst>
          </p:cNvPr>
          <p:cNvGrpSpPr/>
          <p:nvPr/>
        </p:nvGrpSpPr>
        <p:grpSpPr>
          <a:xfrm>
            <a:off x="2048803" y="573387"/>
            <a:ext cx="8933633" cy="1436291"/>
            <a:chOff x="831800" y="-224828"/>
            <a:chExt cx="15399332" cy="287258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4AA95E7-8009-9258-75F4-632AD98928BA}"/>
                </a:ext>
              </a:extLst>
            </p:cNvPr>
            <p:cNvSpPr txBox="1"/>
            <p:nvPr/>
          </p:nvSpPr>
          <p:spPr>
            <a:xfrm>
              <a:off x="2015626" y="1881660"/>
              <a:ext cx="14215506" cy="5852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600"/>
                </a:lnSpc>
              </a:pPr>
              <a:endParaRPr sz="1200">
                <a:latin typeface="+mj-lt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AD29A18-011C-A36B-6D1F-5580F3DB5C31}"/>
                </a:ext>
              </a:extLst>
            </p:cNvPr>
            <p:cNvSpPr txBox="1"/>
            <p:nvPr/>
          </p:nvSpPr>
          <p:spPr>
            <a:xfrm>
              <a:off x="831800" y="-224827"/>
              <a:ext cx="14740793" cy="287258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600"/>
                </a:lnSpc>
              </a:pPr>
              <a:r>
                <a:rPr lang="en-US" sz="4800" b="1">
                  <a:solidFill>
                    <a:srgbClr val="000000"/>
                  </a:solidFill>
                  <a:latin typeface="+mj-lt"/>
                  <a:ea typeface="Lora"/>
                  <a:cs typeface="Lora"/>
                  <a:sym typeface="Lora"/>
                </a:rPr>
                <a:t>BPMN Diagram</a:t>
              </a:r>
            </a:p>
            <a:p>
              <a:pPr algn="ctr">
                <a:lnSpc>
                  <a:spcPts val="5600"/>
                </a:lnSpc>
              </a:pPr>
              <a:endParaRPr lang="en-US" sz="4800" b="1">
                <a:solidFill>
                  <a:srgbClr val="000000"/>
                </a:solidFill>
                <a:latin typeface="+mj-lt"/>
                <a:ea typeface="Lora"/>
                <a:cs typeface="Lora"/>
                <a:sym typeface="Lora"/>
              </a:endParaRPr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AFC1B61-59BB-E5CE-A1CF-D242AA9D2E72}"/>
              </a:ext>
            </a:extLst>
          </p:cNvPr>
          <p:cNvCxnSpPr>
            <a:cxnSpLocks/>
          </p:cNvCxnSpPr>
          <p:nvPr/>
        </p:nvCxnSpPr>
        <p:spPr>
          <a:xfrm>
            <a:off x="876300" y="1441867"/>
            <a:ext cx="10375900" cy="720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2303ECE-36FE-66BF-B672-911B9A070AFF}"/>
              </a:ext>
            </a:extLst>
          </p:cNvPr>
          <p:cNvSpPr/>
          <p:nvPr/>
        </p:nvSpPr>
        <p:spPr>
          <a:xfrm>
            <a:off x="641350" y="285750"/>
            <a:ext cx="10909300" cy="6286500"/>
          </a:xfrm>
          <a:prstGeom prst="roundRect">
            <a:avLst>
              <a:gd name="adj" fmla="val 228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2" descr="Download Free Digital society Icons in PNG &amp; SVG">
            <a:extLst>
              <a:ext uri="{FF2B5EF4-FFF2-40B4-BE49-F238E27FC236}">
                <a16:creationId xmlns:a16="http://schemas.microsoft.com/office/drawing/2014/main" id="{21E3A2EE-5C4D-C7B8-BA55-728C62AFC7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1603" y="666124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Obrázok 6">
            <a:extLst>
              <a:ext uri="{FF2B5EF4-FFF2-40B4-BE49-F238E27FC236}">
                <a16:creationId xmlns:a16="http://schemas.microsoft.com/office/drawing/2014/main" id="{C961AA8F-0D25-49CD-3F9E-F228928F84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8" t="18336" r="5557" b="11907"/>
          <a:stretch>
            <a:fillRect/>
          </a:stretch>
        </p:blipFill>
        <p:spPr>
          <a:xfrm>
            <a:off x="857621" y="1671906"/>
            <a:ext cx="10476758" cy="4057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4054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FB54C-FB43-5789-548A-3BB0DA7F9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5E886DAC-9A84-D6E2-846A-80935895E2DD}"/>
              </a:ext>
            </a:extLst>
          </p:cNvPr>
          <p:cNvGrpSpPr/>
          <p:nvPr/>
        </p:nvGrpSpPr>
        <p:grpSpPr>
          <a:xfrm>
            <a:off x="2048803" y="573388"/>
            <a:ext cx="8933633" cy="1345887"/>
            <a:chOff x="831800" y="-224826"/>
            <a:chExt cx="15399332" cy="269177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88E6235-72C4-140F-E47E-61CBF1884EDF}"/>
                </a:ext>
              </a:extLst>
            </p:cNvPr>
            <p:cNvSpPr txBox="1"/>
            <p:nvPr/>
          </p:nvSpPr>
          <p:spPr>
            <a:xfrm>
              <a:off x="2015626" y="1881660"/>
              <a:ext cx="14215506" cy="5852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600"/>
                </a:lnSpc>
              </a:pPr>
              <a:endParaRPr sz="1200">
                <a:latin typeface="+mj-lt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CD09262-3151-1EA2-5EA1-3F142161B232}"/>
                </a:ext>
              </a:extLst>
            </p:cNvPr>
            <p:cNvSpPr txBox="1"/>
            <p:nvPr/>
          </p:nvSpPr>
          <p:spPr>
            <a:xfrm>
              <a:off x="831800" y="-224826"/>
              <a:ext cx="14740793" cy="143629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600"/>
                </a:lnSpc>
              </a:pPr>
              <a:r>
                <a:rPr lang="en-US" sz="4800" b="1"/>
                <a:t>Supply Chain</a:t>
              </a:r>
              <a:endParaRPr lang="en-US" sz="4800" b="1">
                <a:solidFill>
                  <a:srgbClr val="000000"/>
                </a:solidFill>
                <a:latin typeface="+mj-lt"/>
                <a:ea typeface="Lora"/>
                <a:cs typeface="Lora"/>
                <a:sym typeface="Lora"/>
              </a:endParaRPr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309D97D-5674-6AE7-79C1-90B9B7D54567}"/>
              </a:ext>
            </a:extLst>
          </p:cNvPr>
          <p:cNvCxnSpPr>
            <a:cxnSpLocks/>
          </p:cNvCxnSpPr>
          <p:nvPr/>
        </p:nvCxnSpPr>
        <p:spPr>
          <a:xfrm>
            <a:off x="876300" y="1441867"/>
            <a:ext cx="10375900" cy="720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E2C8AAA-9F4B-16FE-EF73-0E44BA89F756}"/>
              </a:ext>
            </a:extLst>
          </p:cNvPr>
          <p:cNvSpPr/>
          <p:nvPr/>
        </p:nvSpPr>
        <p:spPr>
          <a:xfrm>
            <a:off x="641350" y="285750"/>
            <a:ext cx="10909300" cy="6286500"/>
          </a:xfrm>
          <a:prstGeom prst="roundRect">
            <a:avLst>
              <a:gd name="adj" fmla="val 228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2" descr="Download Free Digital society Icons in PNG &amp; SVG">
            <a:extLst>
              <a:ext uri="{FF2B5EF4-FFF2-40B4-BE49-F238E27FC236}">
                <a16:creationId xmlns:a16="http://schemas.microsoft.com/office/drawing/2014/main" id="{28C90275-18E3-EEF4-570F-D3168EB26B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1603" y="666124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6506C92-C1AF-92B9-E1DD-7174E0135338}"/>
              </a:ext>
            </a:extLst>
          </p:cNvPr>
          <p:cNvSpPr txBox="1"/>
          <p:nvPr/>
        </p:nvSpPr>
        <p:spPr>
          <a:xfrm>
            <a:off x="1042219" y="1892103"/>
            <a:ext cx="6440129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/>
              <a:t>Digital supply chain</a:t>
            </a:r>
            <a:r>
              <a:rPr lang="en-US" sz="2000"/>
              <a:t> based on data, technology, and cooperation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/>
              <a:t>Inputs:</a:t>
            </a:r>
            <a:r>
              <a:rPr lang="en-US" sz="2000"/>
              <a:t> traffic data, cloud infrastructure, software tools, developers, and AI specialists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/>
              <a:t>Processing:</a:t>
            </a:r>
            <a:r>
              <a:rPr lang="en-US" sz="2000"/>
              <a:t> raw data is cleaned, analyzed, and transformed by AI into traffic predictions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/>
              <a:t>Distribution:</a:t>
            </a:r>
            <a:r>
              <a:rPr lang="en-US" sz="2000"/>
              <a:t> results are delivered through web dashboards, mobile apps, and API integrations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/>
              <a:t>Users:</a:t>
            </a:r>
            <a:r>
              <a:rPr lang="en-US" sz="2000"/>
              <a:t> drivers, cities, transport operators, and logistics companies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/>
              <a:t>Benefits:</a:t>
            </a:r>
            <a:r>
              <a:rPr lang="en-US" sz="2000"/>
              <a:t> faster decisions, less congestion, lower fuel consumption, reduced emissions, and better urban planning</a:t>
            </a:r>
            <a:endParaRPr lang="uk-UA" sz="2000"/>
          </a:p>
        </p:txBody>
      </p:sp>
      <p:pic>
        <p:nvPicPr>
          <p:cNvPr id="13" name="Picture 12" descr="696 Smart City Traffic Management Stock Vectors and Vector Art |  Shutterstock">
            <a:extLst>
              <a:ext uri="{FF2B5EF4-FFF2-40B4-BE49-F238E27FC236}">
                <a16:creationId xmlns:a16="http://schemas.microsoft.com/office/drawing/2014/main" id="{B442FA95-8E98-FFAB-A2CF-9AC45F9D238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301" t="8803" r="5808" b="17834"/>
          <a:stretch>
            <a:fillRect/>
          </a:stretch>
        </p:blipFill>
        <p:spPr>
          <a:xfrm>
            <a:off x="6975353" y="2277740"/>
            <a:ext cx="4095770" cy="3085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5999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D5D7B-7A6E-7DC8-7C71-2B992C9AA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E578148A-8248-9229-20E7-6E6790E30DD7}"/>
              </a:ext>
            </a:extLst>
          </p:cNvPr>
          <p:cNvGrpSpPr/>
          <p:nvPr/>
        </p:nvGrpSpPr>
        <p:grpSpPr>
          <a:xfrm>
            <a:off x="2048803" y="573388"/>
            <a:ext cx="8933633" cy="1436291"/>
            <a:chOff x="831800" y="-224826"/>
            <a:chExt cx="15399332" cy="287258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EF2FEAE-0A36-E1EE-6AE9-1A0226CE35AA}"/>
                </a:ext>
              </a:extLst>
            </p:cNvPr>
            <p:cNvSpPr txBox="1"/>
            <p:nvPr/>
          </p:nvSpPr>
          <p:spPr>
            <a:xfrm>
              <a:off x="2015626" y="1881660"/>
              <a:ext cx="14215506" cy="5852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600"/>
                </a:lnSpc>
              </a:pPr>
              <a:endParaRPr sz="1200">
                <a:latin typeface="+mj-lt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E4DBABB-F041-072D-2B06-2DEDC93B322F}"/>
                </a:ext>
              </a:extLst>
            </p:cNvPr>
            <p:cNvSpPr txBox="1"/>
            <p:nvPr/>
          </p:nvSpPr>
          <p:spPr>
            <a:xfrm>
              <a:off x="831800" y="-224826"/>
              <a:ext cx="14740793" cy="287258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600"/>
                </a:lnSpc>
              </a:pPr>
              <a:r>
                <a:rPr lang="en-US" sz="4800" b="1">
                  <a:ea typeface="Nirand Bold"/>
                  <a:cs typeface="Nirand Bold"/>
                  <a:sym typeface="Nirand Bold"/>
                </a:rPr>
                <a:t>USER INTERFACE</a:t>
              </a:r>
            </a:p>
            <a:p>
              <a:pPr algn="ctr">
                <a:lnSpc>
                  <a:spcPts val="5600"/>
                </a:lnSpc>
              </a:pPr>
              <a:endParaRPr lang="en-US" sz="4800" b="1">
                <a:latin typeface="+mj-lt"/>
                <a:ea typeface="Lora"/>
                <a:cs typeface="Lora"/>
                <a:sym typeface="Lora"/>
              </a:endParaRPr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37DB5EC-EB10-6A03-DE55-E82A0EEB7241}"/>
              </a:ext>
            </a:extLst>
          </p:cNvPr>
          <p:cNvCxnSpPr>
            <a:cxnSpLocks/>
          </p:cNvCxnSpPr>
          <p:nvPr/>
        </p:nvCxnSpPr>
        <p:spPr>
          <a:xfrm>
            <a:off x="876300" y="1441867"/>
            <a:ext cx="10375900" cy="720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5FAEE5C-94D3-1F10-5338-48B219CA2303}"/>
              </a:ext>
            </a:extLst>
          </p:cNvPr>
          <p:cNvSpPr/>
          <p:nvPr/>
        </p:nvSpPr>
        <p:spPr>
          <a:xfrm>
            <a:off x="641350" y="285750"/>
            <a:ext cx="10909300" cy="6286500"/>
          </a:xfrm>
          <a:prstGeom prst="roundRect">
            <a:avLst>
              <a:gd name="adj" fmla="val 228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2" descr="Download Free Digital society Icons in PNG &amp; SVG">
            <a:extLst>
              <a:ext uri="{FF2B5EF4-FFF2-40B4-BE49-F238E27FC236}">
                <a16:creationId xmlns:a16="http://schemas.microsoft.com/office/drawing/2014/main" id="{25DBE2CD-7444-561A-7901-7C98D8C30F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1603" y="666124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4935FDC-1916-9E40-B7A3-2C48335EE3AA}"/>
              </a:ext>
            </a:extLst>
          </p:cNvPr>
          <p:cNvSpPr txBox="1"/>
          <p:nvPr/>
        </p:nvSpPr>
        <p:spPr>
          <a:xfrm>
            <a:off x="1260262" y="1999585"/>
            <a:ext cx="26989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/>
              <a:t>Interactive Map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2002C3-0DA8-E14B-17A5-F0DF014C8FD0}"/>
              </a:ext>
            </a:extLst>
          </p:cNvPr>
          <p:cNvSpPr txBox="1"/>
          <p:nvPr/>
        </p:nvSpPr>
        <p:spPr>
          <a:xfrm>
            <a:off x="1266450" y="2687036"/>
            <a:ext cx="26865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/>
              <a:t>Traffic Forecast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59BFCF-27C4-90F2-4340-10545290FBE6}"/>
              </a:ext>
            </a:extLst>
          </p:cNvPr>
          <p:cNvSpPr txBox="1"/>
          <p:nvPr/>
        </p:nvSpPr>
        <p:spPr>
          <a:xfrm>
            <a:off x="1260262" y="3378770"/>
            <a:ext cx="33520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/>
              <a:t>Alerts &amp; Notification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00298F-072B-8B3F-5D56-43276EF5E21F}"/>
              </a:ext>
            </a:extLst>
          </p:cNvPr>
          <p:cNvSpPr txBox="1"/>
          <p:nvPr/>
        </p:nvSpPr>
        <p:spPr>
          <a:xfrm>
            <a:off x="1266450" y="4119905"/>
            <a:ext cx="31295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/>
              <a:t>Route Suggestions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861683-4EAF-8EAD-28BB-66CBF8BAFB2F}"/>
              </a:ext>
            </a:extLst>
          </p:cNvPr>
          <p:cNvSpPr txBox="1"/>
          <p:nvPr/>
        </p:nvSpPr>
        <p:spPr>
          <a:xfrm>
            <a:off x="1266450" y="4865323"/>
            <a:ext cx="34486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/>
              <a:t>User-Friendly Design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A805E46-8953-D84D-717D-7E3E015608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2767" y="1832491"/>
            <a:ext cx="5137448" cy="437066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9185180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24047" y="603001"/>
            <a:ext cx="8343902" cy="862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4800" b="1">
                <a:solidFill>
                  <a:srgbClr val="000000"/>
                </a:solidFill>
                <a:latin typeface="+mj-lt"/>
                <a:ea typeface="Lora"/>
                <a:cs typeface="Lora"/>
                <a:sym typeface="Lora"/>
              </a:rPr>
              <a:t>THANK YOU FOR LISTENING!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17A544-4945-E01E-BE84-72993254B67B}"/>
              </a:ext>
            </a:extLst>
          </p:cNvPr>
          <p:cNvSpPr txBox="1"/>
          <p:nvPr/>
        </p:nvSpPr>
        <p:spPr>
          <a:xfrm>
            <a:off x="3047988" y="3144135"/>
            <a:ext cx="6032523" cy="17979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9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ea typeface="Lora Bold"/>
                <a:cs typeface="Lora Bold"/>
                <a:sym typeface="Lora Bold"/>
              </a:rPr>
              <a:t>team Smart Jam members :</a:t>
            </a:r>
          </a:p>
          <a:p>
            <a:pPr algn="ctr"/>
            <a:r>
              <a:rPr lang="sk-SK" sz="2400" b="1" err="1"/>
              <a:t>Faina</a:t>
            </a:r>
            <a:r>
              <a:rPr lang="sk-SK" sz="2400" b="1"/>
              <a:t> </a:t>
            </a:r>
            <a:r>
              <a:rPr lang="sk-SK" sz="2400" b="1" err="1"/>
              <a:t>Petrenko</a:t>
            </a:r>
            <a:br>
              <a:rPr lang="sk-SK" sz="2400"/>
            </a:br>
            <a:r>
              <a:rPr lang="sk-SK" sz="2400" b="1" err="1"/>
              <a:t>Mykola</a:t>
            </a:r>
            <a:r>
              <a:rPr lang="sk-SK" sz="2400" b="1"/>
              <a:t> </a:t>
            </a:r>
            <a:r>
              <a:rPr lang="sk-SK" sz="2400" b="1" err="1"/>
              <a:t>Beshynskyi</a:t>
            </a:r>
            <a:endParaRPr lang="en-US" sz="2400" b="1"/>
          </a:p>
          <a:p>
            <a:pPr algn="ctr"/>
            <a:r>
              <a:rPr lang="sk-SK" sz="2400" b="1"/>
              <a:t>Richard </a:t>
            </a:r>
            <a:r>
              <a:rPr lang="sk-SK" sz="2400" b="1" err="1"/>
              <a:t>Buko</a:t>
            </a:r>
            <a:br>
              <a:rPr lang="sk-SK" sz="2400"/>
            </a:br>
            <a:r>
              <a:rPr lang="sk-SK" sz="2400" b="1"/>
              <a:t>Dominik Gmitter</a:t>
            </a:r>
            <a:r>
              <a:rPr lang="en-US" sz="2400" b="1"/>
              <a:t> </a:t>
            </a:r>
            <a:endParaRPr lang="sk-SK" sz="2400" b="1"/>
          </a:p>
        </p:txBody>
      </p:sp>
      <p:sp>
        <p:nvSpPr>
          <p:cNvPr id="3" name="BlokTextu 2">
            <a:extLst>
              <a:ext uri="{FF2B5EF4-FFF2-40B4-BE49-F238E27FC236}">
                <a16:creationId xmlns:a16="http://schemas.microsoft.com/office/drawing/2014/main" id="{1A5C48DA-613F-E187-E6BF-61E90C3C79E6}"/>
              </a:ext>
            </a:extLst>
          </p:cNvPr>
          <p:cNvSpPr txBox="1"/>
          <p:nvPr/>
        </p:nvSpPr>
        <p:spPr>
          <a:xfrm>
            <a:off x="4822177" y="2744025"/>
            <a:ext cx="24841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2000">
                <a:hlinkClick r:id="rId2"/>
              </a:rPr>
              <a:t>team </a:t>
            </a:r>
            <a:r>
              <a:rPr lang="sk-SK" sz="2000" err="1">
                <a:hlinkClick r:id="rId2"/>
              </a:rPr>
              <a:t>Smart</a:t>
            </a:r>
            <a:r>
              <a:rPr lang="sk-SK" sz="2000">
                <a:hlinkClick r:id="rId2"/>
              </a:rPr>
              <a:t> </a:t>
            </a:r>
            <a:r>
              <a:rPr lang="sk-SK" sz="2000" err="1">
                <a:hlinkClick r:id="rId2"/>
              </a:rPr>
              <a:t>Jam</a:t>
            </a:r>
            <a:r>
              <a:rPr lang="sk-SK" sz="2000">
                <a:hlinkClick r:id="rId2"/>
              </a:rPr>
              <a:t> web</a:t>
            </a:r>
            <a:endParaRPr lang="sk-SK" sz="200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D29760F-911E-6E54-20E3-60A2CD21E367}"/>
              </a:ext>
            </a:extLst>
          </p:cNvPr>
          <p:cNvCxnSpPr>
            <a:cxnSpLocks/>
          </p:cNvCxnSpPr>
          <p:nvPr/>
        </p:nvCxnSpPr>
        <p:spPr>
          <a:xfrm>
            <a:off x="876300" y="1441867"/>
            <a:ext cx="10375900" cy="720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5700C75-327F-E99A-46D5-09D9F7E846C9}"/>
              </a:ext>
            </a:extLst>
          </p:cNvPr>
          <p:cNvSpPr/>
          <p:nvPr/>
        </p:nvSpPr>
        <p:spPr>
          <a:xfrm>
            <a:off x="641350" y="285750"/>
            <a:ext cx="10909300" cy="6286500"/>
          </a:xfrm>
          <a:prstGeom prst="roundRect">
            <a:avLst>
              <a:gd name="adj" fmla="val 228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3354" y="590551"/>
            <a:ext cx="2665292" cy="910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66"/>
              </a:lnSpc>
            </a:pPr>
            <a:r>
              <a:rPr lang="en-US" sz="4800" b="1">
                <a:latin typeface="+mj-lt"/>
                <a:ea typeface="Open Sans Bold"/>
                <a:cs typeface="Open Sans Bold"/>
                <a:sym typeface="Open Sans Bold"/>
              </a:rPr>
              <a:t>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17242"/>
            <a:ext cx="8420100" cy="28552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89397" lvl="1" indent="-244699">
              <a:lnSpc>
                <a:spcPts val="3173"/>
              </a:lnSpc>
              <a:buFont typeface="Arial"/>
              <a:buChar char="•"/>
            </a:pPr>
            <a:r>
              <a:rPr lang="en-US" sz="2400" u="sng">
                <a:solidFill>
                  <a:srgbClr val="2E6D6D"/>
                </a:solidFill>
                <a:latin typeface="+mj-lt"/>
                <a:ea typeface="Open Sans"/>
                <a:cs typeface="Open Sans"/>
                <a:sym typeface="Open Sans"/>
                <a:hlinkClick r:id="rId2" tooltip="https://www.kaggle.com/datasets/bwandowando/tomtom-traffic-data-55-countries-387-cities"/>
              </a:rPr>
              <a:t>Kaggle – dataset</a:t>
            </a:r>
          </a:p>
          <a:p>
            <a:pPr marL="489397" lvl="1" indent="-244699">
              <a:lnSpc>
                <a:spcPts val="3173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+mj-lt"/>
                <a:ea typeface="Montserrat"/>
                <a:cs typeface="Montserrat"/>
                <a:sym typeface="Montserrat"/>
                <a:hlinkClick r:id="rId3"/>
              </a:rPr>
              <a:t>HTTPS://WWW.PINTEREST.COM/PIN/1857741720916171/</a:t>
            </a:r>
            <a:endParaRPr lang="en-US" sz="2400">
              <a:solidFill>
                <a:srgbClr val="000000"/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 marL="489397" lvl="1" indent="-244699">
              <a:lnSpc>
                <a:spcPts val="3173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+mj-lt"/>
                <a:ea typeface="Montserrat"/>
                <a:cs typeface="Montserrat"/>
                <a:sym typeface="Montserrat"/>
                <a:hlinkClick r:id="rId4"/>
              </a:rPr>
              <a:t>HTTPS://WWW.TOMTOM.COM/SOLUTIONS/GOVERNMENT-AND-PUBLIC-SECTOR/</a:t>
            </a:r>
            <a:endParaRPr lang="en-US" sz="2400">
              <a:solidFill>
                <a:srgbClr val="000000"/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 marL="489397" lvl="1" indent="-244699">
              <a:lnSpc>
                <a:spcPts val="3173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+mj-lt"/>
                <a:ea typeface="Montserrat"/>
                <a:cs typeface="Montserrat"/>
                <a:sym typeface="Montserrat"/>
              </a:rPr>
              <a:t>MA DOKUMENTS</a:t>
            </a:r>
          </a:p>
          <a:p>
            <a:pPr marL="489397" lvl="1" indent="-244699">
              <a:lnSpc>
                <a:spcPts val="3173"/>
              </a:lnSpc>
              <a:buFont typeface="Arial"/>
              <a:buChar char="•"/>
            </a:pPr>
            <a:r>
              <a:rPr lang="en-US" sz="2400" err="1">
                <a:solidFill>
                  <a:srgbClr val="000000"/>
                </a:solidFill>
                <a:latin typeface="+mj-lt"/>
                <a:ea typeface="Montserrat"/>
                <a:cs typeface="Montserrat"/>
                <a:sym typeface="Montserrat"/>
              </a:rPr>
              <a:t>FlatIcon</a:t>
            </a:r>
            <a:r>
              <a:rPr lang="en-US" sz="2400">
                <a:solidFill>
                  <a:srgbClr val="000000"/>
                </a:solidFill>
                <a:latin typeface="+mj-lt"/>
                <a:ea typeface="Montserrat"/>
                <a:cs typeface="Montserrat"/>
                <a:sym typeface="Montserrat"/>
              </a:rPr>
              <a:t> icons</a:t>
            </a:r>
            <a:endParaRPr lang="sk-SK" sz="2400">
              <a:solidFill>
                <a:srgbClr val="000000"/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 marL="489397" lvl="1" indent="-244699">
              <a:lnSpc>
                <a:spcPts val="3173"/>
              </a:lnSpc>
              <a:buFont typeface="Arial"/>
              <a:buChar char="•"/>
            </a:pPr>
            <a:r>
              <a:rPr lang="sk-SK" sz="2400" err="1">
                <a:solidFill>
                  <a:srgbClr val="000000"/>
                </a:solidFill>
                <a:latin typeface="+mj-lt"/>
                <a:ea typeface="Montserrat"/>
                <a:cs typeface="Montserrat"/>
                <a:sym typeface="Montserrat"/>
              </a:rPr>
              <a:t>Freepik</a:t>
            </a:r>
            <a:r>
              <a:rPr lang="sk-SK" sz="2400">
                <a:solidFill>
                  <a:srgbClr val="000000"/>
                </a:solidFill>
                <a:latin typeface="+mj-lt"/>
                <a:ea typeface="Montserrat"/>
                <a:cs typeface="Montserrat"/>
                <a:sym typeface="Montserrat"/>
              </a:rPr>
              <a:t> </a:t>
            </a:r>
            <a:r>
              <a:rPr lang="sk-SK" sz="2400" err="1">
                <a:solidFill>
                  <a:srgbClr val="000000"/>
                </a:solidFill>
                <a:latin typeface="+mj-lt"/>
                <a:ea typeface="Montserrat"/>
                <a:cs typeface="Montserrat"/>
                <a:sym typeface="Montserrat"/>
              </a:rPr>
              <a:t>icons</a:t>
            </a:r>
            <a:endParaRPr lang="en-US" sz="2400">
              <a:solidFill>
                <a:srgbClr val="000000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BlokTextu 2">
            <a:extLst>
              <a:ext uri="{FF2B5EF4-FFF2-40B4-BE49-F238E27FC236}">
                <a16:creationId xmlns:a16="http://schemas.microsoft.com/office/drawing/2014/main" id="{8E79D043-A3B2-4416-E610-A9DE567E1646}"/>
              </a:ext>
            </a:extLst>
          </p:cNvPr>
          <p:cNvSpPr txBox="1"/>
          <p:nvPr/>
        </p:nvSpPr>
        <p:spPr>
          <a:xfrm>
            <a:off x="9643608" y="6457890"/>
            <a:ext cx="44227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2000">
                <a:hlinkClick r:id="rId5"/>
              </a:rPr>
              <a:t>team </a:t>
            </a:r>
            <a:r>
              <a:rPr lang="sk-SK" sz="2000" err="1">
                <a:hlinkClick r:id="rId5"/>
              </a:rPr>
              <a:t>Smart</a:t>
            </a:r>
            <a:r>
              <a:rPr lang="sk-SK" sz="2000">
                <a:hlinkClick r:id="rId5"/>
              </a:rPr>
              <a:t> </a:t>
            </a:r>
            <a:r>
              <a:rPr lang="sk-SK" sz="2000" err="1">
                <a:hlinkClick r:id="rId5"/>
              </a:rPr>
              <a:t>Jam</a:t>
            </a:r>
            <a:r>
              <a:rPr lang="sk-SK" sz="2000">
                <a:hlinkClick r:id="rId5"/>
              </a:rPr>
              <a:t> web</a:t>
            </a:r>
            <a:endParaRPr lang="sk-SK" sz="200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9799765-E880-49B7-FA07-CDE8817A14F8}"/>
              </a:ext>
            </a:extLst>
          </p:cNvPr>
          <p:cNvCxnSpPr>
            <a:cxnSpLocks/>
          </p:cNvCxnSpPr>
          <p:nvPr/>
        </p:nvCxnSpPr>
        <p:spPr>
          <a:xfrm>
            <a:off x="876300" y="1441867"/>
            <a:ext cx="10375900" cy="720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D3DEB10-6734-A17E-63DF-A458DEAC76BB}"/>
              </a:ext>
            </a:extLst>
          </p:cNvPr>
          <p:cNvSpPr/>
          <p:nvPr/>
        </p:nvSpPr>
        <p:spPr>
          <a:xfrm>
            <a:off x="641350" y="285750"/>
            <a:ext cx="10909300" cy="6286500"/>
          </a:xfrm>
          <a:prstGeom prst="roundRect">
            <a:avLst>
              <a:gd name="adj" fmla="val 228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966976DBC9AAA47A05E4A65DDBEC7FB" ma:contentTypeVersion="11" ma:contentTypeDescription="Umožňuje vytvoriť nový dokument." ma:contentTypeScope="" ma:versionID="faaa89fb2b1eba1b03fe497f209c8862">
  <xsd:schema xmlns:xsd="http://www.w3.org/2001/XMLSchema" xmlns:xs="http://www.w3.org/2001/XMLSchema" xmlns:p="http://schemas.microsoft.com/office/2006/metadata/properties" xmlns:ns2="2db9014a-3b2f-44de-b218-a09f7e6c54e1" xmlns:ns3="7e0021a3-bf35-44bf-af08-2ada5449fa87" targetNamespace="http://schemas.microsoft.com/office/2006/metadata/properties" ma:root="true" ma:fieldsID="673aef51e6ba6688114eb18afaa7fc60" ns2:_="" ns3:_="">
    <xsd:import namespace="2db9014a-3b2f-44de-b218-a09f7e6c54e1"/>
    <xsd:import namespace="7e0021a3-bf35-44bf-af08-2ada5449fa87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b9014a-3b2f-44de-b218-a09f7e6c54e1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Značky obrázka" ma:readOnly="false" ma:fieldId="{5cf76f15-5ced-4ddc-b409-7134ff3c332f}" ma:taxonomyMulti="true" ma:sspId="abd44fc1-b512-40ba-a72c-fa16cc8c0a4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0021a3-bf35-44bf-af08-2ada5449fa87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8075350f-c7b8-453e-a50c-5faf2ffcfb51}" ma:internalName="TaxCatchAll" ma:showField="CatchAllData" ma:web="7e0021a3-bf35-44bf-af08-2ada5449fa8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2db9014a-3b2f-44de-b218-a09f7e6c54e1" xsi:nil="true"/>
    <TaxCatchAll xmlns="7e0021a3-bf35-44bf-af08-2ada5449fa87" xsi:nil="true"/>
    <lcf76f155ced4ddcb4097134ff3c332f xmlns="2db9014a-3b2f-44de-b218-a09f7e6c54e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2787425-E799-4192-8736-DFE51E50C3A9}">
  <ds:schemaRefs>
    <ds:schemaRef ds:uri="2db9014a-3b2f-44de-b218-a09f7e6c54e1"/>
    <ds:schemaRef ds:uri="7e0021a3-bf35-44bf-af08-2ada5449fa8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6036F770-D998-43EA-BC73-6240062F558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896DBAF-6CA5-4A0D-945D-BCD733D80F48}">
  <ds:schemaRefs>
    <ds:schemaRef ds:uri="2db9014a-3b2f-44de-b218-a09f7e6c54e1"/>
    <ds:schemaRef ds:uri="7e0021a3-bf35-44bf-af08-2ada5449fa8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Širokouhlá</PresentationFormat>
  <Slides>21</Slides>
  <Notes>1</Notes>
  <HiddenSlides>0</HiddenSlides>
  <ScaleCrop>false</ScaleCrop>
  <HeadingPairs>
    <vt:vector size="4" baseType="variant">
      <vt:variant>
        <vt:lpstr>Motív</vt:lpstr>
      </vt:variant>
      <vt:variant>
        <vt:i4>1</vt:i4>
      </vt:variant>
      <vt:variant>
        <vt:lpstr>Nadpisy snímok</vt:lpstr>
      </vt:variant>
      <vt:variant>
        <vt:i4>21</vt:i4>
      </vt:variant>
    </vt:vector>
  </HeadingPairs>
  <TitlesOfParts>
    <vt:vector size="22" baseType="lpstr">
      <vt:lpstr>Motív Office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Congestion levels</vt:lpstr>
      <vt:lpstr>From data to predictions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 -pc</dc:creator>
  <cp:revision>2</cp:revision>
  <dcterms:created xsi:type="dcterms:W3CDTF">2026-04-09T19:59:31Z</dcterms:created>
  <dcterms:modified xsi:type="dcterms:W3CDTF">2026-05-10T23:32:35Z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0x0101001966976DBC9AAA47A05E4A65DDBEC7FB</vt:lpwstr>
  </property>
</Properties>
</file>