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sldIdLst>
    <p:sldId id="256" r:id="rId5"/>
    <p:sldId id="313" r:id="rId6"/>
    <p:sldId id="322" r:id="rId7"/>
    <p:sldId id="315" r:id="rId8"/>
    <p:sldId id="316" r:id="rId9"/>
    <p:sldId id="317" r:id="rId10"/>
    <p:sldId id="282" r:id="rId11"/>
    <p:sldId id="318" r:id="rId12"/>
    <p:sldId id="319" r:id="rId13"/>
    <p:sldId id="320" r:id="rId14"/>
    <p:sldId id="321" r:id="rId15"/>
    <p:sldId id="288" r:id="rId16"/>
    <p:sldId id="289" r:id="rId17"/>
    <p:sldId id="290" r:id="rId18"/>
    <p:sldId id="292" r:id="rId19"/>
    <p:sldId id="291" r:id="rId20"/>
    <p:sldId id="293" r:id="rId21"/>
    <p:sldId id="308" r:id="rId22"/>
    <p:sldId id="309" r:id="rId23"/>
    <p:sldId id="310" r:id="rId24"/>
    <p:sldId id="323" r:id="rId25"/>
    <p:sldId id="311" r:id="rId26"/>
    <p:sldId id="324" r:id="rId27"/>
    <p:sldId id="325" r:id="rId28"/>
    <p:sldId id="312" r:id="rId29"/>
    <p:sldId id="295" r:id="rId30"/>
    <p:sldId id="297" r:id="rId31"/>
    <p:sldId id="298" r:id="rId32"/>
    <p:sldId id="299" r:id="rId33"/>
    <p:sldId id="258" r:id="rId34"/>
    <p:sldId id="264" r:id="rId35"/>
    <p:sldId id="273" r:id="rId36"/>
    <p:sldId id="275" r:id="rId37"/>
    <p:sldId id="277" r:id="rId38"/>
    <p:sldId id="278" r:id="rId39"/>
    <p:sldId id="274" r:id="rId40"/>
    <p:sldId id="276" r:id="rId41"/>
    <p:sldId id="279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281" r:id="rId5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54" y="2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55387F-5C76-4E47-8A59-EC86EB9134F4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96610F30-10E9-4615-844F-B77291089ABA}">
      <dgm:prSet phldrT="[Text]"/>
      <dgm:spPr/>
      <dgm:t>
        <a:bodyPr/>
        <a:lstStyle/>
        <a:p>
          <a:r>
            <a:rPr lang="en-US" b="1" dirty="0">
              <a:ea typeface="TT Chocolates"/>
              <a:cs typeface="TT Chocolates"/>
              <a:sym typeface="TT Chocolates"/>
            </a:rPr>
            <a:t>Raw traffic data </a:t>
          </a:r>
          <a:endParaRPr lang="en-GB" dirty="0"/>
        </a:p>
      </dgm:t>
    </dgm:pt>
    <dgm:pt modelId="{1CC2EEEB-59C5-4C3C-AC48-F6D30B3DB357}" type="parTrans" cxnId="{31B07B5C-7B2E-46C0-AF66-4C3D44ECABED}">
      <dgm:prSet/>
      <dgm:spPr/>
      <dgm:t>
        <a:bodyPr/>
        <a:lstStyle/>
        <a:p>
          <a:endParaRPr lang="en-GB"/>
        </a:p>
      </dgm:t>
    </dgm:pt>
    <dgm:pt modelId="{F7FCBACB-7886-49C0-8B87-46A4FBD28337}" type="sibTrans" cxnId="{31B07B5C-7B2E-46C0-AF66-4C3D44ECABED}">
      <dgm:prSet/>
      <dgm:spPr/>
      <dgm:t>
        <a:bodyPr/>
        <a:lstStyle/>
        <a:p>
          <a:endParaRPr lang="en-GB"/>
        </a:p>
      </dgm:t>
    </dgm:pt>
    <dgm:pt modelId="{ECE3374D-3FEC-4278-8422-E5961632D7E5}">
      <dgm:prSet/>
      <dgm:spPr/>
      <dgm:t>
        <a:bodyPr/>
        <a:lstStyle/>
        <a:p>
          <a:r>
            <a:rPr lang="en-US" b="1">
              <a:ea typeface="TT Chocolates"/>
              <a:cs typeface="TT Chocolates"/>
              <a:sym typeface="TT Chocolates"/>
            </a:rPr>
            <a:t>actionable insight </a:t>
          </a:r>
          <a:endParaRPr lang="en-GB"/>
        </a:p>
      </dgm:t>
    </dgm:pt>
    <dgm:pt modelId="{395CDA44-AA36-45D9-B543-96C44F378C05}" type="parTrans" cxnId="{71F41EE7-0067-4E31-BF3C-80CA93A52E08}">
      <dgm:prSet/>
      <dgm:spPr/>
      <dgm:t>
        <a:bodyPr/>
        <a:lstStyle/>
        <a:p>
          <a:endParaRPr lang="en-GB"/>
        </a:p>
      </dgm:t>
    </dgm:pt>
    <dgm:pt modelId="{30F909A7-C483-4DA1-A2D3-CE6E77BECDB8}" type="sibTrans" cxnId="{71F41EE7-0067-4E31-BF3C-80CA93A52E08}">
      <dgm:prSet/>
      <dgm:spPr/>
      <dgm:t>
        <a:bodyPr/>
        <a:lstStyle/>
        <a:p>
          <a:endParaRPr lang="en-GB"/>
        </a:p>
      </dgm:t>
    </dgm:pt>
    <dgm:pt modelId="{070E7E90-92ED-4FBF-922F-64427163567B}">
      <dgm:prSet/>
      <dgm:spPr/>
      <dgm:t>
        <a:bodyPr/>
        <a:lstStyle/>
        <a:p>
          <a:r>
            <a:rPr lang="en-US" b="1">
              <a:ea typeface="TT Chocolates"/>
              <a:cs typeface="TT Chocolates"/>
              <a:sym typeface="TT Chocolates"/>
            </a:rPr>
            <a:t>less congestion </a:t>
          </a:r>
          <a:endParaRPr lang="en-GB"/>
        </a:p>
      </dgm:t>
    </dgm:pt>
    <dgm:pt modelId="{AA559F35-BCA8-4055-80EE-914AD3174712}" type="parTrans" cxnId="{55839246-0025-4C98-87F8-E009C6DB19A7}">
      <dgm:prSet/>
      <dgm:spPr/>
      <dgm:t>
        <a:bodyPr/>
        <a:lstStyle/>
        <a:p>
          <a:endParaRPr lang="en-GB"/>
        </a:p>
      </dgm:t>
    </dgm:pt>
    <dgm:pt modelId="{88374174-8888-4372-8396-78373107CC97}" type="sibTrans" cxnId="{55839246-0025-4C98-87F8-E009C6DB19A7}">
      <dgm:prSet/>
      <dgm:spPr/>
      <dgm:t>
        <a:bodyPr/>
        <a:lstStyle/>
        <a:p>
          <a:endParaRPr lang="en-GB"/>
        </a:p>
      </dgm:t>
    </dgm:pt>
    <dgm:pt modelId="{AB0A95F4-9782-4613-A06F-26AF6E5A1A7A}">
      <dgm:prSet/>
      <dgm:spPr/>
      <dgm:t>
        <a:bodyPr/>
        <a:lstStyle/>
        <a:p>
          <a:r>
            <a:rPr lang="en-US" b="1">
              <a:ea typeface="TT Chocolates"/>
              <a:cs typeface="TT Chocolates"/>
              <a:sym typeface="TT Chocolates"/>
            </a:rPr>
            <a:t>smarter city movement.</a:t>
          </a:r>
          <a:endParaRPr lang="en-US" b="1" dirty="0">
            <a:ea typeface="TT Chocolates"/>
            <a:cs typeface="TT Chocolates"/>
            <a:sym typeface="TT Chocolates"/>
          </a:endParaRPr>
        </a:p>
      </dgm:t>
    </dgm:pt>
    <dgm:pt modelId="{FD05F32A-AD4A-42E4-936B-5D078638A967}" type="parTrans" cxnId="{06F9369B-D592-4152-B724-499FEF219E3F}">
      <dgm:prSet/>
      <dgm:spPr/>
      <dgm:t>
        <a:bodyPr/>
        <a:lstStyle/>
        <a:p>
          <a:endParaRPr lang="en-GB"/>
        </a:p>
      </dgm:t>
    </dgm:pt>
    <dgm:pt modelId="{0020D38A-99F6-4A7F-9A16-C0337FF0F6A8}" type="sibTrans" cxnId="{06F9369B-D592-4152-B724-499FEF219E3F}">
      <dgm:prSet/>
      <dgm:spPr/>
      <dgm:t>
        <a:bodyPr/>
        <a:lstStyle/>
        <a:p>
          <a:endParaRPr lang="en-GB"/>
        </a:p>
      </dgm:t>
    </dgm:pt>
    <dgm:pt modelId="{8E60AA1C-61F8-4040-88B3-8765F2BB53CB}" type="pres">
      <dgm:prSet presAssocID="{3455387F-5C76-4E47-8A59-EC86EB9134F4}" presName="outerComposite" presStyleCnt="0">
        <dgm:presLayoutVars>
          <dgm:chMax val="5"/>
          <dgm:dir/>
          <dgm:resizeHandles val="exact"/>
        </dgm:presLayoutVars>
      </dgm:prSet>
      <dgm:spPr/>
    </dgm:pt>
    <dgm:pt modelId="{89A716DA-883C-4880-83A7-733CC855DD99}" type="pres">
      <dgm:prSet presAssocID="{3455387F-5C76-4E47-8A59-EC86EB9134F4}" presName="dummyMaxCanvas" presStyleCnt="0">
        <dgm:presLayoutVars/>
      </dgm:prSet>
      <dgm:spPr/>
    </dgm:pt>
    <dgm:pt modelId="{261A93B9-3CAC-4187-B2A5-F48E0D9DE5CA}" type="pres">
      <dgm:prSet presAssocID="{3455387F-5C76-4E47-8A59-EC86EB9134F4}" presName="FourNodes_1" presStyleLbl="node1" presStyleIdx="0" presStyleCnt="4">
        <dgm:presLayoutVars>
          <dgm:bulletEnabled val="1"/>
        </dgm:presLayoutVars>
      </dgm:prSet>
      <dgm:spPr/>
    </dgm:pt>
    <dgm:pt modelId="{F4AF3DDA-2BBB-4299-B79D-534C44ABD81A}" type="pres">
      <dgm:prSet presAssocID="{3455387F-5C76-4E47-8A59-EC86EB9134F4}" presName="FourNodes_2" presStyleLbl="node1" presStyleIdx="1" presStyleCnt="4">
        <dgm:presLayoutVars>
          <dgm:bulletEnabled val="1"/>
        </dgm:presLayoutVars>
      </dgm:prSet>
      <dgm:spPr/>
    </dgm:pt>
    <dgm:pt modelId="{1F906709-E47D-45D4-9A7A-D79832001129}" type="pres">
      <dgm:prSet presAssocID="{3455387F-5C76-4E47-8A59-EC86EB9134F4}" presName="FourNodes_3" presStyleLbl="node1" presStyleIdx="2" presStyleCnt="4">
        <dgm:presLayoutVars>
          <dgm:bulletEnabled val="1"/>
        </dgm:presLayoutVars>
      </dgm:prSet>
      <dgm:spPr/>
    </dgm:pt>
    <dgm:pt modelId="{3B88FFA9-1B06-4CDA-AC07-E3B5010A21E0}" type="pres">
      <dgm:prSet presAssocID="{3455387F-5C76-4E47-8A59-EC86EB9134F4}" presName="FourNodes_4" presStyleLbl="node1" presStyleIdx="3" presStyleCnt="4">
        <dgm:presLayoutVars>
          <dgm:bulletEnabled val="1"/>
        </dgm:presLayoutVars>
      </dgm:prSet>
      <dgm:spPr/>
    </dgm:pt>
    <dgm:pt modelId="{5129885D-8356-4907-B609-09E4A00981A0}" type="pres">
      <dgm:prSet presAssocID="{3455387F-5C76-4E47-8A59-EC86EB9134F4}" presName="FourConn_1-2" presStyleLbl="fgAccFollowNode1" presStyleIdx="0" presStyleCnt="3">
        <dgm:presLayoutVars>
          <dgm:bulletEnabled val="1"/>
        </dgm:presLayoutVars>
      </dgm:prSet>
      <dgm:spPr/>
    </dgm:pt>
    <dgm:pt modelId="{74AAD815-CC04-4BFA-90ED-A89408DA0F50}" type="pres">
      <dgm:prSet presAssocID="{3455387F-5C76-4E47-8A59-EC86EB9134F4}" presName="FourConn_2-3" presStyleLbl="fgAccFollowNode1" presStyleIdx="1" presStyleCnt="3">
        <dgm:presLayoutVars>
          <dgm:bulletEnabled val="1"/>
        </dgm:presLayoutVars>
      </dgm:prSet>
      <dgm:spPr/>
    </dgm:pt>
    <dgm:pt modelId="{A8DF51BE-1983-4812-A719-4A0069CE7DC8}" type="pres">
      <dgm:prSet presAssocID="{3455387F-5C76-4E47-8A59-EC86EB9134F4}" presName="FourConn_3-4" presStyleLbl="fgAccFollowNode1" presStyleIdx="2" presStyleCnt="3">
        <dgm:presLayoutVars>
          <dgm:bulletEnabled val="1"/>
        </dgm:presLayoutVars>
      </dgm:prSet>
      <dgm:spPr/>
    </dgm:pt>
    <dgm:pt modelId="{17079CD1-BACB-4C49-88F6-826B227337B5}" type="pres">
      <dgm:prSet presAssocID="{3455387F-5C76-4E47-8A59-EC86EB9134F4}" presName="FourNodes_1_text" presStyleLbl="node1" presStyleIdx="3" presStyleCnt="4">
        <dgm:presLayoutVars>
          <dgm:bulletEnabled val="1"/>
        </dgm:presLayoutVars>
      </dgm:prSet>
      <dgm:spPr/>
    </dgm:pt>
    <dgm:pt modelId="{8DDFB469-962D-4DF5-B9E4-934FF69344A3}" type="pres">
      <dgm:prSet presAssocID="{3455387F-5C76-4E47-8A59-EC86EB9134F4}" presName="FourNodes_2_text" presStyleLbl="node1" presStyleIdx="3" presStyleCnt="4">
        <dgm:presLayoutVars>
          <dgm:bulletEnabled val="1"/>
        </dgm:presLayoutVars>
      </dgm:prSet>
      <dgm:spPr/>
    </dgm:pt>
    <dgm:pt modelId="{227FDCAB-BA88-4693-87BE-818F9558E142}" type="pres">
      <dgm:prSet presAssocID="{3455387F-5C76-4E47-8A59-EC86EB9134F4}" presName="FourNodes_3_text" presStyleLbl="node1" presStyleIdx="3" presStyleCnt="4">
        <dgm:presLayoutVars>
          <dgm:bulletEnabled val="1"/>
        </dgm:presLayoutVars>
      </dgm:prSet>
      <dgm:spPr/>
    </dgm:pt>
    <dgm:pt modelId="{627EAED2-291B-45EA-BDB1-986B4CA5CD30}" type="pres">
      <dgm:prSet presAssocID="{3455387F-5C76-4E47-8A59-EC86EB9134F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E57F210-9EA3-4B37-8A08-0D75076E136E}" type="presOf" srcId="{AB0A95F4-9782-4613-A06F-26AF6E5A1A7A}" destId="{627EAED2-291B-45EA-BDB1-986B4CA5CD30}" srcOrd="1" destOrd="0" presId="urn:microsoft.com/office/officeart/2005/8/layout/vProcess5"/>
    <dgm:cxn modelId="{85E98B15-C85F-4F3D-8A38-1C2A6ADF2343}" type="presOf" srcId="{070E7E90-92ED-4FBF-922F-64427163567B}" destId="{227FDCAB-BA88-4693-87BE-818F9558E142}" srcOrd="1" destOrd="0" presId="urn:microsoft.com/office/officeart/2005/8/layout/vProcess5"/>
    <dgm:cxn modelId="{7977061F-E434-4007-AE9E-3731187AD7BE}" type="presOf" srcId="{ECE3374D-3FEC-4278-8422-E5961632D7E5}" destId="{F4AF3DDA-2BBB-4299-B79D-534C44ABD81A}" srcOrd="0" destOrd="0" presId="urn:microsoft.com/office/officeart/2005/8/layout/vProcess5"/>
    <dgm:cxn modelId="{DA2D5E36-F1E7-4DBD-85CD-98A72C20F41F}" type="presOf" srcId="{30F909A7-C483-4DA1-A2D3-CE6E77BECDB8}" destId="{74AAD815-CC04-4BFA-90ED-A89408DA0F50}" srcOrd="0" destOrd="0" presId="urn:microsoft.com/office/officeart/2005/8/layout/vProcess5"/>
    <dgm:cxn modelId="{31B07B5C-7B2E-46C0-AF66-4C3D44ECABED}" srcId="{3455387F-5C76-4E47-8A59-EC86EB9134F4}" destId="{96610F30-10E9-4615-844F-B77291089ABA}" srcOrd="0" destOrd="0" parTransId="{1CC2EEEB-59C5-4C3C-AC48-F6D30B3DB357}" sibTransId="{F7FCBACB-7886-49C0-8B87-46A4FBD28337}"/>
    <dgm:cxn modelId="{B21E2644-9849-481E-8790-27069DC3A913}" type="presOf" srcId="{3455387F-5C76-4E47-8A59-EC86EB9134F4}" destId="{8E60AA1C-61F8-4040-88B3-8765F2BB53CB}" srcOrd="0" destOrd="0" presId="urn:microsoft.com/office/officeart/2005/8/layout/vProcess5"/>
    <dgm:cxn modelId="{55839246-0025-4C98-87F8-E009C6DB19A7}" srcId="{3455387F-5C76-4E47-8A59-EC86EB9134F4}" destId="{070E7E90-92ED-4FBF-922F-64427163567B}" srcOrd="2" destOrd="0" parTransId="{AA559F35-BCA8-4055-80EE-914AD3174712}" sibTransId="{88374174-8888-4372-8396-78373107CC97}"/>
    <dgm:cxn modelId="{694E9566-E9FA-47D2-94E2-01BC26AFA0FD}" type="presOf" srcId="{96610F30-10E9-4615-844F-B77291089ABA}" destId="{261A93B9-3CAC-4187-B2A5-F48E0D9DE5CA}" srcOrd="0" destOrd="0" presId="urn:microsoft.com/office/officeart/2005/8/layout/vProcess5"/>
    <dgm:cxn modelId="{1130BF78-1D77-4E38-90D8-415C84B73CBF}" type="presOf" srcId="{ECE3374D-3FEC-4278-8422-E5961632D7E5}" destId="{8DDFB469-962D-4DF5-B9E4-934FF69344A3}" srcOrd="1" destOrd="0" presId="urn:microsoft.com/office/officeart/2005/8/layout/vProcess5"/>
    <dgm:cxn modelId="{AA074598-3793-43AC-BC59-160929FE00EF}" type="presOf" srcId="{96610F30-10E9-4615-844F-B77291089ABA}" destId="{17079CD1-BACB-4C49-88F6-826B227337B5}" srcOrd="1" destOrd="0" presId="urn:microsoft.com/office/officeart/2005/8/layout/vProcess5"/>
    <dgm:cxn modelId="{06F9369B-D592-4152-B724-499FEF219E3F}" srcId="{3455387F-5C76-4E47-8A59-EC86EB9134F4}" destId="{AB0A95F4-9782-4613-A06F-26AF6E5A1A7A}" srcOrd="3" destOrd="0" parTransId="{FD05F32A-AD4A-42E4-936B-5D078638A967}" sibTransId="{0020D38A-99F6-4A7F-9A16-C0337FF0F6A8}"/>
    <dgm:cxn modelId="{9BE394B2-6EEE-4E4D-8B96-ECC94BD2D63C}" type="presOf" srcId="{070E7E90-92ED-4FBF-922F-64427163567B}" destId="{1F906709-E47D-45D4-9A7A-D79832001129}" srcOrd="0" destOrd="0" presId="urn:microsoft.com/office/officeart/2005/8/layout/vProcess5"/>
    <dgm:cxn modelId="{A46886B4-F947-425F-AF7F-5B923C9E5811}" type="presOf" srcId="{88374174-8888-4372-8396-78373107CC97}" destId="{A8DF51BE-1983-4812-A719-4A0069CE7DC8}" srcOrd="0" destOrd="0" presId="urn:microsoft.com/office/officeart/2005/8/layout/vProcess5"/>
    <dgm:cxn modelId="{C31814BD-CE99-41F0-BC64-2142AB630D1C}" type="presOf" srcId="{F7FCBACB-7886-49C0-8B87-46A4FBD28337}" destId="{5129885D-8356-4907-B609-09E4A00981A0}" srcOrd="0" destOrd="0" presId="urn:microsoft.com/office/officeart/2005/8/layout/vProcess5"/>
    <dgm:cxn modelId="{5326D5C3-7F22-4CA9-B705-81E84D6F3E58}" type="presOf" srcId="{AB0A95F4-9782-4613-A06F-26AF6E5A1A7A}" destId="{3B88FFA9-1B06-4CDA-AC07-E3B5010A21E0}" srcOrd="0" destOrd="0" presId="urn:microsoft.com/office/officeart/2005/8/layout/vProcess5"/>
    <dgm:cxn modelId="{71F41EE7-0067-4E31-BF3C-80CA93A52E08}" srcId="{3455387F-5C76-4E47-8A59-EC86EB9134F4}" destId="{ECE3374D-3FEC-4278-8422-E5961632D7E5}" srcOrd="1" destOrd="0" parTransId="{395CDA44-AA36-45D9-B543-96C44F378C05}" sibTransId="{30F909A7-C483-4DA1-A2D3-CE6E77BECDB8}"/>
    <dgm:cxn modelId="{E0CDBBD9-FB92-4062-A5BC-E37C6A447E59}" type="presParOf" srcId="{8E60AA1C-61F8-4040-88B3-8765F2BB53CB}" destId="{89A716DA-883C-4880-83A7-733CC855DD99}" srcOrd="0" destOrd="0" presId="urn:microsoft.com/office/officeart/2005/8/layout/vProcess5"/>
    <dgm:cxn modelId="{C84B8AD6-877D-4A17-8B3A-0A1E00007F6F}" type="presParOf" srcId="{8E60AA1C-61F8-4040-88B3-8765F2BB53CB}" destId="{261A93B9-3CAC-4187-B2A5-F48E0D9DE5CA}" srcOrd="1" destOrd="0" presId="urn:microsoft.com/office/officeart/2005/8/layout/vProcess5"/>
    <dgm:cxn modelId="{F0D45C2E-71E0-4EE7-8BF6-32182BE76255}" type="presParOf" srcId="{8E60AA1C-61F8-4040-88B3-8765F2BB53CB}" destId="{F4AF3DDA-2BBB-4299-B79D-534C44ABD81A}" srcOrd="2" destOrd="0" presId="urn:microsoft.com/office/officeart/2005/8/layout/vProcess5"/>
    <dgm:cxn modelId="{67373580-CC68-44BB-919E-174B2F3187AB}" type="presParOf" srcId="{8E60AA1C-61F8-4040-88B3-8765F2BB53CB}" destId="{1F906709-E47D-45D4-9A7A-D79832001129}" srcOrd="3" destOrd="0" presId="urn:microsoft.com/office/officeart/2005/8/layout/vProcess5"/>
    <dgm:cxn modelId="{6507637F-1DFB-48FB-8610-99B7FC9F49D0}" type="presParOf" srcId="{8E60AA1C-61F8-4040-88B3-8765F2BB53CB}" destId="{3B88FFA9-1B06-4CDA-AC07-E3B5010A21E0}" srcOrd="4" destOrd="0" presId="urn:microsoft.com/office/officeart/2005/8/layout/vProcess5"/>
    <dgm:cxn modelId="{B935DA67-DA07-4F9A-BFF6-EB4EC36ECFB0}" type="presParOf" srcId="{8E60AA1C-61F8-4040-88B3-8765F2BB53CB}" destId="{5129885D-8356-4907-B609-09E4A00981A0}" srcOrd="5" destOrd="0" presId="urn:microsoft.com/office/officeart/2005/8/layout/vProcess5"/>
    <dgm:cxn modelId="{89B78094-7116-4EC5-B15F-6EAD5B5ABC61}" type="presParOf" srcId="{8E60AA1C-61F8-4040-88B3-8765F2BB53CB}" destId="{74AAD815-CC04-4BFA-90ED-A89408DA0F50}" srcOrd="6" destOrd="0" presId="urn:microsoft.com/office/officeart/2005/8/layout/vProcess5"/>
    <dgm:cxn modelId="{1053C1EF-610A-4416-8853-539AC9BEFE80}" type="presParOf" srcId="{8E60AA1C-61F8-4040-88B3-8765F2BB53CB}" destId="{A8DF51BE-1983-4812-A719-4A0069CE7DC8}" srcOrd="7" destOrd="0" presId="urn:microsoft.com/office/officeart/2005/8/layout/vProcess5"/>
    <dgm:cxn modelId="{4CF7454A-DFB7-4918-83FA-0EFA2AF82CEF}" type="presParOf" srcId="{8E60AA1C-61F8-4040-88B3-8765F2BB53CB}" destId="{17079CD1-BACB-4C49-88F6-826B227337B5}" srcOrd="8" destOrd="0" presId="urn:microsoft.com/office/officeart/2005/8/layout/vProcess5"/>
    <dgm:cxn modelId="{731E9A9B-914B-4B2C-BCE3-1ABB90412029}" type="presParOf" srcId="{8E60AA1C-61F8-4040-88B3-8765F2BB53CB}" destId="{8DDFB469-962D-4DF5-B9E4-934FF69344A3}" srcOrd="9" destOrd="0" presId="urn:microsoft.com/office/officeart/2005/8/layout/vProcess5"/>
    <dgm:cxn modelId="{2C6A5C32-089F-4F4E-90BC-C9D87E720EB2}" type="presParOf" srcId="{8E60AA1C-61F8-4040-88B3-8765F2BB53CB}" destId="{227FDCAB-BA88-4693-87BE-818F9558E142}" srcOrd="10" destOrd="0" presId="urn:microsoft.com/office/officeart/2005/8/layout/vProcess5"/>
    <dgm:cxn modelId="{DE1E6E37-62CD-4D82-A0E1-BA048CCA2AA2}" type="presParOf" srcId="{8E60AA1C-61F8-4040-88B3-8765F2BB53CB}" destId="{627EAED2-291B-45EA-BDB1-986B4CA5CD3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A93B9-3CAC-4187-B2A5-F48E0D9DE5CA}">
      <dsp:nvSpPr>
        <dsp:cNvPr id="0" name=""/>
        <dsp:cNvSpPr/>
      </dsp:nvSpPr>
      <dsp:spPr>
        <a:xfrm>
          <a:off x="0" y="0"/>
          <a:ext cx="3251200" cy="8232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a typeface="TT Chocolates"/>
              <a:cs typeface="TT Chocolates"/>
              <a:sym typeface="TT Chocolates"/>
            </a:rPr>
            <a:t>Raw traffic data </a:t>
          </a:r>
          <a:endParaRPr lang="en-GB" sz="2100" kern="1200" dirty="0"/>
        </a:p>
      </dsp:txBody>
      <dsp:txXfrm>
        <a:off x="24113" y="24113"/>
        <a:ext cx="2293257" cy="775047"/>
      </dsp:txXfrm>
    </dsp:sp>
    <dsp:sp modelId="{F4AF3DDA-2BBB-4299-B79D-534C44ABD81A}">
      <dsp:nvSpPr>
        <dsp:cNvPr id="0" name=""/>
        <dsp:cNvSpPr/>
      </dsp:nvSpPr>
      <dsp:spPr>
        <a:xfrm>
          <a:off x="272287" y="972959"/>
          <a:ext cx="3251200" cy="8232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a typeface="TT Chocolates"/>
              <a:cs typeface="TT Chocolates"/>
              <a:sym typeface="TT Chocolates"/>
            </a:rPr>
            <a:t>actionable insight </a:t>
          </a:r>
          <a:endParaRPr lang="en-GB" sz="2100" kern="1200"/>
        </a:p>
      </dsp:txBody>
      <dsp:txXfrm>
        <a:off x="296400" y="997072"/>
        <a:ext cx="2395558" cy="775047"/>
      </dsp:txXfrm>
    </dsp:sp>
    <dsp:sp modelId="{1F906709-E47D-45D4-9A7A-D79832001129}">
      <dsp:nvSpPr>
        <dsp:cNvPr id="0" name=""/>
        <dsp:cNvSpPr/>
      </dsp:nvSpPr>
      <dsp:spPr>
        <a:xfrm>
          <a:off x="540512" y="1945918"/>
          <a:ext cx="3251200" cy="8232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a typeface="TT Chocolates"/>
              <a:cs typeface="TT Chocolates"/>
              <a:sym typeface="TT Chocolates"/>
            </a:rPr>
            <a:t>less congestion </a:t>
          </a:r>
          <a:endParaRPr lang="en-GB" sz="2100" kern="1200"/>
        </a:p>
      </dsp:txBody>
      <dsp:txXfrm>
        <a:off x="564625" y="1970031"/>
        <a:ext cx="2399622" cy="775047"/>
      </dsp:txXfrm>
    </dsp:sp>
    <dsp:sp modelId="{3B88FFA9-1B06-4CDA-AC07-E3B5010A21E0}">
      <dsp:nvSpPr>
        <dsp:cNvPr id="0" name=""/>
        <dsp:cNvSpPr/>
      </dsp:nvSpPr>
      <dsp:spPr>
        <a:xfrm>
          <a:off x="812799" y="2918877"/>
          <a:ext cx="3251200" cy="8232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a typeface="TT Chocolates"/>
              <a:cs typeface="TT Chocolates"/>
              <a:sym typeface="TT Chocolates"/>
            </a:rPr>
            <a:t>smarter city movement.</a:t>
          </a:r>
          <a:endParaRPr lang="en-US" sz="2100" b="1" kern="1200" dirty="0">
            <a:ea typeface="TT Chocolates"/>
            <a:cs typeface="TT Chocolates"/>
            <a:sym typeface="TT Chocolates"/>
          </a:endParaRPr>
        </a:p>
      </dsp:txBody>
      <dsp:txXfrm>
        <a:off x="836912" y="2942990"/>
        <a:ext cx="2395558" cy="775047"/>
      </dsp:txXfrm>
    </dsp:sp>
    <dsp:sp modelId="{5129885D-8356-4907-B609-09E4A00981A0}">
      <dsp:nvSpPr>
        <dsp:cNvPr id="0" name=""/>
        <dsp:cNvSpPr/>
      </dsp:nvSpPr>
      <dsp:spPr>
        <a:xfrm>
          <a:off x="2716072" y="630552"/>
          <a:ext cx="535127" cy="53512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/>
        </a:p>
      </dsp:txBody>
      <dsp:txXfrm>
        <a:off x="2836476" y="630552"/>
        <a:ext cx="294319" cy="402683"/>
      </dsp:txXfrm>
    </dsp:sp>
    <dsp:sp modelId="{74AAD815-CC04-4BFA-90ED-A89408DA0F50}">
      <dsp:nvSpPr>
        <dsp:cNvPr id="0" name=""/>
        <dsp:cNvSpPr/>
      </dsp:nvSpPr>
      <dsp:spPr>
        <a:xfrm>
          <a:off x="2988360" y="1603511"/>
          <a:ext cx="535127" cy="53512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/>
        </a:p>
      </dsp:txBody>
      <dsp:txXfrm>
        <a:off x="3108764" y="1603511"/>
        <a:ext cx="294319" cy="402683"/>
      </dsp:txXfrm>
    </dsp:sp>
    <dsp:sp modelId="{A8DF51BE-1983-4812-A719-4A0069CE7DC8}">
      <dsp:nvSpPr>
        <dsp:cNvPr id="0" name=""/>
        <dsp:cNvSpPr/>
      </dsp:nvSpPr>
      <dsp:spPr>
        <a:xfrm>
          <a:off x="3256584" y="2576470"/>
          <a:ext cx="535127" cy="53512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/>
        </a:p>
      </dsp:txBody>
      <dsp:txXfrm>
        <a:off x="3376988" y="2576470"/>
        <a:ext cx="294319" cy="402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F47E7-4852-46E0-B69D-6E7C1942CF27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75689-05EC-473D-872D-A0012564BAC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3051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SMART-JAM project slides (user-provided): SMART-JAM.pptx
- Requirements overview (user-provided): Pitch Deck.pptx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6D5967-E91F-6344-091F-068E1809E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D968C00-078F-423A-60BA-C688D1714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1BD9FAA-5653-F6CD-28D0-95671A53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4184C98-7582-7890-3428-AC28EE2C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70C052F-7499-C7AA-D60E-7E9A1914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8724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EE64F6-22F0-5919-8C81-055B3427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B75CC-A822-9054-33AC-65BE98A8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E8AABB0-5A98-08B6-E343-46CD6EC6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08C9DA4-010F-7126-C452-A6DAC68C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D38EBC8-BADD-F98B-D329-39EC29F4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118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EE4991-9BFA-56C9-9030-D1BE18770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E0DC749-DCC3-6789-C014-87FC009C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713F763-7CE1-638E-A7EA-69C67BED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97330E6-7933-1743-3B7C-15C2EA20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9218849-64BE-8E6C-9B9A-BF6257C7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3615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D5E094-B2AD-9328-4200-99539102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B0DBD5-C276-B1F3-FF85-0A0A3C207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EFD1021-9417-63E1-7184-432EE0785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C3FC2B4-10AE-BB7D-5390-389EA906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1740202-B43B-EBB9-D654-DF0B9E49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D2193B8-42DF-8F45-151A-85EB55D9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0191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DA1E5-8AE2-877C-58A1-E46FA72F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E99192A-E9B2-6966-862B-7E48C413C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8B88518-FF06-F9C6-5977-A168155E3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DD4AEBB-1B00-9CB6-DA30-A951CFE98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74997CAD-D279-EB1B-9D58-15DAFFBD7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EDC34B0D-A422-5F24-98D4-811E1605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A08FE6A-E529-34B1-5A83-B409A01D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8CE9FF51-57CC-9670-B1B6-DBF8CAAA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541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61461C-6755-BB4A-68B3-C1365BC5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D5AD8939-FB49-1270-E7B8-8E7FBE4C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BD5128B2-4A4A-FA48-4477-10279418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0DFAE475-E223-5A9E-D119-B9262887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263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62F2EB1A-20B1-A7B5-A44C-43902C71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5BE0331-1553-2C28-173D-0D721DEA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FE16E93-DD03-570B-1D1D-A24D5288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8848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6DAE9-AB85-5A24-5AC7-9FBE8502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C840687-38DB-716C-1B8B-DCF1BEB82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7D23171-B94B-62CF-8D43-BCFED6CD6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B0E8825-022B-28CE-0B56-469A0A4D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53383B5-374E-CE50-29BF-A1BB6004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E067D74-410A-E3C5-DF5A-8994744F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3164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8B2ED0-CC92-B7D5-CAEE-9F0919FA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6BD9595-4E35-A619-10F5-E06AB68DE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C7E01A0-D502-6012-5435-62AAF326A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7A0B120-1455-C0B8-BF80-CE65D46A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C27291F-DC49-6D29-464D-6C4687F2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ACFC30A-9BCD-0420-5FA3-B490962E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2258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8D372-4F54-47BF-68D7-73F4B93E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2F84CA34-2DE2-EE3C-C687-6A7E47D73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4636DC3-4BF8-9861-DAF3-33B27947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F643CE5-32D5-35B4-5566-5113BCAB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277D072-501C-E721-B604-677E44B5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301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FCE1FEE4-8237-9F0B-F576-42747FAB8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362036A6-1A45-5952-7264-C8479DE5B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B618BA3-005F-1155-4202-A051CA2C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732B1D5-0287-8B82-9562-4AA22489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1D67D68-6D6B-90FE-CE67-3D14F1BB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900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81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6F68979E-6737-B24F-F017-EA33758A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7F75BE0-8C18-441E-2063-C9187B618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138757A-7B85-A8F6-5F0A-B6E11F7AC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9A72D-481F-4713-AACE-5695785457E6}" type="datetimeFigureOut">
              <a:rPr lang="sk-SK" smtClean="0"/>
              <a:t>22. 4. 2026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2FEB1E8-7B0A-16D0-E16C-E4DCA464B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A1EBD82-BE95-5E84-C999-BF9FBED7E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D8431-96CC-441C-968F-EE220D189E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0941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teamsmartjam.github.io/MI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4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microsoft.com/office/2007/relationships/hdphoto" Target="../media/hdphoto1.wdp"/><Relationship Id="rId2" Type="http://schemas.openxmlformats.org/officeDocument/2006/relationships/image" Target="../media/image5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martjam.github.io/MIS/" TargetMode="Externa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1857741720916171/" TargetMode="External"/><Relationship Id="rId2" Type="http://schemas.openxmlformats.org/officeDocument/2006/relationships/hyperlink" Target="https://www.kaggle.com/datasets/bwandowando/tomtom-traffic-data-55-countries-387-citi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eamsmartjam.github.io/MIS/" TargetMode="External"/><Relationship Id="rId4" Type="http://schemas.openxmlformats.org/officeDocument/2006/relationships/hyperlink" Target="https://www.tomtom.com/SOLUTIONS/GOVERNMENT-AND-PUBLIC-SECTO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okTextu 7">
            <a:extLst>
              <a:ext uri="{FF2B5EF4-FFF2-40B4-BE49-F238E27FC236}">
                <a16:creationId xmlns:a16="http://schemas.microsoft.com/office/drawing/2014/main" id="{B001A0B3-ACCA-BD5A-625B-94AA37917764}"/>
              </a:ext>
            </a:extLst>
          </p:cNvPr>
          <p:cNvSpPr txBox="1"/>
          <p:nvPr/>
        </p:nvSpPr>
        <p:spPr>
          <a:xfrm>
            <a:off x="9643608" y="6457890"/>
            <a:ext cx="442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dirty="0">
                <a:hlinkClick r:id="rId4"/>
              </a:rPr>
              <a:t>team </a:t>
            </a:r>
            <a:r>
              <a:rPr lang="sk-SK" sz="2000" dirty="0" err="1">
                <a:hlinkClick r:id="rId4"/>
              </a:rPr>
              <a:t>Smart</a:t>
            </a:r>
            <a:r>
              <a:rPr lang="sk-SK" sz="2000" dirty="0">
                <a:hlinkClick r:id="rId4"/>
              </a:rPr>
              <a:t> </a:t>
            </a:r>
            <a:r>
              <a:rPr lang="sk-SK" sz="2000" dirty="0" err="1">
                <a:hlinkClick r:id="rId4"/>
              </a:rPr>
              <a:t>Jam</a:t>
            </a:r>
            <a:r>
              <a:rPr lang="sk-SK" sz="2000" dirty="0">
                <a:hlinkClick r:id="rId4"/>
              </a:rPr>
              <a:t> web</a:t>
            </a:r>
            <a:endParaRPr lang="sk-SK" sz="2000" dirty="0"/>
          </a:p>
        </p:txBody>
      </p:sp>
      <p:pic>
        <p:nvPicPr>
          <p:cNvPr id="10" name="Video 9" title="Traffic at night timelapse">
            <a:hlinkClick r:id="" action="ppaction://media"/>
            <a:extLst>
              <a:ext uri="{FF2B5EF4-FFF2-40B4-BE49-F238E27FC236}">
                <a16:creationId xmlns:a16="http://schemas.microsoft.com/office/drawing/2014/main" id="{8ADC24C1-088F-3881-0B06-C9765840DB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Graphic 23" descr="Magnifying glass with solid fill">
            <a:extLst>
              <a:ext uri="{FF2B5EF4-FFF2-40B4-BE49-F238E27FC236}">
                <a16:creationId xmlns:a16="http://schemas.microsoft.com/office/drawing/2014/main" id="{147CF232-9088-4D33-FA86-2CEDB4FD1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3898" y="2981261"/>
            <a:ext cx="895477" cy="895477"/>
          </a:xfrm>
          <a:prstGeom prst="rect">
            <a:avLst/>
          </a:prstGeom>
        </p:spPr>
      </p:pic>
      <p:sp>
        <p:nvSpPr>
          <p:cNvPr id="25" name="TextBox 7"/>
          <p:cNvSpPr txBox="1"/>
          <p:nvPr/>
        </p:nvSpPr>
        <p:spPr>
          <a:xfrm>
            <a:off x="3386937" y="2399391"/>
            <a:ext cx="6545064" cy="1659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1"/>
              </a:lnSpc>
              <a:spcBef>
                <a:spcPct val="0"/>
              </a:spcBef>
            </a:pPr>
            <a:r>
              <a:rPr lang="en-US" sz="8400" b="1" spc="-130" dirty="0">
                <a:solidFill>
                  <a:schemeClr val="bg1"/>
                </a:solidFill>
                <a:latin typeface="+mj-lt"/>
                <a:ea typeface="Bricolage Grotesque Bold"/>
                <a:cs typeface="Bricolage Grotesque Bold"/>
                <a:sym typeface="Bricolage Grotesque Bold"/>
              </a:rPr>
              <a:t>SMART-JAM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D55BD44-0869-7C49-3876-06BD9A1D959E}"/>
              </a:ext>
            </a:extLst>
          </p:cNvPr>
          <p:cNvSpPr/>
          <p:nvPr/>
        </p:nvSpPr>
        <p:spPr>
          <a:xfrm>
            <a:off x="-901700" y="-406400"/>
            <a:ext cx="13589000" cy="767080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8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0CA8578B-E1A5-7B71-D502-C375B17990F0}"/>
              </a:ext>
            </a:extLst>
          </p:cNvPr>
          <p:cNvSpPr/>
          <p:nvPr/>
        </p:nvSpPr>
        <p:spPr>
          <a:xfrm>
            <a:off x="1035268" y="2638514"/>
            <a:ext cx="9943664" cy="382974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sk-SK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AAF643-AEEE-A520-75DD-F1F5DE52087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30FE91-1999-EF14-86D0-03EC344CE7AE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402E0B-8198-4D15-A0FB-3AB0903A64AE}"/>
              </a:ext>
            </a:extLst>
          </p:cNvPr>
          <p:cNvGrpSpPr/>
          <p:nvPr/>
        </p:nvGrpSpPr>
        <p:grpSpPr>
          <a:xfrm>
            <a:off x="2028206" y="557527"/>
            <a:ext cx="9161679" cy="1961354"/>
            <a:chOff x="2028206" y="557527"/>
            <a:chExt cx="9161679" cy="1961354"/>
          </a:xfrm>
        </p:grpSpPr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340C912F-65E4-46FF-1BB3-A4E9D7977483}"/>
                </a:ext>
              </a:extLst>
            </p:cNvPr>
            <p:cNvSpPr txBox="1"/>
            <p:nvPr/>
          </p:nvSpPr>
          <p:spPr>
            <a:xfrm>
              <a:off x="2263253" y="557527"/>
              <a:ext cx="7016509" cy="882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360"/>
                </a:lnSpc>
              </a:pPr>
              <a:r>
                <a:rPr lang="en-US" sz="4800" b="1" spc="-104" dirty="0">
                  <a:ea typeface="Bricolage Grotesque Bold"/>
                  <a:cs typeface="Bricolage Grotesque Bold"/>
                  <a:sym typeface="Bricolage Grotesque Bold"/>
                </a:rPr>
                <a:t>What</a:t>
              </a:r>
              <a:r>
                <a:rPr lang="en-GB" sz="4800" b="1" spc="-104" dirty="0">
                  <a:ea typeface="Bricolage Grotesque Bold"/>
                  <a:cs typeface="Bricolage Grotesque Bold"/>
                  <a:sym typeface="Bricolage Grotesque Bold"/>
                </a:rPr>
                <a:t>’s t</a:t>
              </a:r>
              <a:r>
                <a:rPr lang="en-US" sz="4800" b="1" spc="-104" dirty="0">
                  <a:ea typeface="Bricolage Grotesque Bold"/>
                  <a:cs typeface="Bricolage Grotesque Bold"/>
                  <a:sym typeface="Bricolage Grotesque Bold"/>
                </a:rPr>
                <a:t>he problem ?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5EB22F0-A616-7079-5894-5D41FACAE670}"/>
                </a:ext>
              </a:extLst>
            </p:cNvPr>
            <p:cNvSpPr txBox="1"/>
            <p:nvPr/>
          </p:nvSpPr>
          <p:spPr>
            <a:xfrm>
              <a:off x="2450111" y="1771739"/>
              <a:ext cx="8739774" cy="277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11" lvl="1">
                <a:lnSpc>
                  <a:spcPts val="2000"/>
                </a:lnSpc>
              </a:pPr>
              <a:r>
                <a:rPr lang="en-US" sz="2400" b="1" spc="-100" dirty="0">
                  <a:ea typeface="Bricolage Grotesque Bold"/>
                  <a:cs typeface="Bricolage Grotesque Bold"/>
                  <a:sym typeface="Bricolage Grotesque Bold"/>
                </a:rPr>
                <a:t>Traffic congestion wastes time and increases emissions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2D2E509-B78E-DCB6-1172-A0A3B4D3D724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277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11" lvl="1">
                <a:lnSpc>
                  <a:spcPts val="2000"/>
                </a:lnSpc>
              </a:pPr>
              <a:r>
                <a:rPr lang="en-US" sz="2400" b="1" spc="-100" dirty="0">
                  <a:ea typeface="Bricolage Grotesque Bold"/>
                  <a:cs typeface="Bricolage Grotesque Bold"/>
                  <a:sym typeface="Bricolage Grotesque Bold"/>
                </a:rPr>
                <a:t>Cities usually react too late</a:t>
              </a:r>
            </a:p>
          </p:txBody>
        </p:sp>
        <p:pic>
          <p:nvPicPr>
            <p:cNvPr id="14" name="Graphic 13" descr="Magnifying glass with solid fill">
              <a:extLst>
                <a:ext uri="{FF2B5EF4-FFF2-40B4-BE49-F238E27FC236}">
                  <a16:creationId xmlns:a16="http://schemas.microsoft.com/office/drawing/2014/main" id="{90FED1D3-1B3D-D04A-58B1-F486DD6F3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8206" y="2076447"/>
              <a:ext cx="421905" cy="421905"/>
            </a:xfrm>
            <a:prstGeom prst="rect">
              <a:avLst/>
            </a:prstGeom>
          </p:spPr>
        </p:pic>
        <p:pic>
          <p:nvPicPr>
            <p:cNvPr id="15" name="Graphic 14" descr="Magnifying glass with solid fill">
              <a:extLst>
                <a:ext uri="{FF2B5EF4-FFF2-40B4-BE49-F238E27FC236}">
                  <a16:creationId xmlns:a16="http://schemas.microsoft.com/office/drawing/2014/main" id="{2D6D2882-A42E-61D4-21BC-9691A95A17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8206" y="1590897"/>
              <a:ext cx="421905" cy="421905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F26D10A-8607-8ACF-EDE8-060750DAF1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8206" y="860471"/>
              <a:ext cx="421905" cy="421905"/>
            </a:xfrm>
            <a:prstGeom prst="rect">
              <a:avLst/>
            </a:prstGeom>
          </p:spPr>
        </p:pic>
      </p:grpSp>
      <p:pic>
        <p:nvPicPr>
          <p:cNvPr id="25" name="Graphic 24" descr="Magnifying glass with solid fill">
            <a:extLst>
              <a:ext uri="{FF2B5EF4-FFF2-40B4-BE49-F238E27FC236}">
                <a16:creationId xmlns:a16="http://schemas.microsoft.com/office/drawing/2014/main" id="{5655E3AD-7C57-9C30-2B76-EEA4649F5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05" y="1604417"/>
            <a:ext cx="421905" cy="4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2977DA-2808-4715-40E5-2C826EEC498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174991-A6B6-9C39-3A04-6531D9037E00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6F2254A-3DAA-73BC-AE7C-A6D06CC430C9}"/>
              </a:ext>
            </a:extLst>
          </p:cNvPr>
          <p:cNvGrpSpPr/>
          <p:nvPr/>
        </p:nvGrpSpPr>
        <p:grpSpPr>
          <a:xfrm>
            <a:off x="939800" y="583592"/>
            <a:ext cx="10250085" cy="2003962"/>
            <a:chOff x="939800" y="583592"/>
            <a:chExt cx="10250085" cy="2003962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C3A23EDC-3B71-EF8F-5805-6802606CC679}"/>
                </a:ext>
              </a:extLst>
            </p:cNvPr>
            <p:cNvSpPr txBox="1"/>
            <p:nvPr/>
          </p:nvSpPr>
          <p:spPr>
            <a:xfrm>
              <a:off x="939800" y="583592"/>
              <a:ext cx="7016509" cy="882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360"/>
                </a:lnSpc>
              </a:pPr>
              <a:r>
                <a:rPr lang="en-US" sz="4800" b="1" spc="-104" dirty="0">
                  <a:ea typeface="Bricolage Grotesque Bold"/>
                  <a:cs typeface="Bricolage Grotesque Bold"/>
                  <a:sym typeface="Bricolage Grotesque Bold"/>
                </a:rPr>
                <a:t>Our solution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5DAD23-E8ED-E660-E4C7-F6D352CB297C}"/>
                </a:ext>
              </a:extLst>
            </p:cNvPr>
            <p:cNvSpPr txBox="1"/>
            <p:nvPr/>
          </p:nvSpPr>
          <p:spPr>
            <a:xfrm>
              <a:off x="2450111" y="1771739"/>
              <a:ext cx="8739774" cy="3352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08" lvl="1">
                <a:lnSpc>
                  <a:spcPts val="2599"/>
                </a:lnSpc>
              </a:pPr>
              <a:r>
                <a:rPr lang="en-US" sz="2400" b="1" spc="-13" dirty="0">
                  <a:ea typeface="Aileron"/>
                  <a:cs typeface="Aileron"/>
                  <a:sym typeface="Aileron"/>
                </a:rPr>
                <a:t>Predict congestion </a:t>
              </a:r>
              <a:r>
                <a:rPr lang="en-US" sz="2400" b="1" spc="-13" dirty="0">
                  <a:ea typeface="Aileron Bold"/>
                  <a:cs typeface="Aileron Bold"/>
                  <a:sym typeface="Aileron Bold"/>
                </a:rPr>
                <a:t>30-60 minutes ahead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2D5846-F218-3CFC-C960-57F6E34AD12C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23105" lvl="1">
                <a:lnSpc>
                  <a:spcPts val="2686"/>
                </a:lnSpc>
              </a:pPr>
              <a:r>
                <a:rPr lang="en-US" sz="2400" b="1" spc="-14" dirty="0">
                  <a:ea typeface="Aileron"/>
                  <a:cs typeface="Aileron"/>
                  <a:sym typeface="Aileron"/>
                </a:rPr>
                <a:t>Early warnings for specific areas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4C9BDE9-ABE5-F7DA-7307-FE47E4A7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6" r="-911" b="23136"/>
          <a:stretch>
            <a:fillRect/>
          </a:stretch>
        </p:blipFill>
        <p:spPr>
          <a:xfrm>
            <a:off x="876300" y="2991187"/>
            <a:ext cx="9874250" cy="3177429"/>
          </a:xfrm>
          <a:prstGeom prst="rect">
            <a:avLst/>
          </a:prstGeom>
          <a:effectLst>
            <a:softEdge rad="190500"/>
          </a:effectLst>
        </p:spPr>
      </p:pic>
      <p:pic>
        <p:nvPicPr>
          <p:cNvPr id="16" name="Graphic 15" descr="Lights On with solid fill">
            <a:extLst>
              <a:ext uri="{FF2B5EF4-FFF2-40B4-BE49-F238E27FC236}">
                <a16:creationId xmlns:a16="http://schemas.microsoft.com/office/drawing/2014/main" id="{5A3B6AD1-3ACB-B53B-BE3C-8ABC85655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06" y="2179063"/>
            <a:ext cx="421200" cy="421200"/>
          </a:xfrm>
          <a:prstGeom prst="rect">
            <a:avLst/>
          </a:prstGeom>
        </p:spPr>
      </p:pic>
      <p:pic>
        <p:nvPicPr>
          <p:cNvPr id="17" name="Graphic 16" descr="Lights On with solid fill">
            <a:extLst>
              <a:ext uri="{FF2B5EF4-FFF2-40B4-BE49-F238E27FC236}">
                <a16:creationId xmlns:a16="http://schemas.microsoft.com/office/drawing/2014/main" id="{A39CC9F8-FD25-367A-674F-B3C4B9376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06" y="1642742"/>
            <a:ext cx="421200" cy="421200"/>
          </a:xfrm>
          <a:prstGeom prst="rect">
            <a:avLst/>
          </a:prstGeom>
        </p:spPr>
      </p:pic>
      <p:pic>
        <p:nvPicPr>
          <p:cNvPr id="18" name="Graphic 17" descr="Lights On with solid fill">
            <a:extLst>
              <a:ext uri="{FF2B5EF4-FFF2-40B4-BE49-F238E27FC236}">
                <a16:creationId xmlns:a16="http://schemas.microsoft.com/office/drawing/2014/main" id="{8375180A-7A20-826D-62A3-12A607E81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2653" y="882047"/>
            <a:ext cx="42120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6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13337EC-363B-ED38-22CA-0777E8A8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012" y="3429000"/>
            <a:ext cx="4369350" cy="1864654"/>
          </a:xfrm>
          <a:prstGeom prst="rect">
            <a:avLst/>
          </a:prstGeom>
          <a:effectLst>
            <a:softEdge rad="0"/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D4D7F2-A656-23EB-DC89-1DE85E716477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C71F1E-B1B9-7F2A-565A-0010C5A9E53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F0CDF7-BFF2-C0FB-4E95-8B3E32FE0B06}"/>
              </a:ext>
            </a:extLst>
          </p:cNvPr>
          <p:cNvGrpSpPr/>
          <p:nvPr/>
        </p:nvGrpSpPr>
        <p:grpSpPr>
          <a:xfrm>
            <a:off x="1637638" y="614944"/>
            <a:ext cx="9552247" cy="1972610"/>
            <a:chOff x="1637638" y="614944"/>
            <a:chExt cx="9552247" cy="1972610"/>
          </a:xfrm>
        </p:grpSpPr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D269ACF8-8AB8-9E8A-FB44-DB1907E9C044}"/>
                </a:ext>
              </a:extLst>
            </p:cNvPr>
            <p:cNvSpPr txBox="1"/>
            <p:nvPr/>
          </p:nvSpPr>
          <p:spPr>
            <a:xfrm>
              <a:off x="1637638" y="614944"/>
              <a:ext cx="8739774" cy="7303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43"/>
                </a:lnSpc>
              </a:pPr>
              <a:endParaRPr lang="en-US" sz="5400" b="1" spc="-79" dirty="0">
                <a:ea typeface="Bricolage Grotesque Bold"/>
                <a:cs typeface="Bricolage Grotesque Bold"/>
                <a:sym typeface="Bricolage Grotesque Bold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B98AD-A82E-3803-3592-F6602C5CA8DE}"/>
                </a:ext>
              </a:extLst>
            </p:cNvPr>
            <p:cNvSpPr txBox="1"/>
            <p:nvPr/>
          </p:nvSpPr>
          <p:spPr>
            <a:xfrm>
              <a:off x="2450111" y="1771739"/>
              <a:ext cx="8739774" cy="3352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08" lvl="1">
                <a:lnSpc>
                  <a:spcPts val="2599"/>
                </a:lnSpc>
              </a:pPr>
              <a:r>
                <a:rPr lang="en-US" sz="2400" b="1" spc="-13" dirty="0">
                  <a:ea typeface="Aileron"/>
                  <a:cs typeface="Aileron"/>
                  <a:sym typeface="Aileron"/>
                </a:rPr>
                <a:t>Predict congestion </a:t>
              </a:r>
              <a:r>
                <a:rPr lang="en-US" sz="2400" b="1" spc="-13" dirty="0">
                  <a:ea typeface="Aileron Bold"/>
                  <a:cs typeface="Aileron Bold"/>
                  <a:sym typeface="Aileron Bold"/>
                </a:rPr>
                <a:t>30-60 minutes ahead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BB9D14-D8D7-1316-2A4E-32329D8758D3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23105" lvl="1">
                <a:lnSpc>
                  <a:spcPts val="2686"/>
                </a:lnSpc>
              </a:pPr>
              <a:r>
                <a:rPr lang="en-US" sz="2400" b="1" spc="-14" dirty="0">
                  <a:ea typeface="Aileron"/>
                  <a:cs typeface="Aileron"/>
                  <a:sym typeface="Aileron"/>
                </a:rPr>
                <a:t>Early warnings for specific areas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E02C8E5-C191-8AA7-FEFF-A28DEAB25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38" y="3407310"/>
            <a:ext cx="3187248" cy="2219246"/>
          </a:xfrm>
          <a:prstGeom prst="rect">
            <a:avLst/>
          </a:prstGeom>
        </p:spPr>
      </p:pic>
      <p:pic>
        <p:nvPicPr>
          <p:cNvPr id="18" name="Graphic 17" descr="Folder Search with solid fill">
            <a:extLst>
              <a:ext uri="{FF2B5EF4-FFF2-40B4-BE49-F238E27FC236}">
                <a16:creationId xmlns:a16="http://schemas.microsoft.com/office/drawing/2014/main" id="{095762A2-DB60-449E-F0EC-8A094B8B7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305" y="2133306"/>
            <a:ext cx="421200" cy="421200"/>
          </a:xfrm>
          <a:prstGeom prst="rect">
            <a:avLst/>
          </a:prstGeom>
        </p:spPr>
      </p:pic>
      <p:pic>
        <p:nvPicPr>
          <p:cNvPr id="19" name="Graphic 18" descr="Folder Search with solid fill">
            <a:extLst>
              <a:ext uri="{FF2B5EF4-FFF2-40B4-BE49-F238E27FC236}">
                <a16:creationId xmlns:a16="http://schemas.microsoft.com/office/drawing/2014/main" id="{28FF0E75-59D0-5ED8-E547-177861C04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305" y="1667026"/>
            <a:ext cx="421200" cy="421200"/>
          </a:xfrm>
          <a:prstGeom prst="rect">
            <a:avLst/>
          </a:prstGeom>
        </p:spPr>
      </p:pic>
      <p:pic>
        <p:nvPicPr>
          <p:cNvPr id="20" name="Graphic 19" descr="Folder Search with solid fill">
            <a:extLst>
              <a:ext uri="{FF2B5EF4-FFF2-40B4-BE49-F238E27FC236}">
                <a16:creationId xmlns:a16="http://schemas.microsoft.com/office/drawing/2014/main" id="{DD275962-93B5-1226-80C3-F0FEB6DD0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305" y="828389"/>
            <a:ext cx="421200" cy="4212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DBC6500-1393-1D37-84AC-66230122B1AF}"/>
              </a:ext>
            </a:extLst>
          </p:cNvPr>
          <p:cNvGrpSpPr/>
          <p:nvPr/>
        </p:nvGrpSpPr>
        <p:grpSpPr>
          <a:xfrm>
            <a:off x="905304" y="709200"/>
            <a:ext cx="10547350" cy="1878354"/>
            <a:chOff x="905304" y="709200"/>
            <a:chExt cx="10547350" cy="1878354"/>
          </a:xfrm>
        </p:grpSpPr>
        <p:sp>
          <p:nvSpPr>
            <p:cNvPr id="22" name="TextBox 2">
              <a:extLst>
                <a:ext uri="{FF2B5EF4-FFF2-40B4-BE49-F238E27FC236}">
                  <a16:creationId xmlns:a16="http://schemas.microsoft.com/office/drawing/2014/main" id="{90264DC2-482B-47FB-8DFD-90F4FC9DBD21}"/>
                </a:ext>
              </a:extLst>
            </p:cNvPr>
            <p:cNvSpPr txBox="1"/>
            <p:nvPr/>
          </p:nvSpPr>
          <p:spPr>
            <a:xfrm>
              <a:off x="905304" y="709200"/>
              <a:ext cx="10547350" cy="7303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43"/>
                </a:lnSpc>
              </a:pPr>
              <a:r>
                <a:rPr lang="en-US" sz="4800" b="1" spc="-79" dirty="0">
                  <a:ea typeface="Bricolage Grotesque Bold"/>
                  <a:cs typeface="Bricolage Grotesque Bold"/>
                  <a:sym typeface="Bricolage Grotesque Bold"/>
                </a:rPr>
                <a:t>What data we work with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6D7D79-F377-B1C9-EAC1-224C1E563275}"/>
                </a:ext>
              </a:extLst>
            </p:cNvPr>
            <p:cNvSpPr txBox="1"/>
            <p:nvPr/>
          </p:nvSpPr>
          <p:spPr>
            <a:xfrm>
              <a:off x="2450111" y="1771739"/>
              <a:ext cx="8739774" cy="3352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5908" lvl="1">
                <a:lnSpc>
                  <a:spcPts val="2599"/>
                </a:lnSpc>
              </a:pPr>
              <a:r>
                <a:rPr lang="en-US" sz="2400" b="1" spc="-13" dirty="0">
                  <a:ea typeface="Aileron"/>
                  <a:cs typeface="Aileron"/>
                  <a:sym typeface="Aileron"/>
                </a:rPr>
                <a:t>Predict congestion </a:t>
              </a:r>
              <a:r>
                <a:rPr lang="en-US" sz="2400" b="1" spc="-13" dirty="0">
                  <a:ea typeface="Aileron Bold"/>
                  <a:cs typeface="Aileron Bold"/>
                  <a:sym typeface="Aileron Bold"/>
                </a:rPr>
                <a:t>30-60 minutes ahead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EA7E657-DB2A-C613-4DAC-EF578D0B4E15}"/>
                </a:ext>
              </a:extLst>
            </p:cNvPr>
            <p:cNvSpPr txBox="1"/>
            <p:nvPr/>
          </p:nvSpPr>
          <p:spPr>
            <a:xfrm>
              <a:off x="2450111" y="2241305"/>
              <a:ext cx="5755274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23105" lvl="1">
                <a:lnSpc>
                  <a:spcPts val="2686"/>
                </a:lnSpc>
              </a:pPr>
              <a:r>
                <a:rPr lang="en-US" sz="2400" b="1" spc="-14" dirty="0">
                  <a:ea typeface="Aileron"/>
                  <a:cs typeface="Aileron"/>
                  <a:sym typeface="Aileron"/>
                </a:rPr>
                <a:t>Early warnings for specific areas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991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FC78BF-9C5D-B026-53DC-551DED512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148291"/>
            <a:ext cx="8597292" cy="5717535"/>
          </a:xfrm>
          <a:prstGeom prst="rect">
            <a:avLst/>
          </a:prstGeom>
          <a:effectLst>
            <a:softEdge rad="228600"/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F643E6-4B9F-B8EE-CD94-BF7CA3E59C1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04625B-089E-D4EF-2D55-CD0E81422A87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2">
            <a:extLst>
              <a:ext uri="{FF2B5EF4-FFF2-40B4-BE49-F238E27FC236}">
                <a16:creationId xmlns:a16="http://schemas.microsoft.com/office/drawing/2014/main" id="{FA589990-FE4B-E928-0712-8C7B08D663F3}"/>
              </a:ext>
            </a:extLst>
          </p:cNvPr>
          <p:cNvSpPr txBox="1"/>
          <p:nvPr/>
        </p:nvSpPr>
        <p:spPr>
          <a:xfrm>
            <a:off x="-729821" y="629781"/>
            <a:ext cx="10547350" cy="730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</a:pPr>
            <a:r>
              <a:rPr lang="en-GB" sz="4800" b="1" dirty="0"/>
              <a:t>Model output</a:t>
            </a:r>
            <a:endParaRPr lang="en-US" sz="4800" b="1" spc="-79" dirty="0"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19" name="Graphic 18" descr="Artificial Intelligence outline">
            <a:extLst>
              <a:ext uri="{FF2B5EF4-FFF2-40B4-BE49-F238E27FC236}">
                <a16:creationId xmlns:a16="http://schemas.microsoft.com/office/drawing/2014/main" id="{1E90E35F-2627-653E-A38D-3E74B0C1F2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4446" y="784378"/>
            <a:ext cx="421200" cy="421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7591A8-6E94-7B00-AC7A-938423DB1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8" t="21891" r="3443" b="23715"/>
          <a:stretch>
            <a:fillRect/>
          </a:stretch>
        </p:blipFill>
        <p:spPr>
          <a:xfrm>
            <a:off x="4239054" y="1941425"/>
            <a:ext cx="6701996" cy="4203347"/>
          </a:xfrm>
          <a:prstGeom prst="rect">
            <a:avLst/>
          </a:prstGeom>
          <a:effectLst>
            <a:softEdge rad="152400"/>
          </a:effectLst>
        </p:spPr>
      </p:pic>
    </p:spTree>
    <p:extLst>
      <p:ext uri="{BB962C8B-B14F-4D97-AF65-F5344CB8AC3E}">
        <p14:creationId xmlns:p14="http://schemas.microsoft.com/office/powerpoint/2010/main" val="414054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DFEB57-8D34-62FD-2F6D-10627E1A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8" y="-1638300"/>
            <a:ext cx="11741504" cy="7975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58245B-685E-E372-2122-9F8EA5AE5968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2E10CC-24C9-D97D-1CCD-8A297B33A4A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2">
            <a:extLst>
              <a:ext uri="{FF2B5EF4-FFF2-40B4-BE49-F238E27FC236}">
                <a16:creationId xmlns:a16="http://schemas.microsoft.com/office/drawing/2014/main" id="{9C2FB750-82AD-EED8-1FD9-D36E6365FB01}"/>
              </a:ext>
            </a:extLst>
          </p:cNvPr>
          <p:cNvSpPr txBox="1"/>
          <p:nvPr/>
        </p:nvSpPr>
        <p:spPr>
          <a:xfrm>
            <a:off x="-97996" y="673374"/>
            <a:ext cx="10547350" cy="730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</a:pPr>
            <a:r>
              <a:rPr lang="en-GB" sz="4800" b="1" dirty="0"/>
              <a:t>Who benefits ?</a:t>
            </a:r>
            <a:endParaRPr lang="en-US" sz="4800" b="1" spc="-79" dirty="0"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13" name="Graphic 12" descr="Users outline">
            <a:extLst>
              <a:ext uri="{FF2B5EF4-FFF2-40B4-BE49-F238E27FC236}">
                <a16:creationId xmlns:a16="http://schemas.microsoft.com/office/drawing/2014/main" id="{0F9966B4-B424-BF24-4C82-ED52A078D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1546" y="5614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3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C690012-499F-2B30-2FB9-273FD3FAC6C7}"/>
              </a:ext>
            </a:extLst>
          </p:cNvPr>
          <p:cNvSpPr/>
          <p:nvPr/>
        </p:nvSpPr>
        <p:spPr>
          <a:xfrm>
            <a:off x="-3581400" y="-406401"/>
            <a:ext cx="18707100" cy="767080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TextBox 6"/>
          <p:cNvSpPr txBox="1"/>
          <p:nvPr/>
        </p:nvSpPr>
        <p:spPr>
          <a:xfrm>
            <a:off x="1767538" y="2842204"/>
            <a:ext cx="8925862" cy="1173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14"/>
              </a:lnSpc>
            </a:pPr>
            <a:r>
              <a:rPr lang="en-US" sz="8400" b="1" dirty="0">
                <a:latin typeface="+mj-lt"/>
                <a:sym typeface="Roca Two Heavy"/>
              </a:rPr>
              <a:t>User Requirements</a:t>
            </a:r>
          </a:p>
        </p:txBody>
      </p:sp>
      <p:pic>
        <p:nvPicPr>
          <p:cNvPr id="20" name="Graphic 19" descr="Magnifying glass with solid fill">
            <a:extLst>
              <a:ext uri="{FF2B5EF4-FFF2-40B4-BE49-F238E27FC236}">
                <a16:creationId xmlns:a16="http://schemas.microsoft.com/office/drawing/2014/main" id="{1AA5058B-3E0E-B51D-9E8C-259D2549A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2061" y="2875780"/>
            <a:ext cx="895477" cy="8954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6">
            <a:extLst>
              <a:ext uri="{FF2B5EF4-FFF2-40B4-BE49-F238E27FC236}">
                <a16:creationId xmlns:a16="http://schemas.microsoft.com/office/drawing/2014/main" id="{2E866B92-1DDF-B52F-AEE9-CCE83ECEB9E4}"/>
              </a:ext>
            </a:extLst>
          </p:cNvPr>
          <p:cNvSpPr/>
          <p:nvPr/>
        </p:nvSpPr>
        <p:spPr>
          <a:xfrm>
            <a:off x="1088367" y="464820"/>
            <a:ext cx="1449093" cy="1440594"/>
          </a:xfrm>
          <a:custGeom>
            <a:avLst/>
            <a:gdLst/>
            <a:ahLst/>
            <a:cxnLst/>
            <a:rect l="l" t="t" r="r" b="b"/>
            <a:pathLst>
              <a:path w="4099654" h="3682234">
                <a:moveTo>
                  <a:pt x="0" y="0"/>
                </a:moveTo>
                <a:lnTo>
                  <a:pt x="4099654" y="0"/>
                </a:lnTo>
                <a:lnTo>
                  <a:pt x="4099654" y="3682235"/>
                </a:lnTo>
                <a:lnTo>
                  <a:pt x="0" y="3682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F852335E-8631-BA72-D69B-295E24BEDE07}"/>
              </a:ext>
            </a:extLst>
          </p:cNvPr>
          <p:cNvSpPr txBox="1"/>
          <p:nvPr/>
        </p:nvSpPr>
        <p:spPr>
          <a:xfrm>
            <a:off x="2126748" y="890483"/>
            <a:ext cx="8656737" cy="593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8"/>
              </a:lnSpc>
            </a:pPr>
            <a:r>
              <a:rPr lang="en-US" sz="4800" b="1" dirty="0">
                <a:latin typeface="+mj-lt"/>
                <a:ea typeface="Roca Two Heavy"/>
                <a:cs typeface="Roca Two Heavy"/>
                <a:sym typeface="Roca Two Heavy"/>
              </a:rPr>
              <a:t>What  are  user requirements?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927C53-30BA-0E42-BEBB-2C48066C10C8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8E7FB1-F9A2-BC86-BE54-1A419009CF73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5"/>
          <p:cNvSpPr/>
          <p:nvPr/>
        </p:nvSpPr>
        <p:spPr>
          <a:xfrm>
            <a:off x="3238803" y="3321004"/>
            <a:ext cx="4730591" cy="2760126"/>
          </a:xfrm>
          <a:custGeom>
            <a:avLst/>
            <a:gdLst/>
            <a:ahLst/>
            <a:cxnLst/>
            <a:rect l="l" t="t" r="r" b="b"/>
            <a:pathLst>
              <a:path w="5785246" h="2745362">
                <a:moveTo>
                  <a:pt x="0" y="0"/>
                </a:moveTo>
                <a:lnTo>
                  <a:pt x="5785246" y="0"/>
                </a:lnTo>
                <a:lnTo>
                  <a:pt x="5785246" y="2745362"/>
                </a:lnTo>
                <a:lnTo>
                  <a:pt x="0" y="2745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A2ECC-B665-D839-88BD-6B6F5AA65488}"/>
              </a:ext>
            </a:extLst>
          </p:cNvPr>
          <p:cNvSpPr txBox="1"/>
          <p:nvPr/>
        </p:nvSpPr>
        <p:spPr>
          <a:xfrm>
            <a:off x="2043711" y="2192110"/>
            <a:ext cx="8739774" cy="335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8" lvl="1">
              <a:lnSpc>
                <a:spcPts val="2599"/>
              </a:lnSpc>
            </a:pPr>
            <a:r>
              <a:rPr lang="en-US" sz="2400" b="1" dirty="0">
                <a:ea typeface="PT Serif Bold"/>
                <a:cs typeface="PT Serif Bold"/>
                <a:sym typeface="PT Serif Bold"/>
              </a:rPr>
              <a:t>What users need the system to do — not how it is built.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78219-0508-53E0-47A1-8C65E1ABDF86}"/>
              </a:ext>
            </a:extLst>
          </p:cNvPr>
          <p:cNvSpPr txBox="1"/>
          <p:nvPr/>
        </p:nvSpPr>
        <p:spPr>
          <a:xfrm>
            <a:off x="7279577" y="3268700"/>
            <a:ext cx="5755274" cy="803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59"/>
              </a:lnSpc>
            </a:pPr>
            <a:r>
              <a:rPr lang="en-US" sz="2400" b="1" dirty="0">
                <a:sym typeface="Roca One"/>
              </a:rPr>
              <a:t>Not about implementation (algorithms/architecture)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109DC-A505-CF9A-1F33-711B967B1759}"/>
              </a:ext>
            </a:extLst>
          </p:cNvPr>
          <p:cNvSpPr txBox="1"/>
          <p:nvPr/>
        </p:nvSpPr>
        <p:spPr>
          <a:xfrm>
            <a:off x="581103" y="3061531"/>
            <a:ext cx="36542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Roca One"/>
              </a:rPr>
              <a:t>User perspective: </a:t>
            </a:r>
          </a:p>
          <a:p>
            <a:r>
              <a:rPr lang="en-US" sz="2400" b="1" dirty="0">
                <a:sym typeface="Roca One"/>
              </a:rPr>
              <a:t>what the system enables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3F33A-2FFA-71DE-0168-C88D2357EA21}"/>
              </a:ext>
            </a:extLst>
          </p:cNvPr>
          <p:cNvSpPr txBox="1"/>
          <p:nvPr/>
        </p:nvSpPr>
        <p:spPr>
          <a:xfrm>
            <a:off x="7781701" y="5080731"/>
            <a:ext cx="6737350" cy="48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59"/>
              </a:lnSpc>
            </a:pPr>
            <a:r>
              <a:rPr lang="en-US" sz="2400" b="1" dirty="0">
                <a:sym typeface="Roca One"/>
              </a:rPr>
              <a:t>Focus on value &amp; usability</a:t>
            </a:r>
          </a:p>
        </p:txBody>
      </p:sp>
    </p:spTree>
    <p:extLst>
      <p:ext uri="{BB962C8B-B14F-4D97-AF65-F5344CB8AC3E}">
        <p14:creationId xmlns:p14="http://schemas.microsoft.com/office/powerpoint/2010/main" val="291487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815C2-8306-8BBA-4AC6-A3FBDB0A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3" t="12773" r="14244" b="15496"/>
          <a:stretch>
            <a:fillRect/>
          </a:stretch>
        </p:blipFill>
        <p:spPr>
          <a:xfrm>
            <a:off x="4611169" y="2908300"/>
            <a:ext cx="6823243" cy="1667260"/>
          </a:xfrm>
          <a:prstGeom prst="rect">
            <a:avLst/>
          </a:prstGeom>
        </p:spPr>
      </p:pic>
      <p:sp>
        <p:nvSpPr>
          <p:cNvPr id="5" name="TextBox 21">
            <a:extLst>
              <a:ext uri="{FF2B5EF4-FFF2-40B4-BE49-F238E27FC236}">
                <a16:creationId xmlns:a16="http://schemas.microsoft.com/office/drawing/2014/main" id="{60CC3948-0204-47F8-B54D-4A66FFB974DA}"/>
              </a:ext>
            </a:extLst>
          </p:cNvPr>
          <p:cNvSpPr txBox="1"/>
          <p:nvPr/>
        </p:nvSpPr>
        <p:spPr>
          <a:xfrm>
            <a:off x="2735876" y="2421467"/>
            <a:ext cx="1311023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 dirty="0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Input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EC202C10-C66B-02F6-2093-87E07A818F72}"/>
              </a:ext>
            </a:extLst>
          </p:cNvPr>
          <p:cNvSpPr txBox="1"/>
          <p:nvPr/>
        </p:nvSpPr>
        <p:spPr>
          <a:xfrm>
            <a:off x="2529043" y="3466382"/>
            <a:ext cx="1996998" cy="5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 dirty="0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Predict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BBC5705F-5F7C-9C6D-1C2C-05D4903F6AFD}"/>
              </a:ext>
            </a:extLst>
          </p:cNvPr>
          <p:cNvSpPr txBox="1"/>
          <p:nvPr/>
        </p:nvSpPr>
        <p:spPr>
          <a:xfrm>
            <a:off x="2735875" y="4511296"/>
            <a:ext cx="912672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 dirty="0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Risk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35D9C0C-57A2-E79D-A9A0-E5A5CB0C983F}"/>
              </a:ext>
            </a:extLst>
          </p:cNvPr>
          <p:cNvSpPr txBox="1"/>
          <p:nvPr/>
        </p:nvSpPr>
        <p:spPr>
          <a:xfrm>
            <a:off x="2536367" y="5553543"/>
            <a:ext cx="1784610" cy="5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 dirty="0">
                <a:solidFill>
                  <a:srgbClr val="000000"/>
                </a:solidFill>
                <a:ea typeface="PT Serif Bold"/>
                <a:cs typeface="PT Serif Bold"/>
                <a:sym typeface="PT Serif Bold"/>
              </a:rPr>
              <a:t>Decide</a:t>
            </a:r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DA8E592B-E7A5-67B7-5A1E-7B1D4A8F1301}"/>
              </a:ext>
            </a:extLst>
          </p:cNvPr>
          <p:cNvSpPr/>
          <p:nvPr/>
        </p:nvSpPr>
        <p:spPr>
          <a:xfrm>
            <a:off x="1206783" y="2382718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4"/>
                </a:lnTo>
                <a:lnTo>
                  <a:pt x="0" y="109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8404B908-1260-34FF-1F20-AD589AA559C5}"/>
              </a:ext>
            </a:extLst>
          </p:cNvPr>
          <p:cNvSpPr/>
          <p:nvPr/>
        </p:nvSpPr>
        <p:spPr>
          <a:xfrm>
            <a:off x="1206783" y="3429000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4"/>
                </a:lnTo>
                <a:lnTo>
                  <a:pt x="0" y="109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94B116E6-5C82-A9F5-BC3C-5E4F54DBFC18}"/>
              </a:ext>
            </a:extLst>
          </p:cNvPr>
          <p:cNvSpPr/>
          <p:nvPr/>
        </p:nvSpPr>
        <p:spPr>
          <a:xfrm>
            <a:off x="1224347" y="4442294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4"/>
                </a:lnTo>
                <a:lnTo>
                  <a:pt x="0" y="109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D235FF4F-6879-E0F4-B769-216487FB12B3}"/>
              </a:ext>
            </a:extLst>
          </p:cNvPr>
          <p:cNvSpPr/>
          <p:nvPr/>
        </p:nvSpPr>
        <p:spPr>
          <a:xfrm>
            <a:off x="1206783" y="5516092"/>
            <a:ext cx="1154019" cy="732396"/>
          </a:xfrm>
          <a:custGeom>
            <a:avLst/>
            <a:gdLst/>
            <a:ahLst/>
            <a:cxnLst/>
            <a:rect l="l" t="t" r="r" b="b"/>
            <a:pathLst>
              <a:path w="1731028" h="1098594">
                <a:moveTo>
                  <a:pt x="0" y="0"/>
                </a:moveTo>
                <a:lnTo>
                  <a:pt x="1731028" y="0"/>
                </a:lnTo>
                <a:lnTo>
                  <a:pt x="1731028" y="1098595"/>
                </a:lnTo>
                <a:lnTo>
                  <a:pt x="0" y="109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9E8A7490-1281-2947-CBC6-6D631DE93626}"/>
              </a:ext>
            </a:extLst>
          </p:cNvPr>
          <p:cNvSpPr txBox="1"/>
          <p:nvPr/>
        </p:nvSpPr>
        <p:spPr>
          <a:xfrm>
            <a:off x="675088" y="793705"/>
            <a:ext cx="7701906" cy="612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8"/>
              </a:lnSpc>
            </a:pPr>
            <a:r>
              <a:rPr lang="en-US" sz="4800" b="1" dirty="0">
                <a:latin typeface="+mj-lt"/>
                <a:ea typeface="Roca Two Heavy"/>
                <a:cs typeface="Roca Two Heavy"/>
                <a:sym typeface="Roca Two Heavy"/>
              </a:rPr>
              <a:t>Core requirements?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8BFB1E-BE29-38F9-BBDB-789BFDA4C0F1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EE0AC2-91B8-6681-DF3C-4096148EEDB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Requirement Icon Design Symbol 55729818 Vector Art at Vecteezy">
            <a:extLst>
              <a:ext uri="{FF2B5EF4-FFF2-40B4-BE49-F238E27FC236}">
                <a16:creationId xmlns:a16="http://schemas.microsoft.com/office/drawing/2014/main" id="{D372160F-7207-AA9C-745D-F4E6850C2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096" y="817710"/>
            <a:ext cx="347696" cy="42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076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79F6C564-4530-844D-C868-E3A4E6DAC378}"/>
              </a:ext>
            </a:extLst>
          </p:cNvPr>
          <p:cNvGrpSpPr/>
          <p:nvPr/>
        </p:nvGrpSpPr>
        <p:grpSpPr>
          <a:xfrm>
            <a:off x="1488813" y="3688611"/>
            <a:ext cx="2824366" cy="2670506"/>
            <a:chOff x="0" y="0"/>
            <a:chExt cx="705897" cy="667443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FAEE9C4B-4192-4D9D-91FB-092E842FAA2F}"/>
                </a:ext>
              </a:extLst>
            </p:cNvPr>
            <p:cNvSpPr/>
            <p:nvPr/>
          </p:nvSpPr>
          <p:spPr>
            <a:xfrm>
              <a:off x="0" y="0"/>
              <a:ext cx="705897" cy="667443"/>
            </a:xfrm>
            <a:custGeom>
              <a:avLst/>
              <a:gdLst/>
              <a:ahLst/>
              <a:cxnLst/>
              <a:rect l="l" t="t" r="r" b="b"/>
              <a:pathLst>
                <a:path w="705897" h="667443">
                  <a:moveTo>
                    <a:pt x="91371" y="0"/>
                  </a:moveTo>
                  <a:lnTo>
                    <a:pt x="614527" y="0"/>
                  </a:lnTo>
                  <a:cubicBezTo>
                    <a:pt x="664989" y="0"/>
                    <a:pt x="705897" y="40908"/>
                    <a:pt x="705897" y="91371"/>
                  </a:cubicBezTo>
                  <a:lnTo>
                    <a:pt x="705897" y="576072"/>
                  </a:lnTo>
                  <a:cubicBezTo>
                    <a:pt x="705897" y="600305"/>
                    <a:pt x="696271" y="623546"/>
                    <a:pt x="679136" y="640681"/>
                  </a:cubicBezTo>
                  <a:cubicBezTo>
                    <a:pt x="662000" y="657816"/>
                    <a:pt x="638760" y="667443"/>
                    <a:pt x="614527" y="667443"/>
                  </a:cubicBezTo>
                  <a:lnTo>
                    <a:pt x="91371" y="667443"/>
                  </a:lnTo>
                  <a:cubicBezTo>
                    <a:pt x="67138" y="667443"/>
                    <a:pt x="43897" y="657816"/>
                    <a:pt x="26762" y="640681"/>
                  </a:cubicBezTo>
                  <a:cubicBezTo>
                    <a:pt x="9627" y="623546"/>
                    <a:pt x="0" y="600305"/>
                    <a:pt x="0" y="576072"/>
                  </a:cubicBezTo>
                  <a:lnTo>
                    <a:pt x="0" y="91371"/>
                  </a:lnTo>
                  <a:cubicBezTo>
                    <a:pt x="0" y="67138"/>
                    <a:pt x="9627" y="43897"/>
                    <a:pt x="26762" y="26762"/>
                  </a:cubicBezTo>
                  <a:cubicBezTo>
                    <a:pt x="43897" y="9627"/>
                    <a:pt x="67138" y="0"/>
                    <a:pt x="91371" y="0"/>
                  </a:cubicBezTo>
                  <a:close/>
                </a:path>
              </a:pathLst>
            </a:custGeom>
            <a:blipFill>
              <a:blip r:embed="rId2"/>
              <a:stretch>
                <a:fillRect t="-2880" b="-2880"/>
              </a:stretch>
            </a:blip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2A5F7D01-B27D-B8D3-79CC-8E6F5C017714}"/>
              </a:ext>
            </a:extLst>
          </p:cNvPr>
          <p:cNvGrpSpPr/>
          <p:nvPr/>
        </p:nvGrpSpPr>
        <p:grpSpPr>
          <a:xfrm>
            <a:off x="6599233" y="1617486"/>
            <a:ext cx="3846247" cy="2670506"/>
            <a:chOff x="0" y="0"/>
            <a:chExt cx="961298" cy="667443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8D165E42-667B-AC23-81D9-B6D3DDAB1EE0}"/>
                </a:ext>
              </a:extLst>
            </p:cNvPr>
            <p:cNvSpPr/>
            <p:nvPr/>
          </p:nvSpPr>
          <p:spPr>
            <a:xfrm>
              <a:off x="0" y="0"/>
              <a:ext cx="961298" cy="667443"/>
            </a:xfrm>
            <a:custGeom>
              <a:avLst/>
              <a:gdLst/>
              <a:ahLst/>
              <a:cxnLst/>
              <a:rect l="l" t="t" r="r" b="b"/>
              <a:pathLst>
                <a:path w="961298" h="667443">
                  <a:moveTo>
                    <a:pt x="67095" y="0"/>
                  </a:moveTo>
                  <a:lnTo>
                    <a:pt x="894202" y="0"/>
                  </a:lnTo>
                  <a:cubicBezTo>
                    <a:pt x="911997" y="0"/>
                    <a:pt x="929063" y="7069"/>
                    <a:pt x="941646" y="19652"/>
                  </a:cubicBezTo>
                  <a:cubicBezTo>
                    <a:pt x="954229" y="32234"/>
                    <a:pt x="961298" y="49300"/>
                    <a:pt x="961298" y="67095"/>
                  </a:cubicBezTo>
                  <a:lnTo>
                    <a:pt x="961298" y="600348"/>
                  </a:lnTo>
                  <a:cubicBezTo>
                    <a:pt x="961298" y="618143"/>
                    <a:pt x="954229" y="635209"/>
                    <a:pt x="941646" y="647791"/>
                  </a:cubicBezTo>
                  <a:cubicBezTo>
                    <a:pt x="929063" y="660374"/>
                    <a:pt x="911997" y="667443"/>
                    <a:pt x="894202" y="667443"/>
                  </a:cubicBezTo>
                  <a:lnTo>
                    <a:pt x="67095" y="667443"/>
                  </a:lnTo>
                  <a:cubicBezTo>
                    <a:pt x="49300" y="667443"/>
                    <a:pt x="32234" y="660374"/>
                    <a:pt x="19652" y="647791"/>
                  </a:cubicBezTo>
                  <a:cubicBezTo>
                    <a:pt x="7069" y="635209"/>
                    <a:pt x="0" y="618143"/>
                    <a:pt x="0" y="600348"/>
                  </a:cubicBezTo>
                  <a:lnTo>
                    <a:pt x="0" y="67095"/>
                  </a:lnTo>
                  <a:cubicBezTo>
                    <a:pt x="0" y="49300"/>
                    <a:pt x="7069" y="32234"/>
                    <a:pt x="19652" y="19652"/>
                  </a:cubicBezTo>
                  <a:cubicBezTo>
                    <a:pt x="32234" y="7069"/>
                    <a:pt x="49300" y="0"/>
                    <a:pt x="67095" y="0"/>
                  </a:cubicBezTo>
                  <a:close/>
                </a:path>
              </a:pathLst>
            </a:custGeom>
            <a:blipFill>
              <a:blip r:embed="rId3"/>
              <a:stretch>
                <a:fillRect t="-22013" b="-22013"/>
              </a:stretch>
            </a:blipFill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6" name="TextBox 20">
            <a:extLst>
              <a:ext uri="{FF2B5EF4-FFF2-40B4-BE49-F238E27FC236}">
                <a16:creationId xmlns:a16="http://schemas.microsoft.com/office/drawing/2014/main" id="{22F512F2-BA72-E225-32BF-3F47BDE05A20}"/>
              </a:ext>
            </a:extLst>
          </p:cNvPr>
          <p:cNvSpPr txBox="1"/>
          <p:nvPr/>
        </p:nvSpPr>
        <p:spPr>
          <a:xfrm>
            <a:off x="2325585" y="3377308"/>
            <a:ext cx="2251533" cy="63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57"/>
              </a:lnSpc>
            </a:pPr>
            <a:r>
              <a:rPr lang="en-US" sz="2400" b="1" dirty="0">
                <a:ea typeface="Roca Two Heavy"/>
                <a:cs typeface="Roca Two Heavy"/>
                <a:sym typeface="Roca Two Heavy"/>
              </a:rPr>
              <a:t>Drivers</a:t>
            </a:r>
          </a:p>
          <a:p>
            <a:pPr>
              <a:lnSpc>
                <a:spcPts val="2357"/>
              </a:lnSpc>
            </a:pPr>
            <a:endParaRPr lang="en-US" sz="2875" b="1" dirty="0">
              <a:ea typeface="Roca Two Heavy"/>
              <a:cs typeface="Roca Two Heavy"/>
              <a:sym typeface="Roca Two Heavy"/>
            </a:endParaRP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8A79C8F9-2491-E685-1773-BC2FCA3C1EF8}"/>
              </a:ext>
            </a:extLst>
          </p:cNvPr>
          <p:cNvSpPr txBox="1"/>
          <p:nvPr/>
        </p:nvSpPr>
        <p:spPr>
          <a:xfrm>
            <a:off x="7620209" y="4439858"/>
            <a:ext cx="2859535" cy="58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86"/>
              </a:lnSpc>
            </a:pPr>
            <a:r>
              <a:rPr lang="en-US" sz="2400" b="1" dirty="0">
                <a:ea typeface="Roca Two Heavy"/>
                <a:cs typeface="Roca Two Heavy"/>
                <a:sym typeface="Roca Two Heavy"/>
              </a:rPr>
              <a:t>City Authorities</a:t>
            </a:r>
          </a:p>
          <a:p>
            <a:pPr>
              <a:lnSpc>
                <a:spcPts val="2186"/>
              </a:lnSpc>
            </a:pPr>
            <a:endParaRPr lang="en-US" sz="2666" b="1" dirty="0">
              <a:solidFill>
                <a:srgbClr val="1D348A"/>
              </a:solidFill>
              <a:latin typeface="Roca Two Heavy"/>
              <a:ea typeface="Roca Two Heavy"/>
              <a:cs typeface="Roca Two Heavy"/>
              <a:sym typeface="Roca Two Heavy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1840D653-25AA-2837-A664-B598D190AF09}"/>
              </a:ext>
            </a:extLst>
          </p:cNvPr>
          <p:cNvSpPr txBox="1"/>
          <p:nvPr/>
        </p:nvSpPr>
        <p:spPr>
          <a:xfrm>
            <a:off x="1021178" y="2095967"/>
            <a:ext cx="4624706" cy="79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400" b="1" dirty="0">
                <a:solidFill>
                  <a:srgbClr val="000000"/>
                </a:solidFill>
                <a:ea typeface="Noto Serif Display"/>
                <a:cs typeface="Noto Serif Display"/>
                <a:sym typeface="Noto Serif Display"/>
              </a:rPr>
              <a:t>Quick risk + alert → choose an alternative route</a:t>
            </a: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4690D5A3-9618-EFB4-BAC0-D8A9847C7513}"/>
              </a:ext>
            </a:extLst>
          </p:cNvPr>
          <p:cNvSpPr txBox="1"/>
          <p:nvPr/>
        </p:nvSpPr>
        <p:spPr>
          <a:xfrm>
            <a:off x="5953449" y="4888412"/>
            <a:ext cx="4879479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400" b="1" dirty="0">
                <a:solidFill>
                  <a:srgbClr val="000000"/>
                </a:solidFill>
                <a:ea typeface="Noto Serif Display"/>
                <a:cs typeface="Noto Serif Display"/>
                <a:sym typeface="Noto Serif Display"/>
              </a:rPr>
              <a:t>Analytics + history + forecast → manage traffic and policy</a:t>
            </a:r>
          </a:p>
          <a:p>
            <a:pPr algn="ctr">
              <a:lnSpc>
                <a:spcPts val="3173"/>
              </a:lnSpc>
            </a:pPr>
            <a:endParaRPr lang="en-US" sz="2266" dirty="0">
              <a:solidFill>
                <a:srgbClr val="000000"/>
              </a:solidFill>
              <a:latin typeface="Noto Serif Display"/>
              <a:ea typeface="Noto Serif Display"/>
              <a:cs typeface="Noto Serif Display"/>
              <a:sym typeface="Noto Serif Display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30737BB8-C3C0-E690-25AF-959A2CAB75DE}"/>
              </a:ext>
            </a:extLst>
          </p:cNvPr>
          <p:cNvSpPr txBox="1"/>
          <p:nvPr/>
        </p:nvSpPr>
        <p:spPr>
          <a:xfrm>
            <a:off x="-517422" y="849039"/>
            <a:ext cx="7701906" cy="612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8"/>
              </a:lnSpc>
            </a:pPr>
            <a:r>
              <a:rPr lang="en-US" sz="4800" b="1" dirty="0">
                <a:latin typeface="+mj-lt"/>
                <a:ea typeface="Roca Two Heavy"/>
                <a:cs typeface="Roca Two Heavy"/>
                <a:sym typeface="Roca Two Heavy"/>
              </a:rPr>
              <a:t>Users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67F91A-F450-6B46-B0FB-11B0DCC11220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781D5D-D3EE-42DB-9958-5D6C8DB6746F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fický objekt 13" descr="Rodina s dievčaťom obrys">
            <a:extLst>
              <a:ext uri="{FF2B5EF4-FFF2-40B4-BE49-F238E27FC236}">
                <a16:creationId xmlns:a16="http://schemas.microsoft.com/office/drawing/2014/main" id="{65E7CF82-D79D-F554-0B3D-B5C3BC547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0" y="808110"/>
            <a:ext cx="42062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4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5">
            <a:extLst>
              <a:ext uri="{FF2B5EF4-FFF2-40B4-BE49-F238E27FC236}">
                <a16:creationId xmlns:a16="http://schemas.microsoft.com/office/drawing/2014/main" id="{296275CA-3A60-B636-CAAC-719EC13C69B4}"/>
              </a:ext>
            </a:extLst>
          </p:cNvPr>
          <p:cNvSpPr/>
          <p:nvPr/>
        </p:nvSpPr>
        <p:spPr>
          <a:xfrm>
            <a:off x="1362618" y="2593469"/>
            <a:ext cx="4156892" cy="2880366"/>
          </a:xfrm>
          <a:custGeom>
            <a:avLst/>
            <a:gdLst/>
            <a:ahLst/>
            <a:cxnLst/>
            <a:rect l="l" t="t" r="r" b="b"/>
            <a:pathLst>
              <a:path w="5924450" h="4114800">
                <a:moveTo>
                  <a:pt x="0" y="0"/>
                </a:moveTo>
                <a:lnTo>
                  <a:pt x="5924451" y="0"/>
                </a:lnTo>
                <a:lnTo>
                  <a:pt x="5924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55A0F488-1B29-D8D5-96EC-4CDC7B224FEE}"/>
              </a:ext>
            </a:extLst>
          </p:cNvPr>
          <p:cNvSpPr txBox="1"/>
          <p:nvPr/>
        </p:nvSpPr>
        <p:spPr>
          <a:xfrm>
            <a:off x="1772917" y="2822616"/>
            <a:ext cx="3336295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7"/>
              </a:lnSpc>
            </a:pPr>
            <a:r>
              <a:rPr lang="en-US" sz="2400" b="1" dirty="0">
                <a:ea typeface="Roca One Bold"/>
                <a:cs typeface="Roca One Bold"/>
                <a:sym typeface="Roca One Bold"/>
              </a:rPr>
              <a:t>Non-functional needs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D0C80AFE-6AF6-FBD3-FA0D-783618D51B3D}"/>
              </a:ext>
            </a:extLst>
          </p:cNvPr>
          <p:cNvSpPr txBox="1"/>
          <p:nvPr/>
        </p:nvSpPr>
        <p:spPr>
          <a:xfrm>
            <a:off x="1772917" y="3422779"/>
            <a:ext cx="3278308" cy="200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</a:pPr>
            <a:r>
              <a:rPr lang="en-US" sz="2400" b="1" dirty="0">
                <a:ea typeface="TT Chocolates"/>
                <a:cs typeface="TT Chocolates"/>
                <a:sym typeface="TT Chocolates"/>
              </a:rPr>
              <a:t>Near real-time, fast response, high availability, scalable, mobile-friendly, and trustworthy.</a:t>
            </a:r>
          </a:p>
          <a:p>
            <a:pPr algn="ctr">
              <a:lnSpc>
                <a:spcPts val="2633"/>
              </a:lnSpc>
            </a:pPr>
            <a:endParaRPr lang="en-US" sz="2400" b="1" dirty="0">
              <a:ea typeface="TT Chocolates"/>
              <a:cs typeface="TT Chocolates"/>
              <a:sym typeface="TT Chocolates"/>
            </a:endParaRP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59E12C48-B1BA-139D-A4FA-C85753A130E0}"/>
              </a:ext>
            </a:extLst>
          </p:cNvPr>
          <p:cNvSpPr txBox="1"/>
          <p:nvPr/>
        </p:nvSpPr>
        <p:spPr>
          <a:xfrm>
            <a:off x="7394316" y="1819594"/>
            <a:ext cx="2401085" cy="883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87"/>
              </a:lnSpc>
            </a:pPr>
            <a:r>
              <a:rPr lang="en-US" sz="2400" b="1" dirty="0">
                <a:ea typeface="Roca One Bold"/>
                <a:cs typeface="Roca One Bold"/>
                <a:sym typeface="Roca One Bold"/>
              </a:rPr>
              <a:t>Why Smart</a:t>
            </a:r>
            <a:r>
              <a:rPr lang="uk-UA" sz="2400" b="1" dirty="0">
                <a:ea typeface="Roca One Bold"/>
                <a:cs typeface="Roca One Bold"/>
                <a:sym typeface="Roca One Bold"/>
              </a:rPr>
              <a:t>-</a:t>
            </a:r>
            <a:r>
              <a:rPr lang="en-US" sz="2400" b="1" dirty="0">
                <a:ea typeface="Roca One Bold"/>
                <a:cs typeface="Roca One Bold"/>
                <a:sym typeface="Roca One Bold"/>
              </a:rPr>
              <a:t>Jam?</a:t>
            </a:r>
          </a:p>
          <a:p>
            <a:pPr algn="ctr">
              <a:lnSpc>
                <a:spcPts val="4279"/>
              </a:lnSpc>
            </a:pPr>
            <a:endParaRPr lang="en-US" sz="2400" b="1" dirty="0">
              <a:ea typeface="Roca One Bold"/>
              <a:cs typeface="Roca One Bold"/>
              <a:sym typeface="Roca One Bold"/>
            </a:endParaRP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C645800A-678E-474C-20CF-0B199862BB3A}"/>
              </a:ext>
            </a:extLst>
          </p:cNvPr>
          <p:cNvSpPr txBox="1"/>
          <p:nvPr/>
        </p:nvSpPr>
        <p:spPr>
          <a:xfrm>
            <a:off x="2369123" y="824556"/>
            <a:ext cx="8946577" cy="593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8"/>
              </a:lnSpc>
            </a:pPr>
            <a:r>
              <a:rPr lang="en-US" sz="4800" b="1" dirty="0">
                <a:latin typeface="+mj-lt"/>
                <a:ea typeface="Roca Two Heavy"/>
                <a:cs typeface="Roca Two Heavy"/>
                <a:sym typeface="Roca Two Heavy"/>
              </a:rPr>
              <a:t>Quality &amp; outcome requirements?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434EDB-CFA8-626E-B739-6408A8308B6A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11ED31-B7EB-E349-55D6-8A17DDCA188A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60AE4A-26D3-72E5-AF5B-D406D489A5E1}"/>
              </a:ext>
            </a:extLst>
          </p:cNvPr>
          <p:cNvCxnSpPr/>
          <p:nvPr/>
        </p:nvCxnSpPr>
        <p:spPr>
          <a:xfrm>
            <a:off x="1772917" y="3319843"/>
            <a:ext cx="3278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Fork In Road with solid fill">
            <a:extLst>
              <a:ext uri="{FF2B5EF4-FFF2-40B4-BE49-F238E27FC236}">
                <a16:creationId xmlns:a16="http://schemas.microsoft.com/office/drawing/2014/main" id="{AAE20306-F1A5-693C-72B1-38467A1C9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973" y="758261"/>
            <a:ext cx="457200" cy="45720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53E62738-63B9-6C35-AC40-B1ACE3A25F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7564046"/>
              </p:ext>
            </p:extLst>
          </p:nvPr>
        </p:nvGraphicFramePr>
        <p:xfrm>
          <a:off x="6765382" y="2423077"/>
          <a:ext cx="4064000" cy="374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84448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16F4E5-39CC-FE9A-8697-598A7B56C705}"/>
              </a:ext>
            </a:extLst>
          </p:cNvPr>
          <p:cNvSpPr txBox="1"/>
          <p:nvPr/>
        </p:nvSpPr>
        <p:spPr>
          <a:xfrm>
            <a:off x="2163871" y="2736502"/>
            <a:ext cx="78642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400" b="1" dirty="0">
                <a:latin typeface="+mj-lt"/>
                <a:ea typeface="Calibri" pitchFamily="34" charset="-122"/>
                <a:cs typeface="Calibri" pitchFamily="34" charset="-120"/>
              </a:rPr>
              <a:t>SWOT ANAL</a:t>
            </a:r>
            <a:r>
              <a:rPr lang="en-GB" sz="8400" b="1" dirty="0">
                <a:latin typeface="+mj-lt"/>
                <a:ea typeface="Calibri" pitchFamily="34" charset="-122"/>
                <a:cs typeface="Calibri" pitchFamily="34" charset="-120"/>
              </a:rPr>
              <a:t>Y</a:t>
            </a:r>
            <a:r>
              <a:rPr lang="en-US" sz="8400" b="1" dirty="0">
                <a:latin typeface="+mj-lt"/>
                <a:ea typeface="Calibri" pitchFamily="34" charset="-122"/>
                <a:cs typeface="Calibri" pitchFamily="34" charset="-120"/>
              </a:rPr>
              <a:t>SIS</a:t>
            </a:r>
            <a:endParaRPr lang="en-US" sz="8400" b="1" dirty="0"/>
          </a:p>
        </p:txBody>
      </p:sp>
      <p:pic>
        <p:nvPicPr>
          <p:cNvPr id="1026" name="Picture 2" descr="SWOT: Strengths, Weaknesses, Opportunities, Threats">
            <a:extLst>
              <a:ext uri="{FF2B5EF4-FFF2-40B4-BE49-F238E27FC236}">
                <a16:creationId xmlns:a16="http://schemas.microsoft.com/office/drawing/2014/main" id="{23651CEA-4C94-3BF5-F281-5854814ED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37390"/>
            <a:ext cx="2997200" cy="275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Magnifying glass with solid fill">
            <a:extLst>
              <a:ext uri="{FF2B5EF4-FFF2-40B4-BE49-F238E27FC236}">
                <a16:creationId xmlns:a16="http://schemas.microsoft.com/office/drawing/2014/main" id="{53ABBA02-FD55-93EB-CEA5-CDB1AF9064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8394" y="2884736"/>
            <a:ext cx="895477" cy="895477"/>
          </a:xfrm>
          <a:prstGeom prst="rect">
            <a:avLst/>
          </a:prstGeom>
        </p:spPr>
      </p:pic>
      <p:sp>
        <p:nvSpPr>
          <p:cNvPr id="2" name="Freeform: Shape 18">
            <a:extLst>
              <a:ext uri="{FF2B5EF4-FFF2-40B4-BE49-F238E27FC236}">
                <a16:creationId xmlns:a16="http://schemas.microsoft.com/office/drawing/2014/main" id="{2645F507-CFE3-4712-7F83-8ADF33EC37A7}"/>
              </a:ext>
            </a:extLst>
          </p:cNvPr>
          <p:cNvSpPr/>
          <p:nvPr/>
        </p:nvSpPr>
        <p:spPr>
          <a:xfrm>
            <a:off x="-3581400" y="-406401"/>
            <a:ext cx="18707100" cy="767080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0727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961" y="429769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SWOT Overview</a:t>
            </a:r>
            <a:endParaRPr lang="en-US" sz="48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Internal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685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External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0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6792" y="1024128"/>
            <a:ext cx="4983480" cy="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3679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320272" y="1024128"/>
            <a:ext cx="0" cy="228600"/>
          </a:xfrm>
          <a:prstGeom prst="line">
            <a:avLst/>
          </a:prstGeom>
          <a:noFill/>
          <a:ln w="25400">
            <a:solidFill>
              <a:srgbClr val="2B9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7E879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US" sz="92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290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chemeClr val="accent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en-US" sz="9200" dirty="0">
              <a:solidFill>
                <a:schemeClr val="accent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74C7C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92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72600" y="1051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E8C07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92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Strengths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Practical value for users</a:t>
            </a:r>
            <a:endParaRPr lang="uk-UA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Clear problem focus</a:t>
            </a:r>
            <a:endParaRPr lang="uk-UA" sz="1600" b="1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Data-driven approach</a:t>
            </a:r>
            <a:endParaRPr lang="uk-UA" sz="1600" b="1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User-oriented design 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Scalable concept</a:t>
            </a:r>
          </a:p>
        </p:txBody>
      </p:sp>
      <p:sp>
        <p:nvSpPr>
          <p:cNvPr id="20" name="Text 18"/>
          <p:cNvSpPr/>
          <p:nvPr/>
        </p:nvSpPr>
        <p:spPr>
          <a:xfrm>
            <a:off x="35935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7706"/>
                </a:solidFill>
                <a:ea typeface="Calibri" pitchFamily="34" charset="-122"/>
                <a:cs typeface="Calibri" pitchFamily="34" charset="-120"/>
              </a:rPr>
              <a:t>Weaknesses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118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Dependence on data quality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Limited historical data (early stage)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Model complexity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Potential performance issues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User trust challenge</a:t>
            </a:r>
          </a:p>
        </p:txBody>
      </p:sp>
      <p:sp>
        <p:nvSpPr>
          <p:cNvPr id="24" name="Text 22"/>
          <p:cNvSpPr/>
          <p:nvPr/>
        </p:nvSpPr>
        <p:spPr>
          <a:xfrm>
            <a:off x="65653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  <a:ea typeface="Calibri" pitchFamily="34" charset="-122"/>
                <a:cs typeface="Calibri" pitchFamily="34" charset="-120"/>
              </a:rPr>
              <a:t>Opportunities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83680" y="2633472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Growing smart-city initiatives</a:t>
            </a:r>
            <a:endParaRPr lang="en-US" sz="1600" b="1" dirty="0">
              <a:solidFill>
                <a:srgbClr val="384152"/>
              </a:solidFill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Integration with navigation platforms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Increasing demand for mobility tools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Expansion to public transport analytics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Academic and research potential</a:t>
            </a:r>
          </a:p>
        </p:txBody>
      </p:sp>
      <p:sp>
        <p:nvSpPr>
          <p:cNvPr id="28" name="Text 26"/>
          <p:cNvSpPr/>
          <p:nvPr/>
        </p:nvSpPr>
        <p:spPr>
          <a:xfrm>
            <a:off x="9537192" y="208483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E8C07A"/>
                </a:solidFill>
                <a:ea typeface="Calibri" pitchFamily="34" charset="-122"/>
                <a:cs typeface="Calibri" pitchFamily="34" charset="-120"/>
              </a:rPr>
              <a:t>Threats</a:t>
            </a:r>
            <a:r>
              <a:rPr lang="en-US" b="1" dirty="0">
                <a:solidFill>
                  <a:srgbClr val="B45309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73489" y="2618994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Strong competition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Data access restrictions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Rapid changes in traffic patterns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Privacy and regulation concerns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/>
              <a:t>Technology expectations</a:t>
            </a:r>
          </a:p>
          <a:p>
            <a:pPr>
              <a:spcAft>
                <a:spcPts val="600"/>
              </a:spcAft>
              <a:buSzPct val="100000"/>
            </a:pPr>
            <a:endParaRPr lang="en-US" sz="1200" dirty="0"/>
          </a:p>
        </p:txBody>
      </p: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AED448E0-2163-9CC1-F713-74844E8D0459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628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0">
            <a:extLst>
              <a:ext uri="{FF2B5EF4-FFF2-40B4-BE49-F238E27FC236}">
                <a16:creationId xmlns:a16="http://schemas.microsoft.com/office/drawing/2014/main" id="{353FB450-E834-7E7F-6867-A30EF2B8D6AA}"/>
              </a:ext>
            </a:extLst>
          </p:cNvPr>
          <p:cNvCxnSpPr>
            <a:cxnSpLocks/>
          </p:cNvCxnSpPr>
          <p:nvPr/>
        </p:nvCxnSpPr>
        <p:spPr>
          <a:xfrm>
            <a:off x="2143125" y="1435934"/>
            <a:ext cx="2152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0">
            <a:extLst>
              <a:ext uri="{FF2B5EF4-FFF2-40B4-BE49-F238E27FC236}">
                <a16:creationId xmlns:a16="http://schemas.microsoft.com/office/drawing/2014/main" id="{FD1A338F-1338-0016-B6C0-CD571CA0211E}"/>
              </a:ext>
            </a:extLst>
          </p:cNvPr>
          <p:cNvCxnSpPr>
            <a:cxnSpLocks/>
          </p:cNvCxnSpPr>
          <p:nvPr/>
        </p:nvCxnSpPr>
        <p:spPr>
          <a:xfrm>
            <a:off x="5295900" y="1435934"/>
            <a:ext cx="2095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0">
            <a:extLst>
              <a:ext uri="{FF2B5EF4-FFF2-40B4-BE49-F238E27FC236}">
                <a16:creationId xmlns:a16="http://schemas.microsoft.com/office/drawing/2014/main" id="{22F5F4F6-4691-4552-B3ED-AEF593F2B9AC}"/>
              </a:ext>
            </a:extLst>
          </p:cNvPr>
          <p:cNvCxnSpPr>
            <a:cxnSpLocks/>
          </p:cNvCxnSpPr>
          <p:nvPr/>
        </p:nvCxnSpPr>
        <p:spPr>
          <a:xfrm>
            <a:off x="8201025" y="1435934"/>
            <a:ext cx="24098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10">
            <a:extLst>
              <a:ext uri="{FF2B5EF4-FFF2-40B4-BE49-F238E27FC236}">
                <a16:creationId xmlns:a16="http://schemas.microsoft.com/office/drawing/2014/main" id="{98351583-2FF3-67E6-B506-7A6E0EC2F777}"/>
              </a:ext>
            </a:extLst>
          </p:cNvPr>
          <p:cNvCxnSpPr>
            <a:cxnSpLocks/>
          </p:cNvCxnSpPr>
          <p:nvPr/>
        </p:nvCxnSpPr>
        <p:spPr>
          <a:xfrm>
            <a:off x="10844022" y="1435934"/>
            <a:ext cx="476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5">
            <a:extLst>
              <a:ext uri="{FF2B5EF4-FFF2-40B4-BE49-F238E27FC236}">
                <a16:creationId xmlns:a16="http://schemas.microsoft.com/office/drawing/2014/main" id="{AD9A5CCB-FA79-200C-B37F-597E4F579AE1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AA67-9253-203E-F0BB-8F09EA5C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6">
            <a:extLst>
              <a:ext uri="{FF2B5EF4-FFF2-40B4-BE49-F238E27FC236}">
                <a16:creationId xmlns:a16="http://schemas.microsoft.com/office/drawing/2014/main" id="{A7F2607B-9EDE-CA25-95DE-6AA47E351D19}"/>
              </a:ext>
            </a:extLst>
          </p:cNvPr>
          <p:cNvSpPr/>
          <p:nvPr/>
        </p:nvSpPr>
        <p:spPr>
          <a:xfrm>
            <a:off x="1123950" y="2159943"/>
            <a:ext cx="384175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Practical value for users</a:t>
            </a:r>
            <a:endParaRPr lang="uk-UA" sz="2400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Clear problem focus</a:t>
            </a:r>
            <a:endParaRPr lang="uk-UA" sz="2400" b="1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Data-driven approach</a:t>
            </a:r>
            <a:endParaRPr lang="uk-UA" sz="2400" b="1" dirty="0">
              <a:latin typeface="+mj-lt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User-oriented design 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Scalable concept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FF4B3A27-C674-1777-882F-BE4A61C5DC52}"/>
              </a:ext>
            </a:extLst>
          </p:cNvPr>
          <p:cNvSpPr/>
          <p:nvPr/>
        </p:nvSpPr>
        <p:spPr>
          <a:xfrm>
            <a:off x="-1632585" y="680929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Strengths</a:t>
            </a:r>
            <a:endParaRPr lang="en-US" sz="2800" dirty="0">
              <a:latin typeface="+mj-lt"/>
            </a:endParaRPr>
          </a:p>
        </p:txBody>
      </p:sp>
      <p:pic>
        <p:nvPicPr>
          <p:cNvPr id="2050" name="Picture 2" descr="How can you develop a Data Driven approach in your organization?">
            <a:extLst>
              <a:ext uri="{FF2B5EF4-FFF2-40B4-BE49-F238E27FC236}">
                <a16:creationId xmlns:a16="http://schemas.microsoft.com/office/drawing/2014/main" id="{7F786655-97AB-86FA-3AEE-2C71743F0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475848"/>
            <a:ext cx="6058922" cy="504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5">
            <a:extLst>
              <a:ext uri="{FF2B5EF4-FFF2-40B4-BE49-F238E27FC236}">
                <a16:creationId xmlns:a16="http://schemas.microsoft.com/office/drawing/2014/main" id="{313EC1DD-B1E5-9997-C293-5E4FA65A2BA6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0">
            <a:extLst>
              <a:ext uri="{FF2B5EF4-FFF2-40B4-BE49-F238E27FC236}">
                <a16:creationId xmlns:a16="http://schemas.microsoft.com/office/drawing/2014/main" id="{27A049A3-6E4E-099F-39B0-5FDCE225B158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cký objekt 14" descr="Svalnaté rameno výplň plnou farbou">
            <a:extLst>
              <a:ext uri="{FF2B5EF4-FFF2-40B4-BE49-F238E27FC236}">
                <a16:creationId xmlns:a16="http://schemas.microsoft.com/office/drawing/2014/main" id="{06AD900D-C6C3-948C-785C-329367303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2150" y="63520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11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4">
            <a:extLst>
              <a:ext uri="{FF2B5EF4-FFF2-40B4-BE49-F238E27FC236}">
                <a16:creationId xmlns:a16="http://schemas.microsoft.com/office/drawing/2014/main" id="{5E27C822-0D96-AE8A-3BCB-590B71CA73AF}"/>
              </a:ext>
            </a:extLst>
          </p:cNvPr>
          <p:cNvSpPr/>
          <p:nvPr/>
        </p:nvSpPr>
        <p:spPr>
          <a:xfrm>
            <a:off x="6600253" y="1967824"/>
            <a:ext cx="4531995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Growing smart-city initiatives</a:t>
            </a:r>
            <a:endParaRPr lang="en-US" sz="2400" b="1" dirty="0">
              <a:solidFill>
                <a:srgbClr val="384152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Integration with navigation platforms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Increasing demand for mobility tools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Expansion to public transport analytics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Academic and research potential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24A7BD-14A2-FD0D-32A5-7BA1C1667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44" y="1013181"/>
            <a:ext cx="3973974" cy="5168292"/>
          </a:xfrm>
          <a:prstGeom prst="rect">
            <a:avLst/>
          </a:prstGeom>
        </p:spPr>
      </p:pic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9D9220DE-2A03-FBD0-8472-39B06BECA8B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0">
            <a:extLst>
              <a:ext uri="{FF2B5EF4-FFF2-40B4-BE49-F238E27FC236}">
                <a16:creationId xmlns:a16="http://schemas.microsoft.com/office/drawing/2014/main" id="{40CE0E9C-1401-80EC-9794-CDB095818208}"/>
              </a:ext>
            </a:extLst>
          </p:cNvPr>
          <p:cNvSpPr/>
          <p:nvPr/>
        </p:nvSpPr>
        <p:spPr>
          <a:xfrm>
            <a:off x="-756285" y="734677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Opportunities</a:t>
            </a:r>
            <a:endParaRPr lang="en-US" sz="4800" dirty="0">
              <a:latin typeface="+mj-lt"/>
            </a:endParaRPr>
          </a:p>
        </p:txBody>
      </p: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A472F5B4-88F8-A754-8CF1-E6BBF1DBCDC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122" name="Picture 2" descr="Opportunity Icon SVG Vector &amp; PNG Free Download | UXWing">
            <a:extLst>
              <a:ext uri="{FF2B5EF4-FFF2-40B4-BE49-F238E27FC236}">
                <a16:creationId xmlns:a16="http://schemas.microsoft.com/office/drawing/2014/main" id="{997FA5EC-6D72-7AF8-C4E7-0DB509E1A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3" y="67652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573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0">
            <a:extLst>
              <a:ext uri="{FF2B5EF4-FFF2-40B4-BE49-F238E27FC236}">
                <a16:creationId xmlns:a16="http://schemas.microsoft.com/office/drawing/2014/main" id="{5C1BBADB-E14C-B829-E739-DE188913BBF8}"/>
              </a:ext>
            </a:extLst>
          </p:cNvPr>
          <p:cNvSpPr/>
          <p:nvPr/>
        </p:nvSpPr>
        <p:spPr>
          <a:xfrm>
            <a:off x="1773555" y="2168579"/>
            <a:ext cx="486537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Dependence on data quality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Limited historical data (early stage)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Model complexity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Potential performance issues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User trust challenge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6458B0F5-334E-0755-360D-AA9B5E293B13}"/>
              </a:ext>
            </a:extLst>
          </p:cNvPr>
          <p:cNvSpPr/>
          <p:nvPr/>
        </p:nvSpPr>
        <p:spPr>
          <a:xfrm>
            <a:off x="-1417320" y="7284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Weaknesses</a:t>
            </a:r>
            <a:endParaRPr lang="en-US" sz="4800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A89393-D38D-CE05-6076-D1A586E3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093" y="1252728"/>
            <a:ext cx="4286250" cy="4876800"/>
          </a:xfrm>
          <a:prstGeom prst="rect">
            <a:avLst/>
          </a:prstGeom>
        </p:spPr>
      </p:pic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E6F4AA6F-5E85-D089-C422-9C96D5C5B03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F543F9C6-97BB-58D3-D755-7BC3964A18CF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Weakness - Free miscellaneous icons">
            <a:extLst>
              <a:ext uri="{FF2B5EF4-FFF2-40B4-BE49-F238E27FC236}">
                <a16:creationId xmlns:a16="http://schemas.microsoft.com/office/drawing/2014/main" id="{C1A30FAF-077C-00DD-4427-8B1DDAA81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73342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56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8">
            <a:extLst>
              <a:ext uri="{FF2B5EF4-FFF2-40B4-BE49-F238E27FC236}">
                <a16:creationId xmlns:a16="http://schemas.microsoft.com/office/drawing/2014/main" id="{AD5129BB-BDF8-5978-0250-ED92B3D2FFF2}"/>
              </a:ext>
            </a:extLst>
          </p:cNvPr>
          <p:cNvSpPr/>
          <p:nvPr/>
        </p:nvSpPr>
        <p:spPr>
          <a:xfrm>
            <a:off x="7557408" y="2210785"/>
            <a:ext cx="38828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Strong competition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Data access restrictions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Rapid changes in traffic patterns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Privacy and regulation concerns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latin typeface="+mj-lt"/>
              </a:rPr>
              <a:t>Technology expectations</a:t>
            </a:r>
          </a:p>
          <a:p>
            <a:pPr>
              <a:spcAft>
                <a:spcPts val="600"/>
              </a:spcAft>
              <a:buSzPct val="100000"/>
            </a:pPr>
            <a:endParaRPr lang="en-US" sz="20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040665-27C2-46C5-0AC2-9B2244FC8E4C}"/>
              </a:ext>
            </a:extLst>
          </p:cNvPr>
          <p:cNvSpPr/>
          <p:nvPr/>
        </p:nvSpPr>
        <p:spPr>
          <a:xfrm>
            <a:off x="-1825625" y="74503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Threats	</a:t>
            </a:r>
            <a:endParaRPr lang="en-US" sz="4800" dirty="0">
              <a:latin typeface="+mj-lt"/>
            </a:endParaRPr>
          </a:p>
        </p:txBody>
      </p:sp>
      <p:pic>
        <p:nvPicPr>
          <p:cNvPr id="4098" name="Picture 2" descr="5 Biggest Data Privacy Concerns and Challenges for Business Owners -  CookieYes">
            <a:extLst>
              <a:ext uri="{FF2B5EF4-FFF2-40B4-BE49-F238E27FC236}">
                <a16:creationId xmlns:a16="http://schemas.microsoft.com/office/drawing/2014/main" id="{9BFC9101-CCF8-57C3-EFCD-05D1BE74A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24" y="1874520"/>
            <a:ext cx="6445534" cy="408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5">
            <a:extLst>
              <a:ext uri="{FF2B5EF4-FFF2-40B4-BE49-F238E27FC236}">
                <a16:creationId xmlns:a16="http://schemas.microsoft.com/office/drawing/2014/main" id="{1E68C433-0BA8-BA7F-6ED4-A0C568525ADE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C57E3BC4-A59F-0E87-7740-DAFD62986AB9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Threat detection - Free security icons">
            <a:extLst>
              <a:ext uri="{FF2B5EF4-FFF2-40B4-BE49-F238E27FC236}">
                <a16:creationId xmlns:a16="http://schemas.microsoft.com/office/drawing/2014/main" id="{BCED8226-8689-D396-084A-75E42A15D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9931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680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1B51C7-F2D6-CC9B-675C-62FD2D2DD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Autofit/>
          </a:bodyPr>
          <a:lstStyle/>
          <a:p>
            <a:r>
              <a:rPr lang="sk-SK" sz="8400" b="1" dirty="0"/>
              <a:t>Model </a:t>
            </a:r>
            <a:r>
              <a:rPr lang="sk-SK" sz="8400" b="1" dirty="0" err="1"/>
              <a:t>Data</a:t>
            </a:r>
            <a:r>
              <a:rPr lang="sk-SK" sz="8400" b="1" dirty="0"/>
              <a:t> </a:t>
            </a:r>
            <a:r>
              <a:rPr lang="sk-SK" sz="8400" b="1" dirty="0" err="1"/>
              <a:t>Visualisation</a:t>
            </a:r>
            <a:endParaRPr lang="sk-SK" sz="8400" dirty="0"/>
          </a:p>
        </p:txBody>
      </p:sp>
      <p:pic>
        <p:nvPicPr>
          <p:cNvPr id="6" name="Graphic 5" descr="Magnifying glass with solid fill">
            <a:extLst>
              <a:ext uri="{FF2B5EF4-FFF2-40B4-BE49-F238E27FC236}">
                <a16:creationId xmlns:a16="http://schemas.microsoft.com/office/drawing/2014/main" id="{80861374-2D5E-852A-8C5E-13071D09B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261" y="2875780"/>
            <a:ext cx="895477" cy="89547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43D2BD-76B7-DFC3-C690-85976FDFF6E8}"/>
              </a:ext>
            </a:extLst>
          </p:cNvPr>
          <p:cNvSpPr/>
          <p:nvPr/>
        </p:nvSpPr>
        <p:spPr>
          <a:xfrm>
            <a:off x="-4038600" y="-2310005"/>
            <a:ext cx="19812000" cy="1147801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868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234F76-5BF2-B21B-0511-D51955A1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041" y="400210"/>
            <a:ext cx="9302465" cy="1280890"/>
          </a:xfrm>
        </p:spPr>
        <p:txBody>
          <a:bodyPr>
            <a:normAutofit/>
          </a:bodyPr>
          <a:lstStyle/>
          <a:p>
            <a:pPr algn="ctr"/>
            <a:r>
              <a:rPr lang="sk-SK" sz="2400" b="1" dirty="0" err="1"/>
              <a:t>Using</a:t>
            </a:r>
            <a:r>
              <a:rPr lang="sk-SK" sz="2400" b="1" dirty="0"/>
              <a:t> most </a:t>
            </a:r>
            <a:r>
              <a:rPr lang="sk-SK" sz="2400" b="1" dirty="0" err="1"/>
              <a:t>up</a:t>
            </a:r>
            <a:r>
              <a:rPr lang="sk-SK" sz="2400" b="1" dirty="0"/>
              <a:t>-to </a:t>
            </a:r>
            <a:r>
              <a:rPr lang="sk-SK" sz="2400" b="1" dirty="0" err="1"/>
              <a:t>date</a:t>
            </a:r>
            <a:r>
              <a:rPr lang="sk-SK" sz="2400" b="1" dirty="0"/>
              <a:t> </a:t>
            </a:r>
            <a:r>
              <a:rPr lang="sk-SK" sz="2400" b="1" dirty="0" err="1"/>
              <a:t>data</a:t>
            </a:r>
            <a:r>
              <a:rPr lang="sk-SK" sz="2400" b="1" dirty="0"/>
              <a:t> </a:t>
            </a:r>
            <a:r>
              <a:rPr lang="sk-SK" sz="2400" b="1" dirty="0" err="1"/>
              <a:t>we</a:t>
            </a:r>
            <a:r>
              <a:rPr lang="sk-SK" sz="2400" b="1" dirty="0"/>
              <a:t> </a:t>
            </a:r>
            <a:r>
              <a:rPr lang="sk-SK" sz="2400" b="1" dirty="0" err="1"/>
              <a:t>plan</a:t>
            </a:r>
            <a:r>
              <a:rPr lang="sk-SK" sz="2400" b="1" dirty="0"/>
              <a:t> to </a:t>
            </a:r>
            <a:r>
              <a:rPr lang="sk-SK" sz="2400" b="1" dirty="0" err="1"/>
              <a:t>determine</a:t>
            </a:r>
            <a:r>
              <a:rPr lang="sk-SK" sz="2400" b="1" dirty="0"/>
              <a:t> most </a:t>
            </a:r>
            <a:r>
              <a:rPr lang="sk-SK" sz="2400" b="1" dirty="0" err="1"/>
              <a:t>efficient</a:t>
            </a:r>
            <a:r>
              <a:rPr lang="sk-SK" sz="2400" b="1" dirty="0"/>
              <a:t> </a:t>
            </a:r>
            <a:r>
              <a:rPr lang="sk-SK" sz="2400" b="1" dirty="0" err="1"/>
              <a:t>routes</a:t>
            </a:r>
            <a:endParaRPr lang="sk-SK" sz="2400" b="1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6DBEF24-AE88-1357-3291-87B862FE8E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851" y="1441867"/>
            <a:ext cx="10610849" cy="1838135"/>
          </a:xfrm>
          <a:prstGeom prst="rect">
            <a:avLst/>
          </a:prstGeom>
          <a:noFill/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C1D8625C-326D-887E-06FE-083FAF5A5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2878789"/>
            <a:ext cx="10375899" cy="1624054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55799CD6-D874-BF1B-EF55-783C4D603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88" y="4502843"/>
            <a:ext cx="10321924" cy="183813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E5C294-A94F-A01B-7FD2-B4568C6725A1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41DCF3-D628-C161-3ECA-B48FBA8C6AD9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831841-1B7B-4B9A-CE85-E30286EA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44" y="488890"/>
            <a:ext cx="7201962" cy="947133"/>
          </a:xfrm>
        </p:spPr>
        <p:txBody>
          <a:bodyPr>
            <a:normAutofit/>
          </a:bodyPr>
          <a:lstStyle/>
          <a:p>
            <a:r>
              <a:rPr lang="sk-SK" sz="4800" b="1" dirty="0" err="1"/>
              <a:t>Congestion</a:t>
            </a:r>
            <a:r>
              <a:rPr lang="sk-SK" sz="4800" b="1" dirty="0"/>
              <a:t> </a:t>
            </a:r>
            <a:r>
              <a:rPr lang="sk-SK" sz="4800" b="1" dirty="0" err="1"/>
              <a:t>levels</a:t>
            </a:r>
            <a:endParaRPr lang="sk-SK" sz="4800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7614835-950B-826B-4134-3E7002A8D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9285" y="2232075"/>
            <a:ext cx="3963070" cy="13534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sz="2400" dirty="0"/>
              <a:t>(</a:t>
            </a:r>
            <a:r>
              <a:rPr lang="sk-SK" sz="2400" dirty="0" err="1"/>
              <a:t>Congestion</a:t>
            </a:r>
            <a:r>
              <a:rPr lang="sk-SK" sz="2400" dirty="0"/>
              <a:t> level of 20 = </a:t>
            </a:r>
            <a:r>
              <a:rPr lang="sk-SK" sz="2400" dirty="0" err="1"/>
              <a:t>trips</a:t>
            </a:r>
            <a:r>
              <a:rPr lang="sk-SK" sz="2400" dirty="0"/>
              <a:t> </a:t>
            </a:r>
            <a:r>
              <a:rPr lang="sk-SK" sz="2400" dirty="0" err="1"/>
              <a:t>take</a:t>
            </a:r>
            <a:r>
              <a:rPr lang="sk-SK" sz="2400" dirty="0"/>
              <a:t> </a:t>
            </a:r>
            <a:r>
              <a:rPr lang="sk-SK" sz="2400" dirty="0" err="1"/>
              <a:t>about</a:t>
            </a:r>
            <a:r>
              <a:rPr lang="sk-SK" sz="2400" dirty="0"/>
              <a:t> 20% </a:t>
            </a:r>
            <a:r>
              <a:rPr lang="sk-SK" sz="2400" dirty="0" err="1"/>
              <a:t>longer</a:t>
            </a:r>
            <a:r>
              <a:rPr lang="sk-SK" sz="2400" dirty="0"/>
              <a:t> as </a:t>
            </a:r>
            <a:r>
              <a:rPr lang="sk-SK" sz="2400" dirty="0" err="1"/>
              <a:t>opposed</a:t>
            </a:r>
            <a:r>
              <a:rPr lang="sk-SK" sz="2400" dirty="0"/>
              <a:t> to </a:t>
            </a:r>
            <a:r>
              <a:rPr lang="sk-SK" sz="2400" dirty="0" err="1"/>
              <a:t>free-flow</a:t>
            </a:r>
            <a:r>
              <a:rPr lang="sk-SK" sz="2400" dirty="0"/>
              <a:t> </a:t>
            </a:r>
            <a:r>
              <a:rPr lang="sk-SK" sz="2400" dirty="0" err="1"/>
              <a:t>traffic</a:t>
            </a:r>
            <a:r>
              <a:rPr lang="sk-SK" sz="2400" dirty="0"/>
              <a:t> </a:t>
            </a:r>
            <a:r>
              <a:rPr lang="sk-SK" sz="2400" dirty="0" err="1"/>
              <a:t>trips</a:t>
            </a:r>
            <a:r>
              <a:rPr lang="sk-SK" sz="2400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AC648-9B4C-B10E-3783-410B351FA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20" y="2000290"/>
            <a:ext cx="6588670" cy="408561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39C4E4-58A7-4E9B-4C72-8A01C415EBC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36567-B107-6AB4-ECBE-5DA364949613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5BA12CB9-708D-75DD-D8A1-88682A44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844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284337EB-19D0-CAA1-EB62-EC6E68110596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9BD0DF92-0E73-102E-3D48-6B204D7D7DC3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FF2B5EF4-FFF2-40B4-BE49-F238E27FC236}">
                <a16:creationId xmlns:a16="http://schemas.microsoft.com/office/drawing/2014/main" id="{6F421160-2F77-FFF5-B7FD-5A2BB9125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250" y="1571775"/>
            <a:ext cx="7595989" cy="41684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C210856E-9A93-C2C6-4A60-C295E4C7EC96}"/>
              </a:ext>
            </a:extLst>
          </p:cNvPr>
          <p:cNvSpPr txBox="1"/>
          <p:nvPr/>
        </p:nvSpPr>
        <p:spPr>
          <a:xfrm>
            <a:off x="2209737" y="5786915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2400" dirty="0" err="1"/>
              <a:t>Congestion</a:t>
            </a:r>
            <a:r>
              <a:rPr lang="sk-SK" sz="2400" dirty="0"/>
              <a:t> in Košice and Bratislava</a:t>
            </a: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695B71AE-9455-8EDB-EC71-5D2929E6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44" y="488890"/>
            <a:ext cx="7201962" cy="947133"/>
          </a:xfrm>
        </p:spPr>
        <p:txBody>
          <a:bodyPr>
            <a:normAutofit/>
          </a:bodyPr>
          <a:lstStyle/>
          <a:p>
            <a:r>
              <a:rPr lang="sk-SK" sz="4800" b="1" dirty="0" err="1"/>
              <a:t>Congestion</a:t>
            </a:r>
            <a:r>
              <a:rPr lang="sk-SK" sz="4800" b="1" dirty="0"/>
              <a:t> </a:t>
            </a:r>
            <a:r>
              <a:rPr lang="sk-SK" sz="4800" b="1" dirty="0" err="1"/>
              <a:t>levels</a:t>
            </a:r>
            <a:endParaRPr lang="sk-SK" sz="4800" b="1" dirty="0"/>
          </a:p>
        </p:txBody>
      </p:sp>
      <p:pic>
        <p:nvPicPr>
          <p:cNvPr id="10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9122CCE1-B1F7-1495-06E4-A3054A20C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053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5A31-15BE-C1C7-C315-F9B1EEA5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BD1E41-884C-7D78-B93D-90386921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44" y="490696"/>
            <a:ext cx="6794727" cy="875614"/>
          </a:xfrm>
        </p:spPr>
        <p:txBody>
          <a:bodyPr>
            <a:normAutofit/>
          </a:bodyPr>
          <a:lstStyle/>
          <a:p>
            <a:r>
              <a:rPr lang="sk-SK" sz="4800" b="1" dirty="0" err="1"/>
              <a:t>From</a:t>
            </a:r>
            <a:r>
              <a:rPr lang="sk-SK" sz="4800" b="1" dirty="0"/>
              <a:t> </a:t>
            </a:r>
            <a:r>
              <a:rPr lang="sk-SK" sz="4800" b="1" dirty="0" err="1"/>
              <a:t>data</a:t>
            </a:r>
            <a:r>
              <a:rPr lang="sk-SK" sz="4800" b="1" dirty="0"/>
              <a:t> to </a:t>
            </a:r>
            <a:r>
              <a:rPr lang="sk-SK" sz="4800" b="1" dirty="0" err="1"/>
              <a:t>predictions</a:t>
            </a:r>
            <a:endParaRPr lang="sk-SK" sz="4800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D0A537-3BB3-6292-FC72-C3998F43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104" y="5518675"/>
            <a:ext cx="5957181" cy="1419168"/>
          </a:xfrm>
        </p:spPr>
        <p:txBody>
          <a:bodyPr>
            <a:normAutofit/>
          </a:bodyPr>
          <a:lstStyle/>
          <a:p>
            <a:r>
              <a:rPr lang="sk-SK" sz="2400" dirty="0" err="1"/>
              <a:t>Our</a:t>
            </a:r>
            <a:r>
              <a:rPr lang="sk-SK" sz="2400" dirty="0"/>
              <a:t> </a:t>
            </a:r>
            <a:r>
              <a:rPr lang="sk-SK" sz="2400" dirty="0" err="1"/>
              <a:t>goal</a:t>
            </a:r>
            <a:r>
              <a:rPr lang="sk-SK" sz="2400" dirty="0"/>
              <a:t> – </a:t>
            </a:r>
            <a:r>
              <a:rPr lang="sk-SK" sz="2400" dirty="0" err="1"/>
              <a:t>use</a:t>
            </a:r>
            <a:r>
              <a:rPr lang="sk-SK" sz="2400" dirty="0"/>
              <a:t> </a:t>
            </a:r>
            <a:r>
              <a:rPr lang="sk-SK" sz="2400" dirty="0" err="1"/>
              <a:t>real</a:t>
            </a:r>
            <a:r>
              <a:rPr lang="sk-SK" sz="2400" dirty="0"/>
              <a:t> </a:t>
            </a:r>
            <a:r>
              <a:rPr lang="sk-SK" sz="2400" dirty="0" err="1"/>
              <a:t>time</a:t>
            </a:r>
            <a:r>
              <a:rPr lang="sk-SK" sz="2400" dirty="0"/>
              <a:t> </a:t>
            </a:r>
            <a:r>
              <a:rPr lang="sk-SK" sz="2400" dirty="0" err="1"/>
              <a:t>data</a:t>
            </a:r>
            <a:r>
              <a:rPr lang="sk-SK" sz="2400" dirty="0"/>
              <a:t> to </a:t>
            </a:r>
            <a:r>
              <a:rPr lang="sk-SK" sz="2400" dirty="0" err="1"/>
              <a:t>make</a:t>
            </a:r>
            <a:r>
              <a:rPr lang="sk-SK" sz="2400" dirty="0"/>
              <a:t> </a:t>
            </a:r>
            <a:r>
              <a:rPr lang="sk-SK" sz="2400" dirty="0" err="1"/>
              <a:t>hasty</a:t>
            </a:r>
            <a:r>
              <a:rPr lang="sk-SK" sz="2400" dirty="0"/>
              <a:t> </a:t>
            </a:r>
            <a:r>
              <a:rPr lang="sk-SK" sz="2400" dirty="0" err="1"/>
              <a:t>predictions</a:t>
            </a:r>
            <a:r>
              <a:rPr lang="sk-SK" sz="2400" dirty="0"/>
              <a:t> and </a:t>
            </a:r>
            <a:r>
              <a:rPr lang="sk-SK" sz="2400" dirty="0" err="1"/>
              <a:t>satisfy</a:t>
            </a:r>
            <a:r>
              <a:rPr lang="sk-SK" sz="2400" dirty="0"/>
              <a:t> </a:t>
            </a:r>
            <a:r>
              <a:rPr lang="sk-SK" sz="2400" dirty="0" err="1"/>
              <a:t>users</a:t>
            </a:r>
            <a:endParaRPr lang="sk-SK" sz="2400" dirty="0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804A6544-6273-638F-BF2C-659EE716E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85" y="1665063"/>
            <a:ext cx="8280864" cy="38536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03B358-38F0-5314-1CE3-C0113F35C298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8F5E91-A7B0-9097-66BA-1C5A9BBDE5F8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009C099C-BB92-4AF4-28E4-F58D545D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2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ok 13">
            <a:extLst>
              <a:ext uri="{FF2B5EF4-FFF2-40B4-BE49-F238E27FC236}">
                <a16:creationId xmlns:a16="http://schemas.microsoft.com/office/drawing/2014/main" id="{2F4E16B1-D251-1A54-4D57-D014CF1CC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483" y="1791711"/>
            <a:ext cx="9271034" cy="4060449"/>
          </a:xfrm>
          <a:prstGeom prst="rect">
            <a:avLst/>
          </a:prstGeom>
        </p:spPr>
      </p:pic>
      <p:sp>
        <p:nvSpPr>
          <p:cNvPr id="4" name="Nadpis 1">
            <a:extLst>
              <a:ext uri="{FF2B5EF4-FFF2-40B4-BE49-F238E27FC236}">
                <a16:creationId xmlns:a16="http://schemas.microsoft.com/office/drawing/2014/main" id="{2DA3F904-5435-FE7C-A5F8-DF2F592E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81" y="476613"/>
            <a:ext cx="6794727" cy="875614"/>
          </a:xfrm>
        </p:spPr>
        <p:txBody>
          <a:bodyPr>
            <a:normAutofit/>
          </a:bodyPr>
          <a:lstStyle/>
          <a:p>
            <a:r>
              <a:rPr lang="sk-SK" sz="4800" b="1" dirty="0" err="1"/>
              <a:t>From</a:t>
            </a:r>
            <a:r>
              <a:rPr lang="sk-SK" sz="4800" b="1" dirty="0"/>
              <a:t> </a:t>
            </a:r>
            <a:r>
              <a:rPr lang="sk-SK" sz="4800" b="1" dirty="0" err="1"/>
              <a:t>data</a:t>
            </a:r>
            <a:r>
              <a:rPr lang="sk-SK" sz="4800" b="1" dirty="0"/>
              <a:t> to </a:t>
            </a:r>
            <a:r>
              <a:rPr lang="sk-SK" sz="4800" b="1" dirty="0" err="1"/>
              <a:t>predictions</a:t>
            </a:r>
            <a:endParaRPr lang="sk-SK" sz="4800" b="1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42D73743-5A4C-59B4-4A51-A3BCC930A2CD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618C6BA8-A223-B946-340A-7FECE7494CEF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E596EFDF-BF7E-9D4E-6351-D992A7194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280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F6BF6EEC-481A-67F7-D4A3-9B279B94B638}"/>
              </a:ext>
            </a:extLst>
          </p:cNvPr>
          <p:cNvSpPr txBox="1">
            <a:spLocks/>
          </p:cNvSpPr>
          <p:nvPr/>
        </p:nvSpPr>
        <p:spPr>
          <a:xfrm>
            <a:off x="1624481" y="476613"/>
            <a:ext cx="6794727" cy="875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4800" b="1" dirty="0" err="1"/>
              <a:t>From</a:t>
            </a:r>
            <a:r>
              <a:rPr lang="sk-SK" sz="4800" b="1" dirty="0"/>
              <a:t> </a:t>
            </a:r>
            <a:r>
              <a:rPr lang="sk-SK" sz="4800" b="1" dirty="0" err="1"/>
              <a:t>data</a:t>
            </a:r>
            <a:r>
              <a:rPr lang="sk-SK" sz="4800" b="1" dirty="0"/>
              <a:t> to </a:t>
            </a:r>
            <a:r>
              <a:rPr lang="sk-SK" sz="4800" b="1" dirty="0" err="1"/>
              <a:t>predictions</a:t>
            </a:r>
            <a:endParaRPr lang="sk-SK" sz="4800" b="1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FEE34C7E-CC97-CFE8-E74C-FE05ADCD999F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E2F0E5B7-6749-0E8A-8167-5EE1C6BE1BC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436AB3BD-D35B-88D8-225C-FB1A806D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966" y="1628082"/>
            <a:ext cx="8175646" cy="4076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44379B29-CF68-F571-4DE4-D04E15021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097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9E58ACB7-6336-7598-49BE-7B60A1DF1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0" y="1513948"/>
            <a:ext cx="7804087" cy="4937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4BD3F6-C6E8-AA59-6EA8-A77ADA39A182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C36C0E-2C59-4A5A-52A4-04297E24B747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C3FCA41-74FE-77AD-972C-D418A53CDF34}"/>
              </a:ext>
            </a:extLst>
          </p:cNvPr>
          <p:cNvSpPr txBox="1">
            <a:spLocks/>
          </p:cNvSpPr>
          <p:nvPr/>
        </p:nvSpPr>
        <p:spPr>
          <a:xfrm>
            <a:off x="1624481" y="476613"/>
            <a:ext cx="6794727" cy="875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4800" b="1" dirty="0" err="1"/>
              <a:t>From</a:t>
            </a:r>
            <a:r>
              <a:rPr lang="sk-SK" sz="4800" b="1" dirty="0"/>
              <a:t> </a:t>
            </a:r>
            <a:r>
              <a:rPr lang="sk-SK" sz="4800" b="1" dirty="0" err="1"/>
              <a:t>data</a:t>
            </a:r>
            <a:r>
              <a:rPr lang="sk-SK" sz="4800" b="1" dirty="0"/>
              <a:t> to </a:t>
            </a:r>
            <a:r>
              <a:rPr lang="sk-SK" sz="4800" b="1" dirty="0" err="1"/>
              <a:t>predictions</a:t>
            </a:r>
            <a:endParaRPr lang="sk-SK" sz="4800" b="1" dirty="0"/>
          </a:p>
        </p:txBody>
      </p:sp>
      <p:pic>
        <p:nvPicPr>
          <p:cNvPr id="6" name="Picture 2" descr="Traffic jam icon. Traffic road icon symbol. 11539853 Vector Art at Vecteezy">
            <a:extLst>
              <a:ext uri="{FF2B5EF4-FFF2-40B4-BE49-F238E27FC236}">
                <a16:creationId xmlns:a16="http://schemas.microsoft.com/office/drawing/2014/main" id="{42599F3B-741A-979E-DCDD-C419644D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240444" y="68582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732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descr="Magnifying glass with solid fill">
            <a:extLst>
              <a:ext uri="{FF2B5EF4-FFF2-40B4-BE49-F238E27FC236}">
                <a16:creationId xmlns:a16="http://schemas.microsoft.com/office/drawing/2014/main" id="{7F3CA4AC-120F-0794-DF57-A0D54ED1E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924110"/>
            <a:ext cx="895477" cy="89547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053467" y="2781944"/>
            <a:ext cx="7043033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23"/>
              </a:lnSpc>
            </a:pPr>
            <a:r>
              <a:rPr lang="en-US" sz="8400" spc="148" dirty="0">
                <a:latin typeface="+mj-lt"/>
                <a:ea typeface="Now"/>
                <a:cs typeface="Now"/>
                <a:sym typeface="Now"/>
              </a:rPr>
              <a:t>Ethical aspects</a:t>
            </a:r>
          </a:p>
        </p:txBody>
      </p:sp>
      <p:sp>
        <p:nvSpPr>
          <p:cNvPr id="2" name="Freeform: Shape 18">
            <a:extLst>
              <a:ext uri="{FF2B5EF4-FFF2-40B4-BE49-F238E27FC236}">
                <a16:creationId xmlns:a16="http://schemas.microsoft.com/office/drawing/2014/main" id="{F23824F2-FCA8-E8E6-5CAC-7C42D258CAC3}"/>
              </a:ext>
            </a:extLst>
          </p:cNvPr>
          <p:cNvSpPr/>
          <p:nvPr/>
        </p:nvSpPr>
        <p:spPr>
          <a:xfrm>
            <a:off x="-3581400" y="-406401"/>
            <a:ext cx="18707100" cy="767080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760628" y="1877335"/>
            <a:ext cx="5299689" cy="51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90"/>
              </a:lnSpc>
            </a:pPr>
            <a:r>
              <a:rPr lang="en-US" sz="2400" spc="101" dirty="0">
                <a:latin typeface="+mj-lt"/>
                <a:ea typeface="Now"/>
                <a:cs typeface="Now"/>
                <a:sym typeface="Now"/>
              </a:rPr>
              <a:t>Anonymous driver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0628" y="3188452"/>
            <a:ext cx="5556509" cy="54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9"/>
              </a:lnSpc>
            </a:pPr>
            <a:r>
              <a:rPr lang="en-US" sz="2400" spc="109">
                <a:latin typeface="+mj-lt"/>
                <a:ea typeface="Now"/>
                <a:cs typeface="Now"/>
                <a:sym typeface="Now"/>
              </a:rPr>
              <a:t>GDPR data 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0628" y="4584308"/>
            <a:ext cx="5556509" cy="54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9"/>
              </a:lnSpc>
            </a:pPr>
            <a:r>
              <a:rPr lang="en-US" sz="2400" spc="109">
                <a:latin typeface="+mj-lt"/>
                <a:ea typeface="Now"/>
                <a:cs typeface="Now"/>
                <a:sym typeface="Now"/>
              </a:rPr>
              <a:t>No audio recording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0629" y="590226"/>
            <a:ext cx="5895455" cy="74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52"/>
              </a:lnSpc>
            </a:pPr>
            <a:r>
              <a:rPr lang="en-US" sz="4800" b="1" spc="133" dirty="0">
                <a:latin typeface="+mj-lt"/>
                <a:ea typeface="Now"/>
                <a:cs typeface="Now"/>
                <a:sym typeface="Now"/>
              </a:rPr>
              <a:t>Privacy Protection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17BFDE-81B1-6602-5412-40625A1B682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CF6705-0A06-ADE1-F749-6C1466C5BF1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Privacy protection - Free security icons">
            <a:extLst>
              <a:ext uri="{FF2B5EF4-FFF2-40B4-BE49-F238E27FC236}">
                <a16:creationId xmlns:a16="http://schemas.microsoft.com/office/drawing/2014/main" id="{99F96341-C4D9-0DDB-12DF-1F195D30E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195" y="1441867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E65299B-952A-C93F-786F-D2E7837D1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70403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2058444" y="2035497"/>
            <a:ext cx="5556509" cy="51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90"/>
              </a:lnSpc>
            </a:pPr>
            <a:r>
              <a:rPr lang="en-US" sz="2400" spc="101">
                <a:latin typeface="+mj-lt"/>
                <a:ea typeface="Now"/>
                <a:cs typeface="Now"/>
                <a:sym typeface="Now"/>
              </a:rPr>
              <a:t>Encrypted data storage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8444" y="3346614"/>
            <a:ext cx="5791927" cy="54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9"/>
              </a:lnSpc>
            </a:pPr>
            <a:r>
              <a:rPr lang="en-US" sz="2400" spc="109">
                <a:latin typeface="+mj-lt"/>
                <a:ea typeface="Now"/>
                <a:cs typeface="Now"/>
                <a:sym typeface="Now"/>
              </a:rPr>
              <a:t>Authorized access only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58444" y="4742470"/>
            <a:ext cx="4614835" cy="54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9"/>
              </a:lnSpc>
            </a:pPr>
            <a:r>
              <a:rPr lang="en-US" sz="2400" spc="109">
                <a:latin typeface="+mj-lt"/>
                <a:ea typeface="Now"/>
                <a:cs typeface="Now"/>
                <a:sym typeface="Now"/>
              </a:rPr>
              <a:t>Cybersecurity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42941" y="547914"/>
            <a:ext cx="4482945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52"/>
              </a:lnSpc>
            </a:pPr>
            <a:r>
              <a:rPr lang="en-US" sz="4800" b="1" spc="133" dirty="0">
                <a:latin typeface="+mj-lt"/>
                <a:ea typeface="Now"/>
                <a:cs typeface="Now"/>
                <a:sym typeface="Now"/>
              </a:rPr>
              <a:t>Data Security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F3F763-DDCE-1916-8D2F-E70341E19BAD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17DDA7-DEC9-ADE6-9EEE-BB07D9FBE81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2" name="Picture 4" descr="Database - Free security icons">
            <a:extLst>
              <a:ext uri="{FF2B5EF4-FFF2-40B4-BE49-F238E27FC236}">
                <a16:creationId xmlns:a16="http://schemas.microsoft.com/office/drawing/2014/main" id="{9C0C783B-C424-629B-7126-EFC39028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79" y="2071292"/>
            <a:ext cx="3751870" cy="375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6A86F5F3-D0BF-176A-39BA-107144B12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70403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2069587" y="1916309"/>
            <a:ext cx="5556509" cy="51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90"/>
              </a:lnSpc>
            </a:pPr>
            <a:r>
              <a:rPr lang="en-US" sz="2400" spc="101" dirty="0">
                <a:latin typeface="+mj-lt"/>
                <a:ea typeface="Now"/>
                <a:cs typeface="Now"/>
                <a:sym typeface="Now"/>
              </a:rPr>
              <a:t>Explainable predictions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9587" y="3227426"/>
            <a:ext cx="5791927" cy="54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9"/>
              </a:lnSpc>
            </a:pPr>
            <a:r>
              <a:rPr lang="en-US" sz="2400" spc="109" dirty="0">
                <a:latin typeface="+mj-lt"/>
                <a:ea typeface="Now"/>
                <a:cs typeface="Now"/>
                <a:sym typeface="Now"/>
              </a:rPr>
              <a:t>Bias prevention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69587" y="4623282"/>
            <a:ext cx="4614835" cy="54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9"/>
              </a:lnSpc>
            </a:pPr>
            <a:r>
              <a:rPr lang="en-US" sz="2400" spc="109">
                <a:latin typeface="+mj-lt"/>
                <a:ea typeface="Now"/>
                <a:cs typeface="Now"/>
                <a:sym typeface="Now"/>
              </a:rPr>
              <a:t>Result reliability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69587" y="532660"/>
            <a:ext cx="4482945" cy="74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52"/>
              </a:lnSpc>
            </a:pPr>
            <a:r>
              <a:rPr lang="en-US" sz="4800" b="1" spc="133" dirty="0">
                <a:latin typeface="+mj-lt"/>
                <a:ea typeface="Now"/>
                <a:cs typeface="Now"/>
                <a:sym typeface="Now"/>
              </a:rPr>
              <a:t>Transparency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0C39E5-8FA4-33EC-F4FA-0B86887DA2C2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7EF8814-DC78-1D1E-00EF-14835FE9E79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074" name="Picture 2" descr="Reliability - Free security icons">
            <a:extLst>
              <a:ext uri="{FF2B5EF4-FFF2-40B4-BE49-F238E27FC236}">
                <a16:creationId xmlns:a16="http://schemas.microsoft.com/office/drawing/2014/main" id="{2083CC0F-2242-483D-0B48-C438F2B83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0" y="2044700"/>
            <a:ext cx="3784600" cy="37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B40BECC-78FF-1ED1-D156-C068F6A3F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70403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16F4E5-39CC-FE9A-8697-598A7B56C705}"/>
              </a:ext>
            </a:extLst>
          </p:cNvPr>
          <p:cNvSpPr txBox="1"/>
          <p:nvPr/>
        </p:nvSpPr>
        <p:spPr>
          <a:xfrm>
            <a:off x="1504430" y="2210215"/>
            <a:ext cx="93771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400" b="1" dirty="0">
                <a:latin typeface="+mj-lt"/>
                <a:ea typeface="Calibri" pitchFamily="34" charset="-122"/>
                <a:cs typeface="Calibri" pitchFamily="34" charset="-120"/>
              </a:rPr>
              <a:t>Entity Relationship</a:t>
            </a:r>
            <a:endParaRPr lang="en-US" sz="8400" b="1" dirty="0">
              <a:latin typeface="+mj-lt"/>
            </a:endParaRPr>
          </a:p>
          <a:p>
            <a:pPr algn="ctr"/>
            <a:r>
              <a:rPr lang="en-US" sz="8400" b="1" dirty="0" err="1">
                <a:latin typeface="+mj-lt"/>
                <a:ea typeface="Calibri" pitchFamily="34" charset="-122"/>
                <a:cs typeface="Calibri" pitchFamily="34" charset="-120"/>
              </a:rPr>
              <a:t>Diag</a:t>
            </a:r>
            <a:r>
              <a:rPr lang="en-GB" sz="8400" b="1" dirty="0"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8400" b="1" dirty="0">
                <a:latin typeface="+mj-lt"/>
                <a:ea typeface="Calibri" pitchFamily="34" charset="-122"/>
                <a:cs typeface="Calibri" pitchFamily="34" charset="-120"/>
              </a:rPr>
              <a:t>am</a:t>
            </a:r>
            <a:endParaRPr lang="en-US" sz="8400" b="1" dirty="0">
              <a:latin typeface="+mj-lt"/>
            </a:endParaRPr>
          </a:p>
        </p:txBody>
      </p: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65AC8F57-47D0-E1C8-0A33-C20763313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2729" y="2533523"/>
            <a:ext cx="895477" cy="895477"/>
          </a:xfrm>
          <a:prstGeom prst="rect">
            <a:avLst/>
          </a:prstGeom>
        </p:spPr>
      </p:pic>
      <p:sp>
        <p:nvSpPr>
          <p:cNvPr id="2" name="Freeform: Shape 18">
            <a:extLst>
              <a:ext uri="{FF2B5EF4-FFF2-40B4-BE49-F238E27FC236}">
                <a16:creationId xmlns:a16="http://schemas.microsoft.com/office/drawing/2014/main" id="{3299B078-127E-7AE5-5ADF-877ACB9D951F}"/>
              </a:ext>
            </a:extLst>
          </p:cNvPr>
          <p:cNvSpPr/>
          <p:nvPr/>
        </p:nvSpPr>
        <p:spPr>
          <a:xfrm>
            <a:off x="-4495800" y="-1778001"/>
            <a:ext cx="21183600" cy="10731501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386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4386-FA22-9ABE-F002-1BDB7B10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6DA219B-B62C-71A6-3040-9FD5194B83C2}"/>
              </a:ext>
            </a:extLst>
          </p:cNvPr>
          <p:cNvSpPr txBox="1"/>
          <p:nvPr/>
        </p:nvSpPr>
        <p:spPr>
          <a:xfrm>
            <a:off x="641350" y="1705451"/>
            <a:ext cx="506199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The </a:t>
            </a:r>
            <a:r>
              <a:rPr lang="en-US" sz="2000" b="1" dirty="0">
                <a:latin typeface="+mj-lt"/>
              </a:rPr>
              <a:t>Smart-Jam</a:t>
            </a:r>
            <a:r>
              <a:rPr lang="en-US" sz="2000" dirty="0">
                <a:latin typeface="+mj-lt"/>
              </a:rPr>
              <a:t> database is designed to support the collection, storage, and analysis of traffic-related data for short-term traffic congestion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It stores information about monitored </a:t>
            </a:r>
            <a:r>
              <a:rPr lang="en-US" sz="2000" b="1" dirty="0">
                <a:latin typeface="+mj-lt"/>
              </a:rPr>
              <a:t>locations</a:t>
            </a:r>
            <a:r>
              <a:rPr lang="en-US" sz="2000" dirty="0">
                <a:latin typeface="+mj-lt"/>
              </a:rPr>
              <a:t>, real </a:t>
            </a:r>
            <a:r>
              <a:rPr lang="en-US" sz="2000" b="1" dirty="0">
                <a:latin typeface="+mj-lt"/>
              </a:rPr>
              <a:t>traffic observations</a:t>
            </a:r>
            <a:r>
              <a:rPr lang="en-US" sz="2000" dirty="0">
                <a:latin typeface="+mj-lt"/>
              </a:rPr>
              <a:t>, </a:t>
            </a:r>
            <a:r>
              <a:rPr lang="en-US" sz="2000" b="1" dirty="0">
                <a:latin typeface="+mj-lt"/>
              </a:rPr>
              <a:t>weather conditions</a:t>
            </a:r>
            <a:r>
              <a:rPr lang="en-US" sz="2000" dirty="0">
                <a:latin typeface="+mj-lt"/>
              </a:rPr>
              <a:t>, </a:t>
            </a:r>
            <a:r>
              <a:rPr lang="en-US" sz="2000" b="1" dirty="0">
                <a:latin typeface="+mj-lt"/>
              </a:rPr>
              <a:t>incidents</a:t>
            </a:r>
            <a:r>
              <a:rPr lang="en-US" sz="2000" dirty="0">
                <a:latin typeface="+mj-lt"/>
              </a:rPr>
              <a:t> affecting traffic flow, machine learning </a:t>
            </a:r>
            <a:r>
              <a:rPr lang="en-US" sz="2000" b="1" dirty="0">
                <a:latin typeface="+mj-lt"/>
              </a:rPr>
              <a:t>models</a:t>
            </a:r>
            <a:r>
              <a:rPr lang="en-US" sz="2000" dirty="0">
                <a:latin typeface="+mj-lt"/>
              </a:rPr>
              <a:t>, and generated </a:t>
            </a:r>
            <a:r>
              <a:rPr lang="en-US" sz="2000" b="1" dirty="0">
                <a:latin typeface="+mj-lt"/>
              </a:rPr>
              <a:t>predictions</a:t>
            </a:r>
            <a:r>
              <a:rPr lang="en-US" sz="2000" dirty="0">
                <a:latin typeface="+mj-lt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+mj-lt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D3DE9F91-36CA-01AD-2AD3-41C817466B69}"/>
              </a:ext>
            </a:extLst>
          </p:cNvPr>
          <p:cNvSpPr/>
          <p:nvPr/>
        </p:nvSpPr>
        <p:spPr>
          <a:xfrm>
            <a:off x="1449903" y="826938"/>
            <a:ext cx="4071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m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p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l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endParaRPr lang="en-US" sz="4000" dirty="0">
              <a:solidFill>
                <a:srgbClr val="74C7C8"/>
              </a:solidFill>
              <a:latin typeface="+mj-lt"/>
            </a:endParaRPr>
          </a:p>
        </p:txBody>
      </p:sp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5C6EFFC6-6F04-44A3-A501-807F827C58AB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337FF055-E757-AE38-F80A-A56D27F9CA57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E68828-F2A9-A072-6795-3409DF6B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56" y="0"/>
            <a:ext cx="6097044" cy="6858000"/>
          </a:xfrm>
          <a:prstGeom prst="rect">
            <a:avLst/>
          </a:prstGeom>
        </p:spPr>
      </p:pic>
      <p:pic>
        <p:nvPicPr>
          <p:cNvPr id="14338" name="Picture 2" descr="Erd Special Lineal color icon | Freepik">
            <a:extLst>
              <a:ext uri="{FF2B5EF4-FFF2-40B4-BE49-F238E27FC236}">
                <a16:creationId xmlns:a16="http://schemas.microsoft.com/office/drawing/2014/main" id="{D7F2E71F-8EBB-CADF-6BB9-B635407A0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78121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520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76C9-3771-CE67-1B1D-EDE71F96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4024699-1306-4A95-1730-183C9D67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41B45-9DD0-C845-2F1D-DAEB7A07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466" y="87683"/>
            <a:ext cx="648085" cy="671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443881-F0A1-0CFD-2813-F0CA635DC22B}"/>
              </a:ext>
            </a:extLst>
          </p:cNvPr>
          <p:cNvSpPr txBox="1"/>
          <p:nvPr/>
        </p:nvSpPr>
        <p:spPr>
          <a:xfrm>
            <a:off x="876300" y="1408377"/>
            <a:ext cx="5360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stores information about monitored road locations, including the location name, city, and geographic coordinates.</a:t>
            </a:r>
            <a:r>
              <a:rPr lang="en-GB" sz="2400" dirty="0">
                <a:latin typeface="+mj-lt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415AF-032B-DF3F-7845-F1C364C8A0F3}"/>
              </a:ext>
            </a:extLst>
          </p:cNvPr>
          <p:cNvSpPr txBox="1"/>
          <p:nvPr/>
        </p:nvSpPr>
        <p:spPr>
          <a:xfrm>
            <a:off x="876300" y="4329098"/>
            <a:ext cx="61245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+mj-lt"/>
              </a:rPr>
              <a:t>Cardinality summary  &gt;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location → </a:t>
            </a:r>
            <a:r>
              <a:rPr lang="en-US" sz="2400" dirty="0" err="1">
                <a:latin typeface="+mj-lt"/>
              </a:rPr>
              <a:t>traffic_observation</a:t>
            </a:r>
            <a:r>
              <a:rPr lang="en-US" sz="2400" dirty="0">
                <a:latin typeface="+mj-lt"/>
              </a:rPr>
              <a:t> = </a:t>
            </a:r>
            <a:r>
              <a:rPr lang="en-US" sz="2400" b="1" dirty="0">
                <a:latin typeface="+mj-lt"/>
              </a:rPr>
              <a:t>1:N</a:t>
            </a:r>
            <a:endParaRPr lang="en-GB" sz="2400" dirty="0">
              <a:latin typeface="+mj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location → </a:t>
            </a:r>
            <a:r>
              <a:rPr lang="en-US" sz="2400" dirty="0" err="1">
                <a:latin typeface="+mj-lt"/>
              </a:rPr>
              <a:t>weather_condition</a:t>
            </a:r>
            <a:r>
              <a:rPr lang="en-US" sz="2400" dirty="0">
                <a:latin typeface="+mj-lt"/>
              </a:rPr>
              <a:t> = </a:t>
            </a:r>
            <a:r>
              <a:rPr lang="en-US" sz="2400" b="1" dirty="0">
                <a:latin typeface="+mj-lt"/>
              </a:rPr>
              <a:t>1:N</a:t>
            </a:r>
            <a:endParaRPr lang="en-GB" sz="2400" dirty="0">
              <a:latin typeface="+mj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location → incident = </a:t>
            </a:r>
            <a:r>
              <a:rPr lang="en-US" sz="2400" b="1" dirty="0">
                <a:latin typeface="+mj-lt"/>
              </a:rPr>
              <a:t>1:N</a:t>
            </a:r>
            <a:endParaRPr lang="en-GB" sz="2400" dirty="0">
              <a:latin typeface="+mj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location → prediction = </a:t>
            </a:r>
            <a:r>
              <a:rPr lang="en-US" sz="2400" b="1" dirty="0">
                <a:latin typeface="+mj-lt"/>
              </a:rPr>
              <a:t>1:N</a:t>
            </a:r>
            <a:endParaRPr lang="en-GB" sz="2400" dirty="0">
              <a:latin typeface="+mj-lt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32DA8905-8594-6DF0-0649-6274E23EE2B3}"/>
              </a:ext>
            </a:extLst>
          </p:cNvPr>
          <p:cNvSpPr/>
          <p:nvPr/>
        </p:nvSpPr>
        <p:spPr>
          <a:xfrm>
            <a:off x="1451927" y="804610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L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endParaRPr lang="en-US" sz="4800" dirty="0">
              <a:solidFill>
                <a:srgbClr val="EDCE98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A5B39-5C38-486E-285A-E140D8185759}"/>
              </a:ext>
            </a:extLst>
          </p:cNvPr>
          <p:cNvSpPr txBox="1"/>
          <p:nvPr/>
        </p:nvSpPr>
        <p:spPr>
          <a:xfrm>
            <a:off x="876300" y="2868737"/>
            <a:ext cx="5360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A single location can have multiple traffic observations, weather records, incidents, and predictions. </a:t>
            </a:r>
          </a:p>
        </p:txBody>
      </p:sp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1291AB03-496D-F6BC-1B8C-EE8B308EDFB3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1A7CA1E2-B0F9-183A-5C6F-FE838F2DB8E8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37E63C-273F-9F17-2EDB-D50964C5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-3600450"/>
            <a:ext cx="9199383" cy="11880000"/>
          </a:xfrm>
          <a:prstGeom prst="rect">
            <a:avLst/>
          </a:prstGeom>
        </p:spPr>
      </p:pic>
      <p:pic>
        <p:nvPicPr>
          <p:cNvPr id="4" name="Picture 2" descr="Erd Special Lineal color icon | Freepik">
            <a:extLst>
              <a:ext uri="{FF2B5EF4-FFF2-40B4-BE49-F238E27FC236}">
                <a16:creationId xmlns:a16="http://schemas.microsoft.com/office/drawing/2014/main" id="{D5670CC5-610E-B1A5-F345-CD991CAAF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7" y="7588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22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F657-4CD4-E81D-7602-BCCA1A45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E9A5C9-96F1-0926-5E1F-91AAD7B48404}"/>
              </a:ext>
            </a:extLst>
          </p:cNvPr>
          <p:cNvSpPr txBox="1"/>
          <p:nvPr/>
        </p:nvSpPr>
        <p:spPr>
          <a:xfrm>
            <a:off x="786356" y="1513948"/>
            <a:ext cx="53096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stores weather-related data for a location and time, including temperature, precipitation, and weather type.</a:t>
            </a:r>
            <a:endParaRPr lang="en-GB" sz="2400" dirty="0">
              <a:latin typeface="+mj-lt"/>
            </a:endParaRPr>
          </a:p>
        </p:txBody>
      </p:sp>
      <p:pic>
        <p:nvPicPr>
          <p:cNvPr id="2050" name="Picture 2" descr="Weather - Free weather icons">
            <a:extLst>
              <a:ext uri="{FF2B5EF4-FFF2-40B4-BE49-F238E27FC236}">
                <a16:creationId xmlns:a16="http://schemas.microsoft.com/office/drawing/2014/main" id="{B4AA3A5E-722F-BC2C-D989-155385392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939" y="3543299"/>
            <a:ext cx="218122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3BD0B7C2-4B3A-1512-CE32-4A1D342E829B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AE1E52B6-6072-FE15-8692-646EACF579A2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032A4B-B8D7-A36F-D156-6058A6AD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508000"/>
            <a:ext cx="9900000" cy="11880000"/>
          </a:xfrm>
          <a:prstGeom prst="rect">
            <a:avLst/>
          </a:prstGeom>
        </p:spPr>
      </p:pic>
      <p:pic>
        <p:nvPicPr>
          <p:cNvPr id="5" name="Picture 2" descr="Erd Special Lineal color icon | Freepik">
            <a:extLst>
              <a:ext uri="{FF2B5EF4-FFF2-40B4-BE49-F238E27FC236}">
                <a16:creationId xmlns:a16="http://schemas.microsoft.com/office/drawing/2014/main" id="{FAAFDE7B-B5DF-62B4-8C83-41A564CAE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715" y="82565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D88BEDCD-2324-5E0A-DE16-72767F5E7A0B}"/>
              </a:ext>
            </a:extLst>
          </p:cNvPr>
          <p:cNvSpPr/>
          <p:nvPr/>
        </p:nvSpPr>
        <p:spPr>
          <a:xfrm>
            <a:off x="1262606" y="871377"/>
            <a:ext cx="51354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W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h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4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endParaRPr lang="en-US" sz="2400" dirty="0">
              <a:solidFill>
                <a:srgbClr val="EDCE9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0530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39501-1E9F-F641-D362-C8FA1D50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FC5ABE-E0B6-B77D-DFD4-52A47E942EBA}"/>
              </a:ext>
            </a:extLst>
          </p:cNvPr>
          <p:cNvSpPr txBox="1"/>
          <p:nvPr/>
        </p:nvSpPr>
        <p:spPr>
          <a:xfrm>
            <a:off x="878375" y="1482768"/>
            <a:ext cx="53604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stores information about the forecasting models used in the system, including model name, version, algorithm type, and accuracy metric.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62BB3-FEE7-9A1D-ACA3-C3C1BA4DF098}"/>
              </a:ext>
            </a:extLst>
          </p:cNvPr>
          <p:cNvSpPr txBox="1"/>
          <p:nvPr/>
        </p:nvSpPr>
        <p:spPr>
          <a:xfrm>
            <a:off x="939800" y="3263457"/>
            <a:ext cx="7867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Cardinality summary  &gt;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model → prediction = </a:t>
            </a:r>
            <a:r>
              <a:rPr lang="en-US" sz="2400" b="1" dirty="0">
                <a:latin typeface="+mj-lt"/>
              </a:rPr>
              <a:t>1:N</a:t>
            </a:r>
            <a:endParaRPr lang="en-GB" sz="2400" dirty="0">
              <a:latin typeface="+mj-lt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D183B7C-2831-F98A-FFF4-0C64E053863F}"/>
              </a:ext>
            </a:extLst>
          </p:cNvPr>
          <p:cNvSpPr/>
          <p:nvPr/>
        </p:nvSpPr>
        <p:spPr>
          <a:xfrm>
            <a:off x="1118715" y="741041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M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l</a:t>
            </a:r>
            <a:endParaRPr lang="en-US" sz="4800" dirty="0">
              <a:solidFill>
                <a:srgbClr val="7E8795"/>
              </a:solidFill>
              <a:latin typeface="+mj-lt"/>
            </a:endParaRPr>
          </a:p>
        </p:txBody>
      </p:sp>
      <p:pic>
        <p:nvPicPr>
          <p:cNvPr id="6148" name="Picture 4" descr="AI - Free computer icons">
            <a:extLst>
              <a:ext uri="{FF2B5EF4-FFF2-40B4-BE49-F238E27FC236}">
                <a16:creationId xmlns:a16="http://schemas.microsoft.com/office/drawing/2014/main" id="{E97A2230-B457-99DA-B355-83C8C7AC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3933590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5531025C-DA37-1CC4-7E21-B9C36FA8D3E3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0AA059AE-0453-A3B4-064B-34E9B414E839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7D2BD5-A5C0-2C82-AA86-268BC5B1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94"/>
          <a:stretch>
            <a:fillRect/>
          </a:stretch>
        </p:blipFill>
        <p:spPr>
          <a:xfrm>
            <a:off x="5904724" y="1701800"/>
            <a:ext cx="7796227" cy="12423350"/>
          </a:xfrm>
          <a:prstGeom prst="rect">
            <a:avLst/>
          </a:prstGeom>
        </p:spPr>
      </p:pic>
      <p:pic>
        <p:nvPicPr>
          <p:cNvPr id="4" name="Picture 2" descr="Erd Special Lineal color icon | Freepik">
            <a:extLst>
              <a:ext uri="{FF2B5EF4-FFF2-40B4-BE49-F238E27FC236}">
                <a16:creationId xmlns:a16="http://schemas.microsoft.com/office/drawing/2014/main" id="{6A24BF7E-C19A-1A4E-6C1B-B2AF8580F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15" y="7186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057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F8DD-FF90-4A8C-2FB9-48DAAC56C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317F31-8F4F-A649-9610-8363AB1DB738}"/>
              </a:ext>
            </a:extLst>
          </p:cNvPr>
          <p:cNvSpPr txBox="1"/>
          <p:nvPr/>
        </p:nvSpPr>
        <p:spPr>
          <a:xfrm>
            <a:off x="939800" y="1712427"/>
            <a:ext cx="53604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contains generated traffic forecasts for specific locations and times, including predicted congestion, predicted speed, and confidence score.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B9DF4530-DE85-9A08-83EA-C426B8B1B8A6}"/>
              </a:ext>
            </a:extLst>
          </p:cNvPr>
          <p:cNvSpPr/>
          <p:nvPr/>
        </p:nvSpPr>
        <p:spPr>
          <a:xfrm>
            <a:off x="1455434" y="750352"/>
            <a:ext cx="30634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P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endParaRPr lang="en-US" sz="48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D8928-CA40-3A2E-920B-17664D29DE87}"/>
              </a:ext>
            </a:extLst>
          </p:cNvPr>
          <p:cNvSpPr txBox="1"/>
          <p:nvPr/>
        </p:nvSpPr>
        <p:spPr>
          <a:xfrm>
            <a:off x="939800" y="3440129"/>
            <a:ext cx="53604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each prediction is generated by one specific model. </a:t>
            </a:r>
          </a:p>
        </p:txBody>
      </p:sp>
      <p:pic>
        <p:nvPicPr>
          <p:cNvPr id="5122" name="Picture 2" descr="Prediction Generic color lineal-color icon | Freepik">
            <a:extLst>
              <a:ext uri="{FF2B5EF4-FFF2-40B4-BE49-F238E27FC236}">
                <a16:creationId xmlns:a16="http://schemas.microsoft.com/office/drawing/2014/main" id="{B5F5C226-0E3F-CEE6-DD59-AAEE2787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4228535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FEC01DDD-21C5-8CBB-FF0F-6F30AC283556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9489B442-0B20-37D8-AADF-29DCAABF5BA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DCCB53-8DBB-065B-5675-F87B2AC0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2"/>
          <a:stretch>
            <a:fillRect/>
          </a:stretch>
        </p:blipFill>
        <p:spPr>
          <a:xfrm>
            <a:off x="6094956" y="0"/>
            <a:ext cx="7632700" cy="11880000"/>
          </a:xfrm>
          <a:prstGeom prst="rect">
            <a:avLst/>
          </a:prstGeom>
        </p:spPr>
      </p:pic>
      <p:pic>
        <p:nvPicPr>
          <p:cNvPr id="4" name="Picture 2" descr="Erd Special Lineal color icon | Freepik">
            <a:extLst>
              <a:ext uri="{FF2B5EF4-FFF2-40B4-BE49-F238E27FC236}">
                <a16:creationId xmlns:a16="http://schemas.microsoft.com/office/drawing/2014/main" id="{C06AAE9D-DD7F-1DFD-C925-A44D7897C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15" y="7186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852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4F86-544C-ECDC-CD3B-3E83245F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04F6BEA-24A4-24D3-0806-DAF276CB26A3}"/>
              </a:ext>
            </a:extLst>
          </p:cNvPr>
          <p:cNvSpPr txBox="1"/>
          <p:nvPr/>
        </p:nvSpPr>
        <p:spPr>
          <a:xfrm>
            <a:off x="742648" y="1721672"/>
            <a:ext cx="53604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records real traffic data for a specific location and time, such as traffic volume, average speed, and congestion level.</a:t>
            </a: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5A859575-F6DA-6060-3EA9-C90AB147B82E}"/>
              </a:ext>
            </a:extLst>
          </p:cNvPr>
          <p:cNvSpPr/>
          <p:nvPr/>
        </p:nvSpPr>
        <p:spPr>
          <a:xfrm>
            <a:off x="876300" y="718689"/>
            <a:ext cx="5218656" cy="327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f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f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endParaRPr lang="sk-SK" sz="4800" b="1" dirty="0">
              <a:solidFill>
                <a:srgbClr val="1F293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b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s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r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v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endParaRPr lang="en-US" sz="48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3074" name="Picture 2" descr="Traffic jam - Free transportation icons">
            <a:extLst>
              <a:ext uri="{FF2B5EF4-FFF2-40B4-BE49-F238E27FC236}">
                <a16:creationId xmlns:a16="http://schemas.microsoft.com/office/drawing/2014/main" id="{4DB0F4D0-684F-88D9-A54C-EFC996DB9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3343274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C54CA3E8-3A35-8626-0B8C-09A90F5C5A09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2750B96E-C041-E771-822A-CF4019F463B6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9C159-68CB-B635-19AE-3AD9EF8ED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414"/>
          <a:stretch>
            <a:fillRect/>
          </a:stretch>
        </p:blipFill>
        <p:spPr>
          <a:xfrm>
            <a:off x="6094956" y="-3543300"/>
            <a:ext cx="6097044" cy="11880000"/>
          </a:xfrm>
          <a:prstGeom prst="rect">
            <a:avLst/>
          </a:prstGeom>
        </p:spPr>
      </p:pic>
      <p:pic>
        <p:nvPicPr>
          <p:cNvPr id="4" name="Picture 2" descr="Erd Special Lineal color icon | Freepik">
            <a:extLst>
              <a:ext uri="{FF2B5EF4-FFF2-40B4-BE49-F238E27FC236}">
                <a16:creationId xmlns:a16="http://schemas.microsoft.com/office/drawing/2014/main" id="{9988B109-20CA-ED51-25B0-DB11E8012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15" y="7186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527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6A0C-654B-13B7-D442-A243FAD7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DF7BE3-8919-F994-CC06-C219F2995146}"/>
              </a:ext>
            </a:extLst>
          </p:cNvPr>
          <p:cNvSpPr txBox="1"/>
          <p:nvPr/>
        </p:nvSpPr>
        <p:spPr>
          <a:xfrm>
            <a:off x="1053379" y="2012191"/>
            <a:ext cx="53604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contains information about traffic-related events that may influence road conditions, such as accidents or roadworks, together with their severity and duration.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B8D2DCE-DA33-51EB-582A-5D75F428D297}"/>
              </a:ext>
            </a:extLst>
          </p:cNvPr>
          <p:cNvSpPr/>
          <p:nvPr/>
        </p:nvSpPr>
        <p:spPr>
          <a:xfrm>
            <a:off x="1486459" y="754320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n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endParaRPr lang="en-US" sz="4800" dirty="0">
              <a:solidFill>
                <a:srgbClr val="EDCE98"/>
              </a:solidFill>
              <a:latin typeface="+mj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5121681-6EB4-60A7-8CE6-4032BD403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3724703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7">
            <a:extLst>
              <a:ext uri="{FF2B5EF4-FFF2-40B4-BE49-F238E27FC236}">
                <a16:creationId xmlns:a16="http://schemas.microsoft.com/office/drawing/2014/main" id="{43977275-1CA1-AED7-64E4-BF097094ABA5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18">
            <a:extLst>
              <a:ext uri="{FF2B5EF4-FFF2-40B4-BE49-F238E27FC236}">
                <a16:creationId xmlns:a16="http://schemas.microsoft.com/office/drawing/2014/main" id="{6479784D-42CB-2068-4592-61F373D0DE79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B7010B-71A0-D285-6A2F-6AF1746D4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-5699594"/>
            <a:ext cx="9900000" cy="11880000"/>
          </a:xfrm>
          <a:prstGeom prst="rect">
            <a:avLst/>
          </a:prstGeom>
        </p:spPr>
      </p:pic>
      <p:pic>
        <p:nvPicPr>
          <p:cNvPr id="4" name="Picture 2" descr="Erd Special Lineal color icon | Freepik">
            <a:extLst>
              <a:ext uri="{FF2B5EF4-FFF2-40B4-BE49-F238E27FC236}">
                <a16:creationId xmlns:a16="http://schemas.microsoft.com/office/drawing/2014/main" id="{580BDC44-82E4-61FC-4B02-6D7988008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15" y="7186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30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A2D8-EEF9-D61D-D31E-5C1876A4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E1ECBC3-6CBB-5CAB-A08A-F25E34214E79}"/>
              </a:ext>
            </a:extLst>
          </p:cNvPr>
          <p:cNvSpPr txBox="1"/>
          <p:nvPr/>
        </p:nvSpPr>
        <p:spPr>
          <a:xfrm>
            <a:off x="939800" y="1524464"/>
            <a:ext cx="49371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The relationships between these entities reflect the main logic of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This structure ensures clear organization of input data and forecasting results while keeping the database simple and suitable for the project scope.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 database allows the system to analyze current road conditions and produce forecasts for the next 30–60 minutes.</a:t>
            </a:r>
            <a:endParaRPr lang="en-GB" sz="2400" dirty="0">
              <a:latin typeface="+mj-lt"/>
            </a:endParaRPr>
          </a:p>
          <a:p>
            <a:pPr lvl="0"/>
            <a:endParaRPr lang="en-GB" sz="24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82329-376C-18F7-F052-AD96D125A48E}"/>
              </a:ext>
            </a:extLst>
          </p:cNvPr>
          <p:cNvSpPr txBox="1"/>
          <p:nvPr/>
        </p:nvSpPr>
        <p:spPr>
          <a:xfrm>
            <a:off x="379956" y="5007173"/>
            <a:ext cx="506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3EB42A7-D8BE-5B3F-2DEC-2DC7C1E818D7}"/>
              </a:ext>
            </a:extLst>
          </p:cNvPr>
          <p:cNvSpPr/>
          <p:nvPr/>
        </p:nvSpPr>
        <p:spPr>
          <a:xfrm>
            <a:off x="1501775" y="764410"/>
            <a:ext cx="4204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D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t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b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a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s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>
                <a:solidFill>
                  <a:srgbClr val="1F293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l</a:t>
            </a:r>
            <a:r>
              <a:rPr lang="en-US" sz="4800" b="1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800" b="1" dirty="0">
                <a:solidFill>
                  <a:srgbClr val="74C7C8"/>
                </a:solidFill>
                <a:latin typeface="+mj-lt"/>
                <a:ea typeface="Calibri" pitchFamily="34" charset="-122"/>
                <a:cs typeface="Calibri" pitchFamily="34" charset="-120"/>
              </a:rPr>
              <a:t>g</a:t>
            </a:r>
            <a:r>
              <a:rPr lang="en-US" sz="4800" b="1" dirty="0">
                <a:solidFill>
                  <a:srgbClr val="EDCE98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4800" b="1" dirty="0">
                <a:solidFill>
                  <a:srgbClr val="7E8795"/>
                </a:solidFill>
                <a:latin typeface="+mj-lt"/>
                <a:ea typeface="Calibri" pitchFamily="34" charset="-122"/>
                <a:cs typeface="Calibri" pitchFamily="34" charset="-120"/>
              </a:rPr>
              <a:t>c</a:t>
            </a:r>
            <a:endParaRPr lang="en-US" sz="4800" dirty="0">
              <a:solidFill>
                <a:srgbClr val="7E8795"/>
              </a:solidFill>
              <a:latin typeface="+mj-lt"/>
            </a:endParaRPr>
          </a:p>
        </p:txBody>
      </p:sp>
      <p:cxnSp>
        <p:nvCxnSpPr>
          <p:cNvPr id="4" name="Straight Connector 17">
            <a:extLst>
              <a:ext uri="{FF2B5EF4-FFF2-40B4-BE49-F238E27FC236}">
                <a16:creationId xmlns:a16="http://schemas.microsoft.com/office/drawing/2014/main" id="{2DD084D6-EBF1-6424-D7AC-1BA0868D3257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18">
            <a:extLst>
              <a:ext uri="{FF2B5EF4-FFF2-40B4-BE49-F238E27FC236}">
                <a16:creationId xmlns:a16="http://schemas.microsoft.com/office/drawing/2014/main" id="{5959E8CF-9A2D-8AA5-E58F-5A1EA9F920DE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5F21C6-FFFF-0161-5AD9-4C4847A4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56" y="0"/>
            <a:ext cx="6097044" cy="6858000"/>
          </a:xfrm>
          <a:prstGeom prst="rect">
            <a:avLst/>
          </a:prstGeom>
        </p:spPr>
      </p:pic>
      <p:pic>
        <p:nvPicPr>
          <p:cNvPr id="6" name="Picture 2" descr="Erd Special Lineal color icon | Freepik">
            <a:extLst>
              <a:ext uri="{FF2B5EF4-FFF2-40B4-BE49-F238E27FC236}">
                <a16:creationId xmlns:a16="http://schemas.microsoft.com/office/drawing/2014/main" id="{73091ACD-9568-BBE1-2991-A24ABF6CD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15" y="7186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755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83220" y="2791007"/>
            <a:ext cx="10549460" cy="913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6"/>
              </a:lnSpc>
            </a:pPr>
            <a:r>
              <a:rPr lang="en-US" sz="8400" b="1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Social computing</a:t>
            </a:r>
          </a:p>
        </p:txBody>
      </p:sp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E5D02F46-D716-4AE8-68E4-CEFBA1991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" y="2791007"/>
            <a:ext cx="895477" cy="895477"/>
          </a:xfrm>
          <a:prstGeom prst="rect">
            <a:avLst/>
          </a:prstGeom>
        </p:spPr>
      </p:pic>
      <p:sp>
        <p:nvSpPr>
          <p:cNvPr id="2" name="Freeform: Shape 18">
            <a:extLst>
              <a:ext uri="{FF2B5EF4-FFF2-40B4-BE49-F238E27FC236}">
                <a16:creationId xmlns:a16="http://schemas.microsoft.com/office/drawing/2014/main" id="{CC71DEF4-EEBF-9140-ED62-583ED80DCEEC}"/>
              </a:ext>
            </a:extLst>
          </p:cNvPr>
          <p:cNvSpPr/>
          <p:nvPr/>
        </p:nvSpPr>
        <p:spPr>
          <a:xfrm>
            <a:off x="-3257550" y="-698500"/>
            <a:ext cx="18707100" cy="7670800"/>
          </a:xfrm>
          <a:custGeom>
            <a:avLst/>
            <a:gdLst>
              <a:gd name="csX0" fmla="*/ 3959719 w 13233400"/>
              <a:gd name="csY0" fmla="*/ 2946400 h 7670800"/>
              <a:gd name="csX1" fmla="*/ 3123945 w 13233400"/>
              <a:gd name="csY1" fmla="*/ 3782174 h 7670800"/>
              <a:gd name="csX2" fmla="*/ 3959719 w 13233400"/>
              <a:gd name="csY2" fmla="*/ 4617948 h 7670800"/>
              <a:gd name="csX3" fmla="*/ 9366634 w 13233400"/>
              <a:gd name="csY3" fmla="*/ 4617948 h 7670800"/>
              <a:gd name="csX4" fmla="*/ 10202408 w 13233400"/>
              <a:gd name="csY4" fmla="*/ 3782174 h 7670800"/>
              <a:gd name="csX5" fmla="*/ 9366634 w 13233400"/>
              <a:gd name="csY5" fmla="*/ 2946400 h 7670800"/>
              <a:gd name="csX6" fmla="*/ 0 w 13233400"/>
              <a:gd name="csY6" fmla="*/ 0 h 7670800"/>
              <a:gd name="csX7" fmla="*/ 13233400 w 13233400"/>
              <a:gd name="csY7" fmla="*/ 0 h 7670800"/>
              <a:gd name="csX8" fmla="*/ 13233400 w 13233400"/>
              <a:gd name="csY8" fmla="*/ 7670800 h 7670800"/>
              <a:gd name="csX9" fmla="*/ 0 w 13233400"/>
              <a:gd name="csY9" fmla="*/ 7670800 h 767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233400" h="7670800">
                <a:moveTo>
                  <a:pt x="3959719" y="2946400"/>
                </a:moveTo>
                <a:cubicBezTo>
                  <a:pt x="3498134" y="2946400"/>
                  <a:pt x="3123945" y="3320589"/>
                  <a:pt x="3123945" y="3782174"/>
                </a:cubicBezTo>
                <a:cubicBezTo>
                  <a:pt x="3123945" y="4243759"/>
                  <a:pt x="3498134" y="4617948"/>
                  <a:pt x="3959719" y="4617948"/>
                </a:cubicBezTo>
                <a:lnTo>
                  <a:pt x="9366634" y="4617948"/>
                </a:lnTo>
                <a:cubicBezTo>
                  <a:pt x="9828219" y="4617948"/>
                  <a:pt x="10202408" y="4243759"/>
                  <a:pt x="10202408" y="3782174"/>
                </a:cubicBezTo>
                <a:cubicBezTo>
                  <a:pt x="10202408" y="3320589"/>
                  <a:pt x="9828219" y="2946400"/>
                  <a:pt x="9366634" y="2946400"/>
                </a:cubicBezTo>
                <a:close/>
                <a:moveTo>
                  <a:pt x="0" y="0"/>
                </a:moveTo>
                <a:lnTo>
                  <a:pt x="13233400" y="0"/>
                </a:lnTo>
                <a:lnTo>
                  <a:pt x="13233400" y="7670800"/>
                </a:lnTo>
                <a:lnTo>
                  <a:pt x="0" y="767080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952768"/>
            <a:ext cx="4817799" cy="4952464"/>
            <a:chOff x="0" y="0"/>
            <a:chExt cx="4052466" cy="4165739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052466" cy="4165739"/>
            </a:xfrm>
            <a:custGeom>
              <a:avLst/>
              <a:gdLst/>
              <a:ahLst/>
              <a:cxnLst/>
              <a:rect l="l" t="t" r="r" b="b"/>
              <a:pathLst>
                <a:path w="4052466" h="4165739">
                  <a:moveTo>
                    <a:pt x="3928006" y="4165739"/>
                  </a:moveTo>
                  <a:lnTo>
                    <a:pt x="124460" y="4165739"/>
                  </a:lnTo>
                  <a:cubicBezTo>
                    <a:pt x="55880" y="4165739"/>
                    <a:pt x="0" y="4109859"/>
                    <a:pt x="0" y="40412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041279"/>
                  </a:lnTo>
                  <a:cubicBezTo>
                    <a:pt x="4052466" y="4109859"/>
                    <a:pt x="3996586" y="4165739"/>
                    <a:pt x="3928006" y="4165739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39913" y="1532998"/>
            <a:ext cx="3696501" cy="3364927"/>
            <a:chOff x="0" y="0"/>
            <a:chExt cx="7766863" cy="8305782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t="3615" b="3615"/>
            <a:stretch>
              <a:fillRect/>
            </a:stretch>
          </p:blipFill>
          <p:spPr>
            <a:xfrm>
              <a:off x="0" y="0"/>
              <a:ext cx="7766863" cy="8305782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2020638" y="552213"/>
            <a:ext cx="8511074" cy="5189537"/>
            <a:chOff x="-6309937" y="-1785025"/>
            <a:chExt cx="17022150" cy="10379074"/>
          </a:xfrm>
        </p:grpSpPr>
        <p:sp>
          <p:nvSpPr>
            <p:cNvPr id="7" name="TextBox 7"/>
            <p:cNvSpPr txBox="1"/>
            <p:nvPr/>
          </p:nvSpPr>
          <p:spPr>
            <a:xfrm>
              <a:off x="736228" y="3255535"/>
              <a:ext cx="9975985" cy="5338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Traffic congestion is still one of the biggest urban mobility problems.</a:t>
              </a:r>
            </a:p>
            <a:p>
              <a:pPr>
                <a:lnSpc>
                  <a:spcPts val="260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It causes delays, increases emissions, and makes public and private transport less efficient.</a:t>
              </a:r>
            </a:p>
            <a:p>
              <a:pPr>
                <a:lnSpc>
                  <a:spcPts val="260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Smart-Jam addresses this issue by predicting congestion before it becomes critical.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6309937" y="-1785025"/>
              <a:ext cx="16174448" cy="14362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WHY SMART-JAM MATTERS ? </a:t>
              </a:r>
            </a:p>
          </p:txBody>
        </p:sp>
      </p:grpSp>
      <p:sp>
        <p:nvSpPr>
          <p:cNvPr id="9" name="TextBox 3"/>
          <p:cNvSpPr txBox="1"/>
          <p:nvPr/>
        </p:nvSpPr>
        <p:spPr>
          <a:xfrm>
            <a:off x="5021455" y="2120025"/>
            <a:ext cx="6032523" cy="646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PREDICT EARLIER. REACT FASTER. PLAN</a:t>
            </a:r>
            <a:r>
              <a:rPr lang="uk-UA" sz="24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SMARTER.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4212E1-FD6D-C88B-6C4D-8A2CD382EEEB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17F867-12AD-D73E-FA88-9CC8A2E3B57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A78DCC3-E60F-DDE1-D774-FB7B069CF1F6}"/>
              </a:ext>
            </a:extLst>
          </p:cNvPr>
          <p:cNvSpPr/>
          <p:nvPr/>
        </p:nvSpPr>
        <p:spPr>
          <a:xfrm rot="-24000">
            <a:off x="1569608" y="4909209"/>
            <a:ext cx="3237110" cy="1241915"/>
          </a:xfrm>
          <a:custGeom>
            <a:avLst/>
            <a:gdLst/>
            <a:ahLst/>
            <a:cxnLst/>
            <a:rect l="l" t="t" r="r" b="b"/>
            <a:pathLst>
              <a:path w="13575309" h="1707045">
                <a:moveTo>
                  <a:pt x="11257" y="0"/>
                </a:moveTo>
                <a:lnTo>
                  <a:pt x="13575310" y="94696"/>
                </a:lnTo>
                <a:lnTo>
                  <a:pt x="13564053" y="1707045"/>
                </a:lnTo>
                <a:lnTo>
                  <a:pt x="0" y="1612349"/>
                </a:lnTo>
                <a:lnTo>
                  <a:pt x="11257" y="0"/>
                </a:lnTo>
                <a:close/>
              </a:path>
            </a:pathLst>
          </a:custGeom>
          <a:blipFill>
            <a:blip r:embed="rId3"/>
            <a:stretch>
              <a:fillRect l="-119144" t="-10442" r="-112812" b="-7"/>
            </a:stretch>
          </a:blipFill>
          <a:effectLst>
            <a:softEdge rad="63500"/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14" name="TextBox 5"/>
          <p:cNvSpPr txBox="1"/>
          <p:nvPr/>
        </p:nvSpPr>
        <p:spPr>
          <a:xfrm>
            <a:off x="3106751" y="6076741"/>
            <a:ext cx="5385399" cy="35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PREDICTING CONGESTION BEFORE IT HAPPENS</a:t>
            </a:r>
          </a:p>
        </p:txBody>
      </p:sp>
      <p:pic>
        <p:nvPicPr>
          <p:cNvPr id="15362" name="Picture 2" descr="Download Free Digital society Icons in PNG &amp; SVG">
            <a:extLst>
              <a:ext uri="{FF2B5EF4-FFF2-40B4-BE49-F238E27FC236}">
                <a16:creationId xmlns:a16="http://schemas.microsoft.com/office/drawing/2014/main" id="{6FD5431E-79D3-E77C-6EE0-E4B72633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913" y="66284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6631694" y="4535109"/>
            <a:ext cx="1534099" cy="1534099"/>
          </a:xfrm>
          <a:custGeom>
            <a:avLst/>
            <a:gdLst/>
            <a:ahLst/>
            <a:cxnLst/>
            <a:rect l="l" t="t" r="r" b="b"/>
            <a:pathLst>
              <a:path w="2301148" h="2301148">
                <a:moveTo>
                  <a:pt x="0" y="0"/>
                </a:moveTo>
                <a:lnTo>
                  <a:pt x="2301148" y="0"/>
                </a:lnTo>
                <a:lnTo>
                  <a:pt x="2301148" y="2301147"/>
                </a:lnTo>
                <a:lnTo>
                  <a:pt x="0" y="2301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400" b="1">
              <a:latin typeface="+mj-l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3912181" y="4535109"/>
            <a:ext cx="1637091" cy="1637091"/>
          </a:xfrm>
          <a:custGeom>
            <a:avLst/>
            <a:gdLst/>
            <a:ahLst/>
            <a:cxnLst/>
            <a:rect l="l" t="t" r="r" b="b"/>
            <a:pathLst>
              <a:path w="2455636" h="2455636">
                <a:moveTo>
                  <a:pt x="0" y="0"/>
                </a:moveTo>
                <a:lnTo>
                  <a:pt x="2455636" y="0"/>
                </a:lnTo>
                <a:lnTo>
                  <a:pt x="2455636" y="2455636"/>
                </a:lnTo>
                <a:lnTo>
                  <a:pt x="0" y="2455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Freeform 6"/>
          <p:cNvSpPr/>
          <p:nvPr/>
        </p:nvSpPr>
        <p:spPr>
          <a:xfrm>
            <a:off x="1617781" y="4650033"/>
            <a:ext cx="1651131" cy="1651131"/>
          </a:xfrm>
          <a:custGeom>
            <a:avLst/>
            <a:gdLst/>
            <a:ahLst/>
            <a:cxnLst/>
            <a:rect l="l" t="t" r="r" b="b"/>
            <a:pathLst>
              <a:path w="2476697" h="2476697">
                <a:moveTo>
                  <a:pt x="0" y="0"/>
                </a:moveTo>
                <a:lnTo>
                  <a:pt x="2476698" y="0"/>
                </a:lnTo>
                <a:lnTo>
                  <a:pt x="2476698" y="2476697"/>
                </a:lnTo>
                <a:lnTo>
                  <a:pt x="0" y="247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Freeform 7"/>
          <p:cNvSpPr/>
          <p:nvPr/>
        </p:nvSpPr>
        <p:spPr>
          <a:xfrm>
            <a:off x="8807143" y="4146616"/>
            <a:ext cx="2349586" cy="2311086"/>
          </a:xfrm>
          <a:custGeom>
            <a:avLst/>
            <a:gdLst/>
            <a:ahLst/>
            <a:cxnLst/>
            <a:rect l="l" t="t" r="r" b="b"/>
            <a:pathLst>
              <a:path w="3524379" h="3466629">
                <a:moveTo>
                  <a:pt x="0" y="0"/>
                </a:moveTo>
                <a:lnTo>
                  <a:pt x="3524378" y="0"/>
                </a:lnTo>
                <a:lnTo>
                  <a:pt x="3524378" y="3466629"/>
                </a:lnTo>
                <a:lnTo>
                  <a:pt x="0" y="346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65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2005358" y="1804703"/>
            <a:ext cx="8117782" cy="1608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37"/>
              </a:lnSpc>
            </a:pPr>
            <a:r>
              <a:rPr lang="en-US" sz="2400" dirty="0">
                <a:solidFill>
                  <a:srgbClr val="000000"/>
                </a:solidFill>
                <a:latin typeface="+mj-lt"/>
                <a:ea typeface="TT Commons Pro"/>
                <a:cs typeface="TT Commons Pro"/>
                <a:sym typeface="TT Commons Pro"/>
              </a:rPr>
              <a:t>There is clear demand for predictive traffic tools.</a:t>
            </a:r>
          </a:p>
          <a:p>
            <a:pPr>
              <a:lnSpc>
                <a:spcPts val="2537"/>
              </a:lnSpc>
            </a:pPr>
            <a:r>
              <a:rPr lang="en-US" sz="2400" dirty="0">
                <a:solidFill>
                  <a:srgbClr val="000000"/>
                </a:solidFill>
                <a:latin typeface="+mj-lt"/>
                <a:ea typeface="TT Commons Pro"/>
                <a:cs typeface="TT Commons Pro"/>
                <a:sym typeface="TT Commons Pro"/>
              </a:rPr>
              <a:t>Cities and transport operators need solutions that improve planning, reduce delays, and support smarter mobility.</a:t>
            </a:r>
          </a:p>
          <a:p>
            <a:pPr>
              <a:lnSpc>
                <a:spcPts val="2537"/>
              </a:lnSpc>
            </a:pPr>
            <a:r>
              <a:rPr lang="en-US" sz="2400" dirty="0">
                <a:solidFill>
                  <a:srgbClr val="000000"/>
                </a:solidFill>
                <a:latin typeface="+mj-lt"/>
                <a:ea typeface="TT Commons Pro"/>
                <a:cs typeface="TT Commons Pro"/>
                <a:sym typeface="TT Commons Pro"/>
              </a:rPr>
              <a:t>Smart-Jam meets this need through data-driven traffic forecasting.</a:t>
            </a:r>
          </a:p>
          <a:p>
            <a:pPr>
              <a:lnSpc>
                <a:spcPts val="2537"/>
              </a:lnSpc>
            </a:pPr>
            <a:endParaRPr lang="en-US" sz="2400" b="1" dirty="0">
              <a:solidFill>
                <a:srgbClr val="000000"/>
              </a:solidFill>
              <a:latin typeface="+mj-lt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05358" y="569270"/>
            <a:ext cx="574931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800" b="1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MARKET DEMAND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4611" y="3557425"/>
            <a:ext cx="9586719" cy="56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DATA → PREDICTION → INSIGHT → ACTION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498130-A31D-EAE6-A83F-65D8BCCBA22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14E980-825B-1B03-0691-BEC8DE691AE5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2" descr="Download Free Digital society Icons in PNG &amp; SVG">
            <a:extLst>
              <a:ext uri="{FF2B5EF4-FFF2-40B4-BE49-F238E27FC236}">
                <a16:creationId xmlns:a16="http://schemas.microsoft.com/office/drawing/2014/main" id="{2CCA202A-1169-9FA6-92CA-E977BD919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181" y="67884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7955" y="3118173"/>
            <a:ext cx="4228622" cy="3169599"/>
            <a:chOff x="0" y="0"/>
            <a:chExt cx="4005554" cy="3002397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005554" cy="3002397"/>
            </a:xfrm>
            <a:custGeom>
              <a:avLst/>
              <a:gdLst/>
              <a:ahLst/>
              <a:cxnLst/>
              <a:rect l="l" t="t" r="r" b="b"/>
              <a:pathLst>
                <a:path w="4005554" h="3002397">
                  <a:moveTo>
                    <a:pt x="3881094" y="3002397"/>
                  </a:moveTo>
                  <a:lnTo>
                    <a:pt x="124460" y="3002397"/>
                  </a:lnTo>
                  <a:cubicBezTo>
                    <a:pt x="55880" y="3002397"/>
                    <a:pt x="0" y="2946517"/>
                    <a:pt x="0" y="287793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81094" y="0"/>
                  </a:lnTo>
                  <a:cubicBezTo>
                    <a:pt x="3949674" y="0"/>
                    <a:pt x="4005554" y="55880"/>
                    <a:pt x="4005554" y="124460"/>
                  </a:cubicBezTo>
                  <a:lnTo>
                    <a:pt x="4005554" y="2877937"/>
                  </a:lnTo>
                  <a:cubicBezTo>
                    <a:pt x="4005554" y="2946517"/>
                    <a:pt x="3949674" y="3002397"/>
                    <a:pt x="3881094" y="3002397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739358" y="3118173"/>
            <a:ext cx="4228622" cy="3169599"/>
            <a:chOff x="0" y="0"/>
            <a:chExt cx="4005554" cy="3002397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005554" cy="3002397"/>
            </a:xfrm>
            <a:custGeom>
              <a:avLst/>
              <a:gdLst/>
              <a:ahLst/>
              <a:cxnLst/>
              <a:rect l="l" t="t" r="r" b="b"/>
              <a:pathLst>
                <a:path w="4005554" h="3002397">
                  <a:moveTo>
                    <a:pt x="3881094" y="3002397"/>
                  </a:moveTo>
                  <a:lnTo>
                    <a:pt x="124460" y="3002397"/>
                  </a:lnTo>
                  <a:cubicBezTo>
                    <a:pt x="55880" y="3002397"/>
                    <a:pt x="0" y="2946517"/>
                    <a:pt x="0" y="287793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81094" y="0"/>
                  </a:lnTo>
                  <a:cubicBezTo>
                    <a:pt x="3949674" y="0"/>
                    <a:pt x="4005554" y="55880"/>
                    <a:pt x="4005554" y="124460"/>
                  </a:cubicBezTo>
                  <a:lnTo>
                    <a:pt x="4005554" y="2877937"/>
                  </a:lnTo>
                  <a:cubicBezTo>
                    <a:pt x="4005554" y="2946517"/>
                    <a:pt x="3949674" y="3002397"/>
                    <a:pt x="3881094" y="3002397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57196" y="709494"/>
            <a:ext cx="7955501" cy="603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Competition &amp; our advantage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2269" y="1935455"/>
            <a:ext cx="10838381" cy="1191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2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The market already includes strong traffic analytics platforms.</a:t>
            </a:r>
          </a:p>
          <a:p>
            <a:pPr>
              <a:lnSpc>
                <a:spcPts val="232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Companies such as INRIX, </a:t>
            </a:r>
            <a:r>
              <a:rPr lang="en-US" sz="2400" dirty="0" err="1">
                <a:solidFill>
                  <a:srgbClr val="000000"/>
                </a:solidFill>
                <a:ea typeface="Lora"/>
                <a:cs typeface="Lora"/>
                <a:sym typeface="Lora"/>
              </a:rPr>
              <a:t>Miovision</a:t>
            </a: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, and HERE prove that this is a real and growing field.</a:t>
            </a:r>
          </a:p>
          <a:p>
            <a:pPr>
              <a:lnSpc>
                <a:spcPts val="232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Smart-Jam stands out through focused prediction and easier local deployment.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5803" y="3342953"/>
            <a:ext cx="2432925" cy="952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Big platforms</a:t>
            </a:r>
          </a:p>
          <a:p>
            <a:pPr algn="ctr">
              <a:lnSpc>
                <a:spcPts val="3986"/>
              </a:lnSpc>
            </a:pPr>
            <a:endParaRPr lang="en-US" sz="2400" b="1" dirty="0">
              <a:solidFill>
                <a:srgbClr val="000000"/>
              </a:solidFill>
              <a:latin typeface="+mj-lt"/>
              <a:ea typeface="Lora Bold"/>
              <a:cs typeface="Lora Bold"/>
              <a:sym typeface="Lor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18418" y="3306093"/>
            <a:ext cx="2282329" cy="4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SMART-JAM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6000" y="5248344"/>
            <a:ext cx="2817661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ENTERPRISE SCALE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5803" y="4647347"/>
            <a:ext cx="2293829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COMPLEX TOOLS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61295" y="4035036"/>
            <a:ext cx="2711115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BROAD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8430" y="4053562"/>
            <a:ext cx="2817661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FOCUSED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38429" y="4625220"/>
            <a:ext cx="2817661" cy="37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SIMPLE 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85158" y="5248344"/>
            <a:ext cx="2817661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LOCAL PILOT 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45CB3-F834-017A-BFAC-3E46F37C2896}"/>
              </a:ext>
            </a:extLst>
          </p:cNvPr>
          <p:cNvSpPr txBox="1"/>
          <p:nvPr/>
        </p:nvSpPr>
        <p:spPr>
          <a:xfrm>
            <a:off x="1996982" y="4001660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AB0CEB-0576-4A6D-DF9B-0E7781568F61}"/>
              </a:ext>
            </a:extLst>
          </p:cNvPr>
          <p:cNvSpPr txBox="1"/>
          <p:nvPr/>
        </p:nvSpPr>
        <p:spPr>
          <a:xfrm>
            <a:off x="2023553" y="4623867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F500BD-3CCF-ACAA-5C17-67F908203667}"/>
              </a:ext>
            </a:extLst>
          </p:cNvPr>
          <p:cNvSpPr txBox="1"/>
          <p:nvPr/>
        </p:nvSpPr>
        <p:spPr>
          <a:xfrm>
            <a:off x="2037408" y="5232790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781074-42E3-ABE5-D67E-11D04269E14F}"/>
              </a:ext>
            </a:extLst>
          </p:cNvPr>
          <p:cNvSpPr txBox="1"/>
          <p:nvPr/>
        </p:nvSpPr>
        <p:spPr>
          <a:xfrm>
            <a:off x="1996982" y="3989085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1BF74F-7D1B-D272-57BA-1355800ADC7E}"/>
              </a:ext>
            </a:extLst>
          </p:cNvPr>
          <p:cNvSpPr txBox="1"/>
          <p:nvPr/>
        </p:nvSpPr>
        <p:spPr>
          <a:xfrm>
            <a:off x="7212254" y="4035036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EA9DB6-8B3C-C73F-23E1-F20AA3C6CC14}"/>
              </a:ext>
            </a:extLst>
          </p:cNvPr>
          <p:cNvSpPr txBox="1"/>
          <p:nvPr/>
        </p:nvSpPr>
        <p:spPr>
          <a:xfrm>
            <a:off x="7212253" y="4602624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2F7CDB-E305-A185-DCC6-52602A714421}"/>
              </a:ext>
            </a:extLst>
          </p:cNvPr>
          <p:cNvSpPr txBox="1"/>
          <p:nvPr/>
        </p:nvSpPr>
        <p:spPr>
          <a:xfrm>
            <a:off x="7234338" y="5232790"/>
            <a:ext cx="328625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▪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EEA8FB-FD39-FFA5-EF01-740991353B32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EE7DF7-AC35-3B38-1A5D-4E63CF8238A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2" descr="Download Free Digital society Icons in PNG &amp; SVG">
            <a:extLst>
              <a:ext uri="{FF2B5EF4-FFF2-40B4-BE49-F238E27FC236}">
                <a16:creationId xmlns:a16="http://schemas.microsoft.com/office/drawing/2014/main" id="{25F15F80-AEB4-4968-C035-DD0B89A87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55" y="69153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682430" y="1628604"/>
            <a:ext cx="4827139" cy="825002"/>
          </a:xfrm>
          <a:custGeom>
            <a:avLst/>
            <a:gdLst/>
            <a:ahLst/>
            <a:cxnLst/>
            <a:rect l="l" t="t" r="r" b="b"/>
            <a:pathLst>
              <a:path w="7240708" h="1237503">
                <a:moveTo>
                  <a:pt x="0" y="0"/>
                </a:moveTo>
                <a:lnTo>
                  <a:pt x="7240708" y="0"/>
                </a:lnTo>
                <a:lnTo>
                  <a:pt x="7240708" y="1237503"/>
                </a:lnTo>
                <a:lnTo>
                  <a:pt x="0" y="123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 b="1">
              <a:latin typeface="+mj-l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08024" y="551729"/>
            <a:ext cx="924374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800" b="1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HOW CAN CUSTOMERS FIND US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04801" y="1792685"/>
            <a:ext cx="4827139" cy="623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Tex Gyre Adventor"/>
                <a:cs typeface="Tex Gyre Adventor"/>
                <a:sym typeface="Tex Gyre Adventor"/>
              </a:rPr>
              <a:t>AI TRAFFIC PREDICTION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Tex Gyre Adventor"/>
                <a:cs typeface="Tex Gyre Adventor"/>
                <a:sym typeface="Tex Gyre Adventor"/>
              </a:rPr>
              <a:t>IN KOSICE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73485" y="4602237"/>
            <a:ext cx="8245028" cy="157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400" dirty="0">
                <a:latin typeface="+mj-lt"/>
              </a:rPr>
              <a:t>CUSTOMERS USUALLY SEARCH BY PROBLEM, NOT BY BRAND.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THEY LOOK FOR SOLUTIONS SUCH AS AI TRAFFIC PREDICTION, TRAFFIC CONGESTION FORECASTING, AND SMART CITY TRAFFIC MANAGEMENT.</a:t>
            </a:r>
            <a:endParaRPr lang="en-US" sz="2400" dirty="0">
              <a:solidFill>
                <a:srgbClr val="000000"/>
              </a:solidFill>
              <a:latin typeface="+mj-lt"/>
              <a:ea typeface="Lora"/>
              <a:cs typeface="Lora"/>
              <a:sym typeface="Lora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682430" y="2517262"/>
            <a:ext cx="4827139" cy="825002"/>
          </a:xfrm>
          <a:custGeom>
            <a:avLst/>
            <a:gdLst/>
            <a:ahLst/>
            <a:cxnLst/>
            <a:rect l="l" t="t" r="r" b="b"/>
            <a:pathLst>
              <a:path w="7240708" h="1237503">
                <a:moveTo>
                  <a:pt x="0" y="0"/>
                </a:moveTo>
                <a:lnTo>
                  <a:pt x="7240708" y="0"/>
                </a:lnTo>
                <a:lnTo>
                  <a:pt x="7240708" y="1237503"/>
                </a:lnTo>
                <a:lnTo>
                  <a:pt x="0" y="123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 b="1" dirty="0"/>
          </a:p>
        </p:txBody>
      </p:sp>
      <p:sp>
        <p:nvSpPr>
          <p:cNvPr id="8" name="TextBox 8"/>
          <p:cNvSpPr txBox="1"/>
          <p:nvPr/>
        </p:nvSpPr>
        <p:spPr>
          <a:xfrm>
            <a:off x="4802574" y="2748703"/>
            <a:ext cx="3431595" cy="33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Tex Gyre Adventor"/>
                <a:cs typeface="Tex Gyre Adventor"/>
                <a:sym typeface="Tex Gyre Adventor"/>
              </a:rPr>
              <a:t>TRAFFIC MANAGEMENT</a:t>
            </a:r>
          </a:p>
        </p:txBody>
      </p:sp>
      <p:sp>
        <p:nvSpPr>
          <p:cNvPr id="9" name="Freeform 9"/>
          <p:cNvSpPr/>
          <p:nvPr/>
        </p:nvSpPr>
        <p:spPr>
          <a:xfrm>
            <a:off x="3682430" y="3424814"/>
            <a:ext cx="4827139" cy="825002"/>
          </a:xfrm>
          <a:custGeom>
            <a:avLst/>
            <a:gdLst/>
            <a:ahLst/>
            <a:cxnLst/>
            <a:rect l="l" t="t" r="r" b="b"/>
            <a:pathLst>
              <a:path w="7240708" h="1237503">
                <a:moveTo>
                  <a:pt x="0" y="0"/>
                </a:moveTo>
                <a:lnTo>
                  <a:pt x="7240708" y="0"/>
                </a:lnTo>
                <a:lnTo>
                  <a:pt x="7240708" y="1237502"/>
                </a:lnTo>
                <a:lnTo>
                  <a:pt x="0" y="123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 b="1" dirty="0"/>
          </a:p>
        </p:txBody>
      </p:sp>
      <p:sp>
        <p:nvSpPr>
          <p:cNvPr id="10" name="TextBox 10"/>
          <p:cNvSpPr txBox="1"/>
          <p:nvPr/>
        </p:nvSpPr>
        <p:spPr>
          <a:xfrm>
            <a:off x="4302640" y="3515737"/>
            <a:ext cx="443146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Tex Gyre Adventor"/>
                <a:cs typeface="Tex Gyre Adventor"/>
                <a:sym typeface="Tex Gyre Adventor"/>
              </a:rPr>
              <a:t>URBAN MOBILITY </a:t>
            </a:r>
          </a:p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Tex Gyre Adventor"/>
                <a:cs typeface="Tex Gyre Adventor"/>
                <a:sym typeface="Tex Gyre Adventor"/>
              </a:rPr>
              <a:t>ANALYTICS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A5CE0B-2A47-A8B4-9285-D83929705BAF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46E80B-1360-7A82-6284-C4C5CB629DAC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2" descr="Download Free Digital society Icons in PNG &amp; SVG">
            <a:extLst>
              <a:ext uri="{FF2B5EF4-FFF2-40B4-BE49-F238E27FC236}">
                <a16:creationId xmlns:a16="http://schemas.microsoft.com/office/drawing/2014/main" id="{7442BD89-DD78-2DDD-F05E-72EF7BF15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229" y="6601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67418" y="1919275"/>
            <a:ext cx="7772732" cy="3429718"/>
          </a:xfrm>
          <a:custGeom>
            <a:avLst/>
            <a:gdLst/>
            <a:ahLst/>
            <a:cxnLst/>
            <a:rect l="l" t="t" r="r" b="b"/>
            <a:pathLst>
              <a:path w="11659098" h="5144577">
                <a:moveTo>
                  <a:pt x="0" y="0"/>
                </a:moveTo>
                <a:lnTo>
                  <a:pt x="11659098" y="0"/>
                </a:lnTo>
                <a:lnTo>
                  <a:pt x="11659098" y="5144577"/>
                </a:lnTo>
                <a:lnTo>
                  <a:pt x="0" y="5144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3" name="Group 3"/>
          <p:cNvGrpSpPr/>
          <p:nvPr/>
        </p:nvGrpSpPr>
        <p:grpSpPr>
          <a:xfrm>
            <a:off x="2353539" y="573387"/>
            <a:ext cx="8628897" cy="1436291"/>
            <a:chOff x="1357088" y="-224827"/>
            <a:chExt cx="14874044" cy="2872581"/>
          </a:xfrm>
        </p:grpSpPr>
        <p:sp>
          <p:nvSpPr>
            <p:cNvPr id="4" name="TextBox 4"/>
            <p:cNvSpPr txBox="1"/>
            <p:nvPr/>
          </p:nvSpPr>
          <p:spPr>
            <a:xfrm>
              <a:off x="2015626" y="1881660"/>
              <a:ext cx="14215506" cy="585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sz="1200">
                <a:latin typeface="+mj-l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57088" y="-224827"/>
              <a:ext cx="14215505" cy="287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+mj-lt"/>
                  <a:ea typeface="Lora"/>
                  <a:cs typeface="Lora"/>
                  <a:sym typeface="Lora"/>
                </a:rPr>
                <a:t>PROMOTION &amp; POSITIONING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6300" y="3314010"/>
            <a:ext cx="3071118" cy="152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• pilot projects</a:t>
            </a:r>
          </a:p>
          <a:p>
            <a:pPr algn="just">
              <a:lnSpc>
                <a:spcPts val="3000"/>
              </a:lnSpc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• case studies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• smart-city events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ea typeface="Lora"/>
                <a:cs typeface="Lora"/>
                <a:sym typeface="Lora"/>
              </a:rPr>
              <a:t>•demo presentations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289691"/>
            <a:ext cx="3208159" cy="74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WE WILL PROMOTE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Lora Bold"/>
                <a:cs typeface="Lora Bold"/>
                <a:sym typeface="Lora Bold"/>
              </a:rPr>
              <a:t>SMART-JAM THROUGH: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227DE8-B791-842B-A1D5-60E486EC0D9C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1C398F-CF44-7340-61B6-207352165FDA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2" descr="Download Free Digital society Icons in PNG &amp; SVG">
            <a:extLst>
              <a:ext uri="{FF2B5EF4-FFF2-40B4-BE49-F238E27FC236}">
                <a16:creationId xmlns:a16="http://schemas.microsoft.com/office/drawing/2014/main" id="{55EA556F-2969-984C-99B9-0D9740B83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03" y="66612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4047" y="603001"/>
            <a:ext cx="8343902" cy="86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4800" b="1" dirty="0">
                <a:solidFill>
                  <a:srgbClr val="000000"/>
                </a:solidFill>
                <a:latin typeface="+mj-lt"/>
                <a:ea typeface="Lora"/>
                <a:cs typeface="Lora"/>
                <a:sym typeface="Lora"/>
              </a:rPr>
              <a:t>THANK YOU FOR LISTENING!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7A544-4945-E01E-BE84-72993254B67B}"/>
              </a:ext>
            </a:extLst>
          </p:cNvPr>
          <p:cNvSpPr txBox="1"/>
          <p:nvPr/>
        </p:nvSpPr>
        <p:spPr>
          <a:xfrm>
            <a:off x="3047988" y="3144135"/>
            <a:ext cx="6032523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ea typeface="Lora Bold"/>
                <a:cs typeface="Lora Bold"/>
                <a:sym typeface="Lora Bold"/>
              </a:rPr>
              <a:t>team Smart Jam members :</a:t>
            </a:r>
          </a:p>
          <a:p>
            <a:pPr algn="ctr"/>
            <a:r>
              <a:rPr lang="sk-SK" sz="2400" b="1" dirty="0" err="1"/>
              <a:t>Faina</a:t>
            </a:r>
            <a:r>
              <a:rPr lang="sk-SK" sz="2400" b="1" dirty="0"/>
              <a:t> </a:t>
            </a:r>
            <a:r>
              <a:rPr lang="sk-SK" sz="2400" b="1" dirty="0" err="1"/>
              <a:t>Petrenko</a:t>
            </a:r>
            <a:br>
              <a:rPr lang="sk-SK" sz="2400" dirty="0"/>
            </a:br>
            <a:r>
              <a:rPr lang="sk-SK" sz="2400" b="1" dirty="0" err="1"/>
              <a:t>Mykola</a:t>
            </a:r>
            <a:r>
              <a:rPr lang="sk-SK" sz="2400" b="1" dirty="0"/>
              <a:t> </a:t>
            </a:r>
            <a:r>
              <a:rPr lang="sk-SK" sz="2400" b="1" dirty="0" err="1"/>
              <a:t>Beshynskyi</a:t>
            </a:r>
            <a:endParaRPr lang="en-US" sz="2400" b="1" dirty="0"/>
          </a:p>
          <a:p>
            <a:pPr algn="ctr"/>
            <a:r>
              <a:rPr lang="sk-SK" sz="2400" b="1" dirty="0"/>
              <a:t>Richard </a:t>
            </a:r>
            <a:r>
              <a:rPr lang="sk-SK" sz="2400" b="1" dirty="0" err="1"/>
              <a:t>Buko</a:t>
            </a:r>
            <a:br>
              <a:rPr lang="sk-SK" sz="2400" dirty="0"/>
            </a:br>
            <a:r>
              <a:rPr lang="sk-SK" sz="2400" b="1" dirty="0"/>
              <a:t>Dominik Gmitter</a:t>
            </a:r>
            <a:r>
              <a:rPr lang="en-US" sz="2400" b="1" dirty="0"/>
              <a:t> </a:t>
            </a:r>
            <a:endParaRPr lang="sk-SK" sz="2400" b="1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1A5C48DA-613F-E187-E6BF-61E90C3C79E6}"/>
              </a:ext>
            </a:extLst>
          </p:cNvPr>
          <p:cNvSpPr txBox="1"/>
          <p:nvPr/>
        </p:nvSpPr>
        <p:spPr>
          <a:xfrm>
            <a:off x="4822177" y="2744025"/>
            <a:ext cx="2484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dirty="0">
                <a:hlinkClick r:id="rId2"/>
              </a:rPr>
              <a:t>team </a:t>
            </a:r>
            <a:r>
              <a:rPr lang="sk-SK" sz="2000" dirty="0" err="1">
                <a:hlinkClick r:id="rId2"/>
              </a:rPr>
              <a:t>Smart</a:t>
            </a:r>
            <a:r>
              <a:rPr lang="sk-SK" sz="2000" dirty="0">
                <a:hlinkClick r:id="rId2"/>
              </a:rPr>
              <a:t> </a:t>
            </a:r>
            <a:r>
              <a:rPr lang="sk-SK" sz="2000" dirty="0" err="1">
                <a:hlinkClick r:id="rId2"/>
              </a:rPr>
              <a:t>Jam</a:t>
            </a:r>
            <a:r>
              <a:rPr lang="sk-SK" sz="2000" dirty="0">
                <a:hlinkClick r:id="rId2"/>
              </a:rPr>
              <a:t> web</a:t>
            </a:r>
            <a:endParaRPr lang="sk-SK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9760F-911E-6E54-20E3-60A2CD21E367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700C75-327F-E99A-46D5-09D9F7E846C9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3354" y="590551"/>
            <a:ext cx="2665292" cy="91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6"/>
              </a:lnSpc>
            </a:pPr>
            <a:r>
              <a:rPr lang="en-US" sz="4800" b="1" dirty="0">
                <a:latin typeface="+mj-lt"/>
                <a:ea typeface="Open Sans Bold"/>
                <a:cs typeface="Open Sans Bold"/>
                <a:sym typeface="Open Sans Bold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7242"/>
            <a:ext cx="8420100" cy="2855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u="sng" dirty="0">
                <a:solidFill>
                  <a:srgbClr val="2E6D6D"/>
                </a:solidFill>
                <a:latin typeface="+mj-lt"/>
                <a:ea typeface="Open Sans"/>
                <a:cs typeface="Open Sans"/>
                <a:sym typeface="Open Sans"/>
                <a:hlinkClick r:id="rId2" tooltip="https://www.kaggle.com/datasets/bwandowando/tomtom-traffic-data-55-countries-387-cities"/>
              </a:rPr>
              <a:t>Kaggle – dataset</a:t>
            </a: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  <a:hlinkClick r:id="rId3"/>
              </a:rPr>
              <a:t>HTTPS://WWW.PINTEREST.COM/PIN/1857741720916171/</a:t>
            </a:r>
            <a:endParaRPr lang="en-US" sz="2400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  <a:hlinkClick r:id="rId4"/>
              </a:rPr>
              <a:t>HTTPS://WWW.TOMTOM.COM/SOLUTIONS/GOVERNMENT-AND-PUBLIC-SECTOR/</a:t>
            </a:r>
            <a:endParaRPr lang="en-US" sz="2400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MA DOKUMENTS</a:t>
            </a: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FlatIcon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 icons</a:t>
            </a:r>
            <a:endParaRPr lang="sk-SK" sz="2400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89397" lvl="1" indent="-244699">
              <a:lnSpc>
                <a:spcPts val="3173"/>
              </a:lnSpc>
              <a:buFont typeface="Arial"/>
              <a:buChar char="•"/>
            </a:pPr>
            <a:r>
              <a:rPr lang="sk-SK" sz="2400" dirty="0" err="1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Freepik</a:t>
            </a:r>
            <a:r>
              <a:rPr lang="sk-SK" sz="2400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 </a:t>
            </a:r>
            <a:r>
              <a:rPr lang="sk-SK" sz="2400" dirty="0" err="1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icons</a:t>
            </a:r>
            <a:endParaRPr lang="en-US" sz="2400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8E79D043-A3B2-4416-E610-A9DE567E1646}"/>
              </a:ext>
            </a:extLst>
          </p:cNvPr>
          <p:cNvSpPr txBox="1"/>
          <p:nvPr/>
        </p:nvSpPr>
        <p:spPr>
          <a:xfrm>
            <a:off x="9643608" y="6457890"/>
            <a:ext cx="442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dirty="0">
                <a:hlinkClick r:id="rId5"/>
              </a:rPr>
              <a:t>team </a:t>
            </a:r>
            <a:r>
              <a:rPr lang="sk-SK" sz="2000" dirty="0" err="1">
                <a:hlinkClick r:id="rId5"/>
              </a:rPr>
              <a:t>Smart</a:t>
            </a:r>
            <a:r>
              <a:rPr lang="sk-SK" sz="2000" dirty="0">
                <a:hlinkClick r:id="rId5"/>
              </a:rPr>
              <a:t> </a:t>
            </a:r>
            <a:r>
              <a:rPr lang="sk-SK" sz="2000" dirty="0" err="1">
                <a:hlinkClick r:id="rId5"/>
              </a:rPr>
              <a:t>Jam</a:t>
            </a:r>
            <a:r>
              <a:rPr lang="sk-SK" sz="2000" dirty="0">
                <a:hlinkClick r:id="rId5"/>
              </a:rPr>
              <a:t> web</a:t>
            </a:r>
            <a:endParaRPr lang="sk-SK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799765-E880-49B7-FA07-CDE8817A14F8}"/>
              </a:ext>
            </a:extLst>
          </p:cNvPr>
          <p:cNvCxnSpPr>
            <a:cxnSpLocks/>
          </p:cNvCxnSpPr>
          <p:nvPr/>
        </p:nvCxnSpPr>
        <p:spPr>
          <a:xfrm>
            <a:off x="876300" y="1441867"/>
            <a:ext cx="10375900" cy="72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3DEB10-6734-A17E-63DF-A458DEAC76BB}"/>
              </a:ext>
            </a:extLst>
          </p:cNvPr>
          <p:cNvSpPr/>
          <p:nvPr/>
        </p:nvSpPr>
        <p:spPr>
          <a:xfrm>
            <a:off x="641350" y="285750"/>
            <a:ext cx="10909300" cy="6286500"/>
          </a:xfrm>
          <a:prstGeom prst="roundRect">
            <a:avLst>
              <a:gd name="adj" fmla="val 228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66976DBC9AAA47A05E4A65DDBEC7FB" ma:contentTypeVersion="11" ma:contentTypeDescription="Umožňuje vytvoriť nový dokument." ma:contentTypeScope="" ma:versionID="faaa89fb2b1eba1b03fe497f209c8862">
  <xsd:schema xmlns:xsd="http://www.w3.org/2001/XMLSchema" xmlns:xs="http://www.w3.org/2001/XMLSchema" xmlns:p="http://schemas.microsoft.com/office/2006/metadata/properties" xmlns:ns2="2db9014a-3b2f-44de-b218-a09f7e6c54e1" xmlns:ns3="7e0021a3-bf35-44bf-af08-2ada5449fa87" targetNamespace="http://schemas.microsoft.com/office/2006/metadata/properties" ma:root="true" ma:fieldsID="673aef51e6ba6688114eb18afaa7fc60" ns2:_="" ns3:_="">
    <xsd:import namespace="2db9014a-3b2f-44de-b218-a09f7e6c54e1"/>
    <xsd:import namespace="7e0021a3-bf35-44bf-af08-2ada5449fa8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b9014a-3b2f-44de-b218-a09f7e6c54e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Značky obrázka" ma:readOnly="false" ma:fieldId="{5cf76f15-5ced-4ddc-b409-7134ff3c332f}" ma:taxonomyMulti="true" ma:sspId="abd44fc1-b512-40ba-a72c-fa16cc8c0a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0021a3-bf35-44bf-af08-2ada5449fa8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075350f-c7b8-453e-a50c-5faf2ffcfb51}" ma:internalName="TaxCatchAll" ma:showField="CatchAllData" ma:web="7e0021a3-bf35-44bf-af08-2ada5449fa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2db9014a-3b2f-44de-b218-a09f7e6c54e1" xsi:nil="true"/>
    <TaxCatchAll xmlns="7e0021a3-bf35-44bf-af08-2ada5449fa87" xsi:nil="true"/>
    <lcf76f155ced4ddcb4097134ff3c332f xmlns="2db9014a-3b2f-44de-b218-a09f7e6c54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036F770-D998-43EA-BC73-6240062F55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787425-E799-4192-8736-DFE51E50C3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b9014a-3b2f-44de-b218-a09f7e6c54e1"/>
    <ds:schemaRef ds:uri="7e0021a3-bf35-44bf-af08-2ada5449fa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96DBAF-6CA5-4A0D-945D-BCD733D80F48}">
  <ds:schemaRefs>
    <ds:schemaRef ds:uri="http://schemas.microsoft.com/office/2006/metadata/properties"/>
    <ds:schemaRef ds:uri="http://schemas.microsoft.com/office/infopath/2007/PartnerControls"/>
    <ds:schemaRef ds:uri="2db9014a-3b2f-44de-b218-a09f7e6c54e1"/>
    <ds:schemaRef ds:uri="7e0021a3-bf35-44bf-af08-2ada5449fa8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1091</Words>
  <Application>Microsoft Office PowerPoint</Application>
  <PresentationFormat>Širokouhlá</PresentationFormat>
  <Paragraphs>213</Paragraphs>
  <Slides>46</Slides>
  <Notes>1</Notes>
  <HiddenSlides>0</HiddenSlides>
  <MMClips>1</MMClips>
  <ScaleCrop>false</ScaleCrop>
  <HeadingPairs>
    <vt:vector size="6" baseType="variant">
      <vt:variant>
        <vt:lpstr>Použité písma</vt:lpstr>
      </vt:variant>
      <vt:variant>
        <vt:i4>17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46</vt:i4>
      </vt:variant>
    </vt:vector>
  </HeadingPairs>
  <TitlesOfParts>
    <vt:vector size="64" baseType="lpstr">
      <vt:lpstr>Aileron</vt:lpstr>
      <vt:lpstr>Aileron Bold</vt:lpstr>
      <vt:lpstr>Aptos</vt:lpstr>
      <vt:lpstr>Aptos Display</vt:lpstr>
      <vt:lpstr>Arial</vt:lpstr>
      <vt:lpstr>Bricolage Grotesque Bold</vt:lpstr>
      <vt:lpstr>Calibri</vt:lpstr>
      <vt:lpstr>Comic Sans MS</vt:lpstr>
      <vt:lpstr>Forum</vt:lpstr>
      <vt:lpstr>Lora</vt:lpstr>
      <vt:lpstr>Lora Bold</vt:lpstr>
      <vt:lpstr>Noto Serif Display</vt:lpstr>
      <vt:lpstr>PT Serif Bold</vt:lpstr>
      <vt:lpstr>Roca One</vt:lpstr>
      <vt:lpstr>Roca One Bold</vt:lpstr>
      <vt:lpstr>Roca Two Heavy</vt:lpstr>
      <vt:lpstr>TT Chocolates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Model Data Visualisation</vt:lpstr>
      <vt:lpstr>Using most up-to date data we plan to determine most efficient routes</vt:lpstr>
      <vt:lpstr>Congestion levels</vt:lpstr>
      <vt:lpstr>Congestion levels</vt:lpstr>
      <vt:lpstr>From data to predictions</vt:lpstr>
      <vt:lpstr>From data to predictions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 -pc</dc:creator>
  <cp:lastModifiedBy>Domi -pc</cp:lastModifiedBy>
  <cp:revision>34</cp:revision>
  <dcterms:created xsi:type="dcterms:W3CDTF">2026-04-09T19:59:31Z</dcterms:created>
  <dcterms:modified xsi:type="dcterms:W3CDTF">2026-04-22T21:59:15Z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0x0101001966976DBC9AAA47A05E4A65DDBEC7FB</vt:lpwstr>
  </property>
</Properties>
</file>