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Nirand" pitchFamily="2" charset="-34"/>
      <p:regular r:id="rId9"/>
    </p:embeddedFont>
    <p:embeddedFont>
      <p:font typeface="Nirand Bold" pitchFamily="2" charset="-34"/>
      <p:regular r:id="rId10"/>
      <p:bold r:id="rId11"/>
    </p:embeddedFont>
    <p:embeddedFont>
      <p:font typeface="Open Sans" panose="020B0606030504020204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 autoAdjust="0"/>
    <p:restoredTop sz="94599" autoAdjust="0"/>
  </p:normalViewPr>
  <p:slideViewPr>
    <p:cSldViewPr>
      <p:cViewPr>
        <p:scale>
          <a:sx n="91" d="100"/>
          <a:sy n="91" d="100"/>
        </p:scale>
        <p:origin x="624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92504" y="-2406016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29410" y="2916317"/>
            <a:ext cx="11070270" cy="314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96"/>
              </a:lnSpc>
            </a:pPr>
            <a:r>
              <a:rPr lang="en-US" sz="8354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PROJECT SMART-JAM SUPPLY CHAIN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359304" y="488689"/>
            <a:ext cx="2513081" cy="25130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4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29410" y="7556509"/>
            <a:ext cx="1586288" cy="15862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4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40084" y="-5661115"/>
            <a:ext cx="14522629" cy="145226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7127" y="3398258"/>
            <a:ext cx="5860042" cy="5860042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541020" y="537210"/>
              <a:ext cx="5255260" cy="5255260"/>
            </a:xfrm>
            <a:custGeom>
              <a:avLst/>
              <a:gdLst/>
              <a:ahLst/>
              <a:cxnLst/>
              <a:rect l="l" t="t" r="r" b="b"/>
              <a:pathLst>
                <a:path w="5255260" h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-38709" r="-3870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5776" y="553462"/>
            <a:ext cx="9105244" cy="220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6"/>
              </a:lnSpc>
              <a:spcBef>
                <a:spcPct val="0"/>
              </a:spcBef>
            </a:pPr>
            <a:r>
              <a:rPr lang="en-US" sz="5854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What is Smart-Jam Supply Chain?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60715" y="3649894"/>
            <a:ext cx="9700305" cy="283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  <a:spcBef>
                <a:spcPct val="0"/>
              </a:spcBef>
            </a:pPr>
            <a:r>
              <a:rPr lang="en-US" sz="3143">
                <a:solidFill>
                  <a:srgbClr val="2E3A44"/>
                </a:solidFill>
                <a:latin typeface="Nirand"/>
                <a:ea typeface="Nirand"/>
                <a:cs typeface="Nirand"/>
                <a:sym typeface="Nirand"/>
              </a:rPr>
              <a:t>Smart-Jam is a digital supply chain that connects data, technology, and users.</a:t>
            </a:r>
          </a:p>
          <a:p>
            <a:pPr algn="l">
              <a:lnSpc>
                <a:spcPts val="4400"/>
              </a:lnSpc>
              <a:spcBef>
                <a:spcPct val="0"/>
              </a:spcBef>
            </a:pPr>
            <a:r>
              <a:rPr lang="en-US" sz="3143">
                <a:solidFill>
                  <a:srgbClr val="2E3A44"/>
                </a:solidFill>
                <a:latin typeface="Nirand"/>
                <a:ea typeface="Nirand"/>
                <a:cs typeface="Nirand"/>
                <a:sym typeface="Nirand"/>
              </a:rPr>
              <a:t>Unlike traditional systems, it does not produce physical products but creates value through information and cooperation.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10799" y="4055274"/>
            <a:ext cx="8028675" cy="80286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72139" y="3269462"/>
            <a:ext cx="532541" cy="494167"/>
            <a:chOff x="0" y="0"/>
            <a:chExt cx="875917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5917" cy="812800"/>
            </a:xfrm>
            <a:custGeom>
              <a:avLst/>
              <a:gdLst/>
              <a:ahLst/>
              <a:cxnLst/>
              <a:rect l="l" t="t" r="r" b="b"/>
              <a:pathLst>
                <a:path w="875917" h="812800">
                  <a:moveTo>
                    <a:pt x="437959" y="0"/>
                  </a:moveTo>
                  <a:cubicBezTo>
                    <a:pt x="196081" y="0"/>
                    <a:pt x="0" y="181951"/>
                    <a:pt x="0" y="406400"/>
                  </a:cubicBezTo>
                  <a:cubicBezTo>
                    <a:pt x="0" y="630849"/>
                    <a:pt x="196081" y="812800"/>
                    <a:pt x="437959" y="812800"/>
                  </a:cubicBezTo>
                  <a:cubicBezTo>
                    <a:pt x="679837" y="812800"/>
                    <a:pt x="875917" y="630849"/>
                    <a:pt x="875917" y="406400"/>
                  </a:cubicBezTo>
                  <a:cubicBezTo>
                    <a:pt x="875917" y="181951"/>
                    <a:pt x="679837" y="0"/>
                    <a:pt x="437959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17" y="38100"/>
              <a:ext cx="71168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72139" y="4348818"/>
            <a:ext cx="535499" cy="496912"/>
            <a:chOff x="0" y="0"/>
            <a:chExt cx="875917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5917" cy="812800"/>
            </a:xfrm>
            <a:custGeom>
              <a:avLst/>
              <a:gdLst/>
              <a:ahLst/>
              <a:cxnLst/>
              <a:rect l="l" t="t" r="r" b="b"/>
              <a:pathLst>
                <a:path w="875917" h="812800">
                  <a:moveTo>
                    <a:pt x="437959" y="0"/>
                  </a:moveTo>
                  <a:cubicBezTo>
                    <a:pt x="196081" y="0"/>
                    <a:pt x="0" y="181951"/>
                    <a:pt x="0" y="406400"/>
                  </a:cubicBezTo>
                  <a:cubicBezTo>
                    <a:pt x="0" y="630849"/>
                    <a:pt x="196081" y="812800"/>
                    <a:pt x="437959" y="812800"/>
                  </a:cubicBezTo>
                  <a:cubicBezTo>
                    <a:pt x="679837" y="812800"/>
                    <a:pt x="875917" y="630849"/>
                    <a:pt x="875917" y="406400"/>
                  </a:cubicBezTo>
                  <a:cubicBezTo>
                    <a:pt x="875917" y="181951"/>
                    <a:pt x="679837" y="0"/>
                    <a:pt x="437959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17" y="38100"/>
              <a:ext cx="71168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76301" y="5441038"/>
            <a:ext cx="535499" cy="496912"/>
            <a:chOff x="0" y="0"/>
            <a:chExt cx="875917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5917" cy="812800"/>
            </a:xfrm>
            <a:custGeom>
              <a:avLst/>
              <a:gdLst/>
              <a:ahLst/>
              <a:cxnLst/>
              <a:rect l="l" t="t" r="r" b="b"/>
              <a:pathLst>
                <a:path w="875917" h="812800">
                  <a:moveTo>
                    <a:pt x="437959" y="0"/>
                  </a:moveTo>
                  <a:cubicBezTo>
                    <a:pt x="196081" y="0"/>
                    <a:pt x="0" y="181951"/>
                    <a:pt x="0" y="406400"/>
                  </a:cubicBezTo>
                  <a:cubicBezTo>
                    <a:pt x="0" y="630849"/>
                    <a:pt x="196081" y="812800"/>
                    <a:pt x="437959" y="812800"/>
                  </a:cubicBezTo>
                  <a:cubicBezTo>
                    <a:pt x="679837" y="812800"/>
                    <a:pt x="875917" y="630849"/>
                    <a:pt x="875917" y="406400"/>
                  </a:cubicBezTo>
                  <a:cubicBezTo>
                    <a:pt x="875917" y="181951"/>
                    <a:pt x="679837" y="0"/>
                    <a:pt x="437959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117" y="38100"/>
              <a:ext cx="71168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76301" y="6531749"/>
            <a:ext cx="535499" cy="496912"/>
            <a:chOff x="0" y="0"/>
            <a:chExt cx="875917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5917" cy="812800"/>
            </a:xfrm>
            <a:custGeom>
              <a:avLst/>
              <a:gdLst/>
              <a:ahLst/>
              <a:cxnLst/>
              <a:rect l="l" t="t" r="r" b="b"/>
              <a:pathLst>
                <a:path w="875917" h="812800">
                  <a:moveTo>
                    <a:pt x="437959" y="0"/>
                  </a:moveTo>
                  <a:cubicBezTo>
                    <a:pt x="196081" y="0"/>
                    <a:pt x="0" y="181951"/>
                    <a:pt x="0" y="406400"/>
                  </a:cubicBezTo>
                  <a:cubicBezTo>
                    <a:pt x="0" y="630849"/>
                    <a:pt x="196081" y="812800"/>
                    <a:pt x="437959" y="812800"/>
                  </a:cubicBezTo>
                  <a:cubicBezTo>
                    <a:pt x="679837" y="812800"/>
                    <a:pt x="875917" y="630849"/>
                    <a:pt x="875917" y="406400"/>
                  </a:cubicBezTo>
                  <a:cubicBezTo>
                    <a:pt x="875917" y="181951"/>
                    <a:pt x="679837" y="0"/>
                    <a:pt x="437959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17" y="38100"/>
              <a:ext cx="71168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1197569" y="3514318"/>
            <a:ext cx="3058292" cy="3058292"/>
          </a:xfrm>
          <a:custGeom>
            <a:avLst/>
            <a:gdLst/>
            <a:ahLst/>
            <a:cxnLst/>
            <a:rect l="l" t="t" r="r" b="b"/>
            <a:pathLst>
              <a:path w="3058292" h="3058292">
                <a:moveTo>
                  <a:pt x="0" y="0"/>
                </a:moveTo>
                <a:lnTo>
                  <a:pt x="3058293" y="0"/>
                </a:lnTo>
                <a:lnTo>
                  <a:pt x="3058293" y="3058292"/>
                </a:lnTo>
                <a:lnTo>
                  <a:pt x="0" y="3058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444417" y="676275"/>
            <a:ext cx="539916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INPUTS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49757" y="3274003"/>
            <a:ext cx="4783711" cy="53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 b="1" dirty="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Traffic data (APIs, sensors)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49757" y="4366809"/>
            <a:ext cx="3644374" cy="53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Cloud infrastructure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49757" y="5459614"/>
            <a:ext cx="2606516" cy="53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Software tools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49757" y="6552420"/>
            <a:ext cx="5303142" cy="53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Developers and AI specialists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929627" y="3994704"/>
            <a:ext cx="3365902" cy="3365902"/>
          </a:xfrm>
          <a:custGeom>
            <a:avLst/>
            <a:gdLst/>
            <a:ahLst/>
            <a:cxnLst/>
            <a:rect l="l" t="t" r="r" b="b"/>
            <a:pathLst>
              <a:path w="3365902" h="3365902">
                <a:moveTo>
                  <a:pt x="0" y="0"/>
                </a:moveTo>
                <a:lnTo>
                  <a:pt x="3365902" y="0"/>
                </a:lnTo>
                <a:lnTo>
                  <a:pt x="3365902" y="3365903"/>
                </a:lnTo>
                <a:lnTo>
                  <a:pt x="0" y="3365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639076" y="2129903"/>
            <a:ext cx="865191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E3A44"/>
                </a:solidFill>
                <a:latin typeface="Nirand"/>
                <a:ea typeface="Nirand"/>
                <a:cs typeface="Nirand"/>
                <a:sym typeface="Nirand"/>
              </a:rPr>
              <a:t>Inside the system, raw data is transformed into useful insights using artificial intelligence.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34460" y="4203943"/>
            <a:ext cx="673234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E3A44"/>
                </a:solidFill>
                <a:latin typeface="Nirand"/>
                <a:ea typeface="Nirand"/>
                <a:cs typeface="Nirand"/>
                <a:sym typeface="Nirand"/>
              </a:rPr>
              <a:t>Data is cleaned and analyzed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34460" y="5049005"/>
            <a:ext cx="633057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E3A44"/>
                </a:solidFill>
                <a:latin typeface="Nirand"/>
                <a:ea typeface="Nirand"/>
                <a:cs typeface="Nirand"/>
                <a:sym typeface="Nirand"/>
              </a:rPr>
              <a:t>AI predicts traffic conditions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34460" y="5894068"/>
            <a:ext cx="7654928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E3A44"/>
                </a:solidFill>
                <a:latin typeface="Nirand"/>
                <a:ea typeface="Nirand"/>
                <a:cs typeface="Nirand"/>
                <a:sym typeface="Nirand"/>
              </a:rPr>
              <a:t>Applications are developed and tested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2E3A44"/>
              </a:solidFill>
              <a:latin typeface="Nirand"/>
              <a:ea typeface="Nirand"/>
              <a:cs typeface="Nirand"/>
              <a:sym typeface="Niran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841718" y="230197"/>
            <a:ext cx="8246630" cy="129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1"/>
              </a:lnSpc>
              <a:spcBef>
                <a:spcPct val="0"/>
              </a:spcBef>
            </a:pPr>
            <a:r>
              <a:rPr lang="en-US" sz="6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Internal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29662" y="7824967"/>
            <a:ext cx="8028675" cy="80286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3276242" y="-767852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04697" y="3119120"/>
            <a:ext cx="580876" cy="58087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74035" y="3119120"/>
            <a:ext cx="580876" cy="58087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062" y="5393509"/>
            <a:ext cx="3567638" cy="3694529"/>
          </a:xfrm>
          <a:prstGeom prst="rect">
            <a:avLst/>
          </a:prstGeom>
        </p:spPr>
      </p:pic>
      <p:sp>
        <p:nvSpPr>
          <p:cNvPr id="19" name="Freeform 19"/>
          <p:cNvSpPr/>
          <p:nvPr/>
        </p:nvSpPr>
        <p:spPr>
          <a:xfrm>
            <a:off x="12681558" y="5037508"/>
            <a:ext cx="3942732" cy="3476772"/>
          </a:xfrm>
          <a:custGeom>
            <a:avLst/>
            <a:gdLst/>
            <a:ahLst/>
            <a:cxnLst/>
            <a:rect l="l" t="t" r="r" b="b"/>
            <a:pathLst>
              <a:path w="3942732" h="3476772">
                <a:moveTo>
                  <a:pt x="0" y="0"/>
                </a:moveTo>
                <a:lnTo>
                  <a:pt x="3942732" y="0"/>
                </a:lnTo>
                <a:lnTo>
                  <a:pt x="3942732" y="3476772"/>
                </a:lnTo>
                <a:lnTo>
                  <a:pt x="0" y="3476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4438650" y="190202"/>
            <a:ext cx="8242908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DISTRIBUTION &amp; USERS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40655" y="3152701"/>
            <a:ext cx="1989007" cy="4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Distribution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07336" y="3227556"/>
            <a:ext cx="1174222" cy="4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Users 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4697" y="3861922"/>
            <a:ext cx="5219343" cy="154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2E3A44"/>
                </a:solidFill>
                <a:latin typeface="Nirand"/>
                <a:ea typeface="Nirand"/>
                <a:cs typeface="Nirand"/>
                <a:sym typeface="Nirand"/>
              </a:rPr>
              <a:t>Web dashboards, mobile apps, and API integrations allow easy access.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4035" y="3938122"/>
            <a:ext cx="6067525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Drivers, cities, transport operators, and logistics companies benefit from the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93780" y="-1758664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473207" y="-1345629"/>
            <a:ext cx="13341342" cy="1334134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0366088" y="2520315"/>
            <a:ext cx="6603101" cy="5246370"/>
            <a:chOff x="0" y="0"/>
            <a:chExt cx="3901440" cy="3099816"/>
          </a:xfrm>
        </p:grpSpPr>
        <p:sp>
          <p:nvSpPr>
            <p:cNvPr id="10" name="Freeform 10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946" r="-19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948036"/>
            <a:ext cx="6695941" cy="167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59"/>
              </a:lnSpc>
            </a:pPr>
            <a:r>
              <a:rPr lang="en-US" sz="83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BENEFITS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310865"/>
            <a:ext cx="5224165" cy="268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Faster decisions.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Less traffic congestion.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Lower fuel consumption.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Reduced emissions.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Better urban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1965" y="-2876710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11909" y="2963670"/>
            <a:ext cx="7864182" cy="462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076091" y="710993"/>
            <a:ext cx="2513081" cy="25130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740932" y="6266276"/>
            <a:ext cx="1586288" cy="15862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</Words>
  <Application>Microsoft Macintosh PowerPoint</Application>
  <PresentationFormat>Custom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Open Sans</vt:lpstr>
      <vt:lpstr>Nirand Bold</vt:lpstr>
      <vt:lpstr>Nirand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Project</dc:title>
  <cp:lastModifiedBy>Faina Petrenko</cp:lastModifiedBy>
  <cp:revision>2</cp:revision>
  <dcterms:created xsi:type="dcterms:W3CDTF">2006-08-16T00:00:00Z</dcterms:created>
  <dcterms:modified xsi:type="dcterms:W3CDTF">2026-04-24T15:04:24Z</dcterms:modified>
  <dc:identifier>DAHHw-KJ6tw</dc:identifier>
</cp:coreProperties>
</file>